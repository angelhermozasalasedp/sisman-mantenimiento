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8" r:id="rId11"/>
    <p:sldId id="265" r:id="rId12"/>
    <p:sldId id="266" r:id="rId13"/>
    <p:sldId id="267" r:id="rId1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icio" id="{54B47167-1380-303E-EE0B-42559E965D05}">
          <p14:sldIdLst>
            <p14:sldId id="256"/>
          </p14:sldIdLst>
        </p14:section>
        <p14:section name="Problema" id="{67AE27DA-768B-B3A0-B913-0EC96971F6CA}">
          <p14:sldIdLst>
            <p14:sldId id="257"/>
            <p14:sldId id="258"/>
          </p14:sldIdLst>
        </p14:section>
        <p14:section name="Especificaciones" id="{871A627D-2F89-8710-BAB5-23AE5F2F135F}">
          <p14:sldIdLst>
            <p14:sldId id="259"/>
            <p14:sldId id="260"/>
          </p14:sldIdLst>
        </p14:section>
        <p14:section name="Arquitectura" id="{D317749D-4645-6601-E575-F02F1A80EDF2}">
          <p14:sldIdLst>
            <p14:sldId id="261"/>
            <p14:sldId id="262"/>
          </p14:sldIdLst>
        </p14:section>
        <p14:section name="Calidad" id="{398922CF-4B19-C445-FF13-4C5E96D7274A}">
          <p14:sldIdLst>
            <p14:sldId id="263"/>
          </p14:sldIdLst>
        </p14:section>
        <p14:section name="Uso de IA" id="{4125B0AD-D417-3C98-6B99-A8A5B371CC9B}">
          <p14:sldIdLst>
            <p14:sldId id="264"/>
            <p14:sldId id="268"/>
          </p14:sldIdLst>
        </p14:section>
        <p14:section name="Demo" id="{19770A89-5E04-6EFD-F746-AEC147BB289E}">
          <p14:sldIdLst>
            <p14:sldId id="265"/>
          </p14:sldIdLst>
        </p14:section>
        <p14:section name="Cierre" id="{7F1E390F-33C0-724F-87D1-6D3E8B3BCC4D}">
          <p14:sldIdLst>
            <p14:sldId id="266"/>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Hoja_de_c_lculo_de_Microsoft_Excel.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autoTitleDeleted val="1"/>
    <c:plotArea>
      <c:layout/>
      <c:barChart>
        <c:barDir val="bar"/>
        <c:grouping val="clustered"/>
        <c:varyColors val="0"/>
        <c:ser>
          <c:idx val="0"/>
          <c:order val="0"/>
          <c:tx>
            <c:strRef>
              <c:f>Sheet1!$B$1</c:f>
              <c:strCache>
                <c:ptCount val="1"/>
                <c:pt idx="0">
                  <c:v>Pruebas</c:v>
                </c:pt>
              </c:strCache>
            </c:strRef>
          </c:tx>
          <c:spPr>
            <a:solidFill>
              <a:srgbClr val="12343B"/>
            </a:solidFill>
            <a:effectLst/>
          </c:spPr>
          <c:invertIfNegative val="0"/>
          <c:dLbls>
            <c:numFmt formatCode="#,##0" sourceLinked="0"/>
            <c:spPr>
              <a:noFill/>
              <a:ln>
                <a:noFill/>
              </a:ln>
              <a:effectLst/>
            </c:spPr>
            <c:txPr>
              <a:bodyPr/>
              <a:lstStyle/>
              <a:p>
                <a:pPr>
                  <a:defRPr sz="1200" b="0" i="0" u="none" strike="noStrike">
                    <a:solidFill>
                      <a:srgbClr val="1B2A30"/>
                    </a:solidFill>
                    <a:latin typeface="+mn-lt"/>
                  </a:defRPr>
                </a:pPr>
                <a:endParaRPr lang="es-MX"/>
              </a:p>
            </c:txPr>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Sheet1!$A$2:$A$4</c:f>
              <c:strCache>
                <c:ptCount val="3"/>
                <c:pt idx="0">
                  <c:v>Integración (API + SQL Server)</c:v>
                </c:pt>
                <c:pt idx="1">
                  <c:v>Dominio</c:v>
                </c:pt>
                <c:pt idx="2">
                  <c:v>Web</c:v>
                </c:pt>
              </c:strCache>
            </c:strRef>
          </c:cat>
          <c:val>
            <c:numRef>
              <c:f>Sheet1!$B$2:$B$4</c:f>
              <c:numCache>
                <c:formatCode>General</c:formatCode>
                <c:ptCount val="3"/>
                <c:pt idx="0">
                  <c:v>85</c:v>
                </c:pt>
                <c:pt idx="1">
                  <c:v>25</c:v>
                </c:pt>
                <c:pt idx="2">
                  <c:v>11</c:v>
                </c:pt>
              </c:numCache>
            </c:numRef>
          </c:val>
          <c:extLst>
            <c:ext xmlns:c16="http://schemas.microsoft.com/office/drawing/2014/chart" uri="{C3380CC4-5D6E-409C-BE32-E72D297353CC}">
              <c16:uniqueId val="{00000000-B56B-4670-9E08-FEAF3F6B8BD5}"/>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B2A30"/>
                </a:solidFill>
                <a:latin typeface="+mn-lt"/>
              </a:defRPr>
            </a:pPr>
            <a:endParaRPr lang="es-MX"/>
          </a:p>
        </c:txPr>
        <c:crossAx val="2094734552"/>
        <c:crosses val="autoZero"/>
        <c:auto val="1"/>
        <c:lblAlgn val="ctr"/>
        <c:lblOffset val="100"/>
        <c:noMultiLvlLbl val="1"/>
      </c:catAx>
      <c:valAx>
        <c:axId val="2094734552"/>
        <c:scaling>
          <c:orientation val="minMax"/>
        </c:scaling>
        <c:delete val="1"/>
        <c:axPos val="b"/>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486401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Presentación (30 s). Soy Angel Hermoza. El proyecto toma el flujo central de SISMAN, el sistema de mantenimiento de una editora: mantenimiento preventivo, fecha programada y orden de trabajo. Lo reconstruí especificando primero y probando todo, con Claude Code como asistente.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Problema (1 min). Cuatro hallazgos del análisis. El más grave: el número de OT se tomaba en cuatro pasos sin transacción. Además, muchos botones decían éxito aunque el procedimiento almacenado no existiera. Esto define qué tenía que garantizar el sistema nuevo.</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Solución (1 min). Elegí un solo flujo, el más usado, y lo cerré de punta a punta: API, web, pruebas y documentación. Dos actores: el planificador, que hace todo, y el especialista, que solo consulta.</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Specs y trazabilidad (1 min). Antes de escribir código escribí 12 requisitos, 12 historias con criterios Dado/Cuando/Entonces, 9 casos de uso y 34 reglas. La matriz enlaza cada requisito con su endpoint, su clase y su prueba. Ninguna regla está inventada: cada una cita su origen.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Ejemplo de trazabilidad (1 min). Esta es la regla más importante. Nace de un hallazgo, se convierte en RN-34, se diseña con un bloqueo de fila dentro de la transacción y se prueba con 20 solicitudes simultáneas. Para comprobar que la prueba sirve, puse a propósito el algoritmo del sistema original: la prueba falló en 19 de 20 solicitudes.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Arquitectura (1 min). Cuatro capas más la web. El dominio no depende de nada: ahí viven aprobar, programar fecha, generar OT y cambiar estado. Los controladores solo traducen HTTP. La web no repite reglas: le pregunta a la API qué transiciones están permitidas.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Decisiones (1 min). Son siete. Cada una tiene contexto, alternativas descartadas y consecuencias. Por ejemplo, EF Core con esquema propio, porque a la base original le faltan procedimientos y no se puede compartir. La séptima es la más reciente: no usar Docker. El instructor lo recomendó, pero el Compose nunca se pudo ejecutar en este equipo, y preferí no entregar algo que no probé. Estoy listo para defender cualquiera.</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Pruebas y calidad (1 min). 121 pruebas: 85 de integración contra un SQL Server real, con una base propia que se crea y se borra; 25 de dominio y 11 de la web. Rendimiento medido con 26 000 OT: 47 milisegundos y 23 KB por página. La cobertura se volvió a medir el 28/10 con las 121 pruebas. Digo también lo que no usamos: Docker (ADR-007).</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Uso de IA (2 min). Toda la implementación se hizo con Claude Code, siempre con la especificación como contexto. Registré 16 evidencias con el prompt, la respuesta, el cambio y mi decisión. Cuatro ejemplos: una conclusión de la IA que se corrigió, un fallo que era de la prueba y no del sistema, una prueba de mutación para comprobar que las pruebas detectan el defecto, y una recomendación de la IA que rechacé: mantener la carpeta docker/ sin haberla ejecutado.</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Prompt y diff (1 min). El prompt de RF-07 fue una sola palabra: «si». Funcionó porque el contexto ya estaba escrito: el modelo con el correlativo, el ADR-001 y las reglas RN-30 a RN-35. La IA propuso este UPDATE con bloqueo de fila y OUTPUT, dentro de la transacción. El commit tiene 10 archivos y 407 líneas. Revisé el diff y, para saber si la prueba sirve, se rompió a propósito: con el algoritmo del original, la prueba de 20 solicitudes falló en 19. Restaurado el código, quedó en verde.</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Demo (5 min). Antes de la presentación: reiniciar la base de demostración, levantar la API en 5300 y la web en 5400, e iniciar sesión recién (el token dura 30 minutos). Empezar por Swagger para mostrar el contrato, luego la web con los siete pasos. Si algo falla, seguir en Swagger con la misma secuencia.</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Aprendizajes (1 min). Tres aprendizajes sobre pruebas, uno sobre la IA y uno sobre el proyecto: decidir el entorno el primer día. En mejoras: las cinco reglas las decidí yo como responsable el 26/10; falta validarlas con usuarios de planta. Y Docker queda como mejora, no como algo que se entregó sin probar.</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Cierre (15 s). Preguntas esperadas: por qué esta arquitectura, cómo funciona el correlativo, qué hizo la IA y qué corregí yo, por qué no microservicios. Tener abiertos el ADR-003, OtServicio.GenerarAsync y la evidencia 011.</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ORTADA">
    <p:bg>
      <p:bgPr>
        <a:solidFill>
          <a:schemeClr val="tx2"/>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011680"/>
            <a:ext cx="10515600" cy="1463040"/>
          </a:xfrm>
          <a:prstGeom prst="rect">
            <a:avLst/>
          </a:prstGeom>
          <a:noFill/>
          <a:ln/>
        </p:spPr>
        <p:txBody>
          <a:bodyPr wrap="square" rtlCol="0"/>
          <a:lstStyle>
            <a:lvl1pPr marL="0" indent="0" algn="l">
              <a:buNone/>
              <a:defRPr lang="en-US" sz="4800" b="1" dirty="0">
                <a:solidFill>
                  <a:schemeClr val="bg1"/>
                </a:solidFill>
                <a:latin typeface="Cambria" pitchFamily="34" charset="0"/>
                <a:ea typeface="Cambria" pitchFamily="34" charset="-122"/>
                <a:cs typeface="Cambria" pitchFamily="34" charset="-120"/>
              </a:defRPr>
            </a:lvl1pPr>
          </a:lstStyle>
          <a:p>
            <a:pPr marL="0" indent="0" algn="l">
              <a:buNone/>
            </a:pPr>
            <a:endParaRPr lang="en-US" sz="4800" dirty="0"/>
          </a:p>
        </p:txBody>
      </p:sp>
      <p:sp>
        <p:nvSpPr>
          <p:cNvPr id="3" name="Text 0"/>
          <p:cNvSpPr>
            <a:spLocks noGrp="1"/>
          </p:cNvSpPr>
          <p:nvPr>
            <p:ph type="body" idx="101" hasCustomPrompt="1"/>
          </p:nvPr>
        </p:nvSpPr>
        <p:spPr>
          <a:xfrm>
            <a:off x="548640" y="3657600"/>
            <a:ext cx="10058400" cy="1280160"/>
          </a:xfrm>
          <a:prstGeom prst="rect">
            <a:avLst/>
          </a:prstGeom>
          <a:noFill/>
          <a:ln/>
        </p:spPr>
        <p:txBody>
          <a:bodyPr wrap="square" rtlCol="0"/>
          <a:lstStyle>
            <a:lvl1pPr marL="0" indent="0">
              <a:buNone/>
              <a:defRPr lang="en-US" sz="2000" dirty="0">
                <a:solidFill>
                  <a:schemeClr val="accent6"/>
                </a:solidFill>
              </a:defRPr>
            </a:lvl1pPr>
          </a:lstStyle>
          <a:p>
            <a:pPr marL="0" indent="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IDO">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4415" cy="822960"/>
          </a:xfrm>
          <a:prstGeom prst="rect">
            <a:avLst/>
          </a:prstGeom>
          <a:noFill/>
          <a:ln/>
        </p:spPr>
        <p:txBody>
          <a:bodyPr wrap="square" rtlCol="0"/>
          <a:lstStyle>
            <a:lvl1pPr marL="0" indent="0">
              <a:buNone/>
              <a:defRPr lang="en-US" sz="3400" b="1" dirty="0">
                <a:solidFill>
                  <a:schemeClr val="tx2"/>
                </a:solidFill>
                <a:latin typeface="Cambria" pitchFamily="34" charset="0"/>
                <a:ea typeface="Cambria" pitchFamily="34" charset="-122"/>
                <a:cs typeface="Cambria" pitchFamily="34" charset="-120"/>
              </a:defRPr>
            </a:lvl1pPr>
          </a:lstStyle>
          <a:p>
            <a:pPr marL="0" indent="0">
              <a:buNone/>
            </a:pPr>
            <a:endParaRPr lang="en-US" sz="3400" dirty="0"/>
          </a:p>
        </p:txBody>
      </p:sp>
      <p:sp>
        <p:nvSpPr>
          <p:cNvPr id="3" name="Text 0"/>
          <p:cNvSpPr/>
          <p:nvPr/>
        </p:nvSpPr>
        <p:spPr>
          <a:xfrm>
            <a:off x="548640" y="6400800"/>
            <a:ext cx="6400800" cy="274320"/>
          </a:xfrm>
          <a:prstGeom prst="rect">
            <a:avLst/>
          </a:prstGeom>
          <a:noFill/>
          <a:ln/>
        </p:spPr>
        <p:txBody>
          <a:bodyPr wrap="square" lIns="0" tIns="0" rIns="0" bIns="0" rtlCol="0" anchor="ctr"/>
          <a:lstStyle/>
          <a:p>
            <a:pPr marL="0" indent="0">
              <a:buNone/>
            </a:pPr>
            <a:r>
              <a:rPr lang="en-US" sz="1000" dirty="0">
                <a:solidFill>
                  <a:schemeClr val="accent4"/>
                </a:solidFill>
              </a:rPr>
              <a:t>SISMAN Mantenimiento · Proyecto integrador</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r"/>
            <a:fld id="{F7021451-1387-4CA6-816F-3879F97B5CBC}" type="slidenum">
              <a:rPr lang="en-US" b="0"/>
              <a:t>‹Nº›</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r"/>
            <a:fld id="{F7021451-1387-4CA6-816F-3879F97B5CBC}" type="slidenum">
              <a:rPr lang="en-US" b="0"/>
              <a:t>‹Nº›</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chart" Target="../charts/char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011680"/>
            <a:ext cx="10515600" cy="1463040"/>
          </a:xfrm>
          <a:prstGeom prst="rect">
            <a:avLst/>
          </a:prstGeom>
          <a:noFill/>
          <a:ln/>
        </p:spPr>
        <p:txBody>
          <a:bodyPr wrap="square" lIns="0" tIns="0" rIns="0" bIns="0" rtlCol="0" anchor="b"/>
          <a:lstStyle/>
          <a:p>
            <a:pPr marL="0" indent="0" algn="ctr">
              <a:buNone/>
            </a:pPr>
            <a:r>
              <a:rPr lang="en-US" sz="4800" b="1" dirty="0">
                <a:solidFill>
                  <a:schemeClr val="bg1"/>
                </a:solidFill>
                <a:latin typeface="Cambria" pitchFamily="34" charset="0"/>
                <a:ea typeface="Cambria" pitchFamily="34" charset="-122"/>
                <a:cs typeface="Cambria" pitchFamily="34" charset="-120"/>
              </a:rPr>
              <a:t>SISMAN </a:t>
            </a:r>
            <a:r>
              <a:rPr lang="en-US" sz="4800" b="1" dirty="0" err="1" smtClean="0">
                <a:solidFill>
                  <a:schemeClr val="bg1"/>
                </a:solidFill>
                <a:latin typeface="Cambria" pitchFamily="34" charset="0"/>
                <a:ea typeface="Cambria" pitchFamily="34" charset="-122"/>
                <a:cs typeface="Cambria" pitchFamily="34" charset="-120"/>
              </a:rPr>
              <a:t>Mantenimiento</a:t>
            </a:r>
            <a:r>
              <a:rPr lang="en-US" sz="4800" b="1" dirty="0" smtClean="0">
                <a:solidFill>
                  <a:schemeClr val="bg1"/>
                </a:solidFill>
                <a:latin typeface="Cambria" pitchFamily="34" charset="0"/>
                <a:ea typeface="Cambria" pitchFamily="34" charset="-122"/>
                <a:cs typeface="Cambria" pitchFamily="34" charset="-120"/>
              </a:rPr>
              <a:t/>
            </a:r>
            <a:br>
              <a:rPr lang="en-US" sz="4800" b="1" dirty="0" smtClean="0">
                <a:solidFill>
                  <a:schemeClr val="bg1"/>
                </a:solidFill>
                <a:latin typeface="Cambria" pitchFamily="34" charset="0"/>
                <a:ea typeface="Cambria" pitchFamily="34" charset="-122"/>
                <a:cs typeface="Cambria" pitchFamily="34" charset="-120"/>
              </a:rPr>
            </a:br>
            <a:r>
              <a:rPr lang="en-US" dirty="0" err="1" smtClean="0"/>
              <a:t>Diario</a:t>
            </a:r>
            <a:r>
              <a:rPr lang="en-US" dirty="0" smtClean="0"/>
              <a:t> </a:t>
            </a:r>
            <a:r>
              <a:rPr lang="en-US" dirty="0" err="1" smtClean="0"/>
              <a:t>Oficial</a:t>
            </a:r>
            <a:r>
              <a:rPr lang="en-US" dirty="0" smtClean="0"/>
              <a:t> El </a:t>
            </a:r>
            <a:r>
              <a:rPr lang="en-US" dirty="0" err="1" smtClean="0"/>
              <a:t>Peruano</a:t>
            </a:r>
            <a:endParaRPr lang="en-US" sz="4800" dirty="0"/>
          </a:p>
        </p:txBody>
      </p:sp>
      <p:sp>
        <p:nvSpPr>
          <p:cNvPr id="3" name="Text 0"/>
          <p:cNvSpPr>
            <a:spLocks noGrp="1"/>
          </p:cNvSpPr>
          <p:nvPr>
            <p:ph type="body" idx="101" hasCustomPrompt="1"/>
          </p:nvPr>
        </p:nvSpPr>
        <p:spPr>
          <a:xfrm>
            <a:off x="548640" y="3685592"/>
            <a:ext cx="10515600" cy="1280160"/>
          </a:xfrm>
          <a:prstGeom prst="rect">
            <a:avLst/>
          </a:prstGeom>
          <a:noFill/>
          <a:ln/>
        </p:spPr>
        <p:txBody>
          <a:bodyPr wrap="square" lIns="0" tIns="0" rIns="0" bIns="0" rtlCol="0" anchor="t"/>
          <a:lstStyle/>
          <a:p>
            <a:pPr marL="0" indent="0" algn="ctr">
              <a:buNone/>
            </a:pPr>
            <a:r>
              <a:rPr lang="en-US" sz="2000" dirty="0" smtClean="0">
                <a:solidFill>
                  <a:schemeClr val="accent6"/>
                </a:solidFill>
              </a:rPr>
              <a:t>De un </a:t>
            </a:r>
            <a:r>
              <a:rPr lang="en-US" sz="2000" dirty="0" err="1">
                <a:solidFill>
                  <a:schemeClr val="accent6"/>
                </a:solidFill>
              </a:rPr>
              <a:t>sistema</a:t>
            </a:r>
            <a:r>
              <a:rPr lang="en-US" sz="2000" dirty="0">
                <a:solidFill>
                  <a:schemeClr val="accent6"/>
                </a:solidFill>
              </a:rPr>
              <a:t> </a:t>
            </a:r>
            <a:r>
              <a:rPr lang="en-US" sz="2000" dirty="0" err="1" smtClean="0">
                <a:solidFill>
                  <a:schemeClr val="accent6"/>
                </a:solidFill>
              </a:rPr>
              <a:t>legado</a:t>
            </a:r>
            <a:r>
              <a:rPr lang="en-US" sz="2000" dirty="0" smtClean="0">
                <a:solidFill>
                  <a:schemeClr val="accent6"/>
                </a:solidFill>
              </a:rPr>
              <a:t> </a:t>
            </a:r>
            <a:r>
              <a:rPr lang="en-US" sz="2000" dirty="0" err="1" smtClean="0">
                <a:solidFill>
                  <a:schemeClr val="accent6"/>
                </a:solidFill>
              </a:rPr>
              <a:t>obsoleto</a:t>
            </a:r>
            <a:r>
              <a:rPr lang="en-US" sz="2000" dirty="0" smtClean="0">
                <a:solidFill>
                  <a:schemeClr val="accent6"/>
                </a:solidFill>
              </a:rPr>
              <a:t> </a:t>
            </a:r>
            <a:r>
              <a:rPr lang="en-US" sz="2000" dirty="0">
                <a:solidFill>
                  <a:schemeClr val="accent6"/>
                </a:solidFill>
              </a:rPr>
              <a:t>a un módulo especificado, probado y </a:t>
            </a:r>
            <a:r>
              <a:rPr lang="en-US" sz="2000" dirty="0" err="1" smtClean="0">
                <a:solidFill>
                  <a:schemeClr val="accent6"/>
                </a:solidFill>
              </a:rPr>
              <a:t>trazable</a:t>
            </a:r>
            <a:endParaRPr lang="en-US" sz="2000" dirty="0" smtClean="0">
              <a:solidFill>
                <a:schemeClr val="accent6"/>
              </a:solidFill>
            </a:endParaRPr>
          </a:p>
          <a:p>
            <a:pPr marL="0" indent="0" algn="ctr">
              <a:buNone/>
            </a:pPr>
            <a:endParaRPr lang="en-US" dirty="0"/>
          </a:p>
          <a:p>
            <a:pPr marL="0" indent="0" algn="ctr">
              <a:buNone/>
            </a:pPr>
            <a:endParaRPr lang="en-US" sz="2000" dirty="0"/>
          </a:p>
          <a:p>
            <a:pPr marL="0" indent="0" algn="ctr">
              <a:buNone/>
            </a:pPr>
            <a:r>
              <a:rPr lang="en-US" sz="2400" dirty="0">
                <a:solidFill>
                  <a:schemeClr val="accent1"/>
                </a:solidFill>
              </a:rPr>
              <a:t>Proyecto integrador: Agentic Software Development (.NET 10)</a:t>
            </a:r>
            <a:endParaRPr lang="en-US" sz="2400" dirty="0" smtClean="0">
              <a:solidFill>
                <a:schemeClr val="accent1"/>
              </a:solidFill>
            </a:endParaRPr>
          </a:p>
          <a:p>
            <a:pPr marL="0" indent="0" algn="ctr">
              <a:buNone/>
            </a:pPr>
            <a:r>
              <a:rPr lang="en-US" sz="2400" dirty="0" err="1" smtClean="0">
                <a:solidFill>
                  <a:schemeClr val="accent1"/>
                </a:solidFill>
              </a:rPr>
              <a:t>Presentado por: Mg. Ing. Angel Hermoza Salas</a:t>
            </a:r>
          </a:p>
          <a:p>
            <a:pPr marL="0" indent="0" algn="ctr">
              <a:buNone/>
            </a:pPr>
            <a:r>
              <a:rPr lang="en-US" sz="2400" dirty="0" smtClean="0">
                <a:solidFill>
                  <a:schemeClr val="accent1"/>
                </a:solidFill>
              </a:rPr>
              <a:t>31/10/2026</a:t>
            </a:r>
            <a:endParaRPr lang="en-US" sz="2000" dirty="0"/>
          </a:p>
        </p:txBody>
      </p:sp>
      <p:sp>
        <p:nvSpPr>
          <p:cNvPr id="4" name="circulo-1"/>
          <p:cNvSpPr/>
          <p:nvPr/>
        </p:nvSpPr>
        <p:spPr>
          <a:xfrm>
            <a:off x="7863840" y="822960"/>
            <a:ext cx="914400" cy="914400"/>
          </a:xfrm>
          <a:prstGeom prst="ellipse">
            <a:avLst/>
          </a:prstGeom>
          <a:solidFill>
            <a:schemeClr val="accent5"/>
          </a:solidFill>
          <a:ln w="12700">
            <a:solidFill>
              <a:schemeClr val="accent5"/>
            </a:solidFill>
            <a:prstDash val="solid"/>
          </a:ln>
        </p:spPr>
        <p:txBody>
          <a:bodyPr/>
          <a:p/>
        </p:txBody>
      </p:sp>
      <p:sp>
        <p:nvSpPr>
          <p:cNvPr id="5" name="num-2"/>
          <p:cNvSpPr txBox="1"/>
          <p:nvPr/>
        </p:nvSpPr>
        <p:spPr>
          <a:xfrm>
            <a:off x="7863840" y="822960"/>
            <a:ext cx="914400" cy="914400"/>
          </a:xfrm>
          <a:prstGeom prst="rect">
            <a:avLst/>
          </a:prstGeom>
          <a:noFill/>
          <a:ln/>
        </p:spPr>
        <p:txBody>
          <a:bodyPr wrap="square" lIns="0" tIns="0" rIns="0" bIns="0" rtlCol="0" anchor="ctr"/>
          <a:lstStyle/>
          <a:p>
            <a:pPr marL="0" indent="0" algn="ctr">
              <a:buNone/>
            </a:pPr>
            <a:r>
              <a:rPr lang="en-US" sz="1500" b="1" dirty="0">
                <a:solidFill>
                  <a:schemeClr val="bg1"/>
                </a:solidFill>
              </a:rPr>
              <a:t>MP</a:t>
            </a:r>
            <a:endParaRPr lang="en-US" sz="1500" dirty="0"/>
          </a:p>
        </p:txBody>
      </p:sp>
      <p:sp>
        <p:nvSpPr>
          <p:cNvPr id="6" name="flecha-3"/>
          <p:cNvSpPr/>
          <p:nvPr/>
        </p:nvSpPr>
        <p:spPr>
          <a:xfrm>
            <a:off x="8796528" y="1280160"/>
            <a:ext cx="365760" cy="0"/>
          </a:xfrm>
          <a:prstGeom prst="line">
            <a:avLst/>
          </a:prstGeom>
          <a:noFill/>
          <a:ln w="25400">
            <a:solidFill>
              <a:schemeClr val="accent6"/>
            </a:solidFill>
            <a:prstDash val="solid"/>
            <a:tailEnd type="triangle"/>
          </a:ln>
        </p:spPr>
        <p:txBody>
          <a:bodyPr/>
          <a:p/>
        </p:txBody>
      </p:sp>
      <p:sp>
        <p:nvSpPr>
          <p:cNvPr id="7" name="circulo-4"/>
          <p:cNvSpPr/>
          <p:nvPr/>
        </p:nvSpPr>
        <p:spPr>
          <a:xfrm>
            <a:off x="9189720" y="822960"/>
            <a:ext cx="914400" cy="914400"/>
          </a:xfrm>
          <a:prstGeom prst="ellipse">
            <a:avLst/>
          </a:prstGeom>
          <a:solidFill>
            <a:schemeClr val="accent5"/>
          </a:solidFill>
          <a:ln w="12700">
            <a:solidFill>
              <a:schemeClr val="accent5"/>
            </a:solidFill>
            <a:prstDash val="solid"/>
          </a:ln>
        </p:spPr>
        <p:txBody>
          <a:bodyPr/>
          <a:p/>
        </p:txBody>
      </p:sp>
      <p:sp>
        <p:nvSpPr>
          <p:cNvPr id="8" name="num-5"/>
          <p:cNvSpPr txBox="1"/>
          <p:nvPr/>
        </p:nvSpPr>
        <p:spPr>
          <a:xfrm>
            <a:off x="9189720" y="822960"/>
            <a:ext cx="914400" cy="914400"/>
          </a:xfrm>
          <a:prstGeom prst="rect">
            <a:avLst/>
          </a:prstGeom>
          <a:noFill/>
          <a:ln/>
        </p:spPr>
        <p:txBody>
          <a:bodyPr wrap="square" lIns="0" tIns="0" rIns="0" bIns="0" rtlCol="0" anchor="ctr"/>
          <a:lstStyle/>
          <a:p>
            <a:pPr marL="0" indent="0" algn="ctr">
              <a:buNone/>
            </a:pPr>
            <a:r>
              <a:rPr lang="en-US" sz="1500" b="1" dirty="0">
                <a:solidFill>
                  <a:schemeClr val="bg1"/>
                </a:solidFill>
              </a:rPr>
              <a:t>Fecha</a:t>
            </a:r>
            <a:endParaRPr lang="en-US" sz="1500" dirty="0"/>
          </a:p>
        </p:txBody>
      </p:sp>
      <p:sp>
        <p:nvSpPr>
          <p:cNvPr id="9" name="flecha-6"/>
          <p:cNvSpPr/>
          <p:nvPr/>
        </p:nvSpPr>
        <p:spPr>
          <a:xfrm>
            <a:off x="10122408" y="1280160"/>
            <a:ext cx="365760" cy="0"/>
          </a:xfrm>
          <a:prstGeom prst="line">
            <a:avLst/>
          </a:prstGeom>
          <a:noFill/>
          <a:ln w="25400">
            <a:solidFill>
              <a:schemeClr val="accent6"/>
            </a:solidFill>
            <a:prstDash val="solid"/>
            <a:tailEnd type="triangle"/>
          </a:ln>
        </p:spPr>
        <p:txBody>
          <a:bodyPr/>
          <a:p/>
        </p:txBody>
      </p:sp>
      <p:sp>
        <p:nvSpPr>
          <p:cNvPr id="10" name="circulo-7"/>
          <p:cNvSpPr/>
          <p:nvPr/>
        </p:nvSpPr>
        <p:spPr>
          <a:xfrm>
            <a:off x="10515600" y="822960"/>
            <a:ext cx="914400" cy="914400"/>
          </a:xfrm>
          <a:prstGeom prst="ellipse">
            <a:avLst/>
          </a:prstGeom>
          <a:solidFill>
            <a:schemeClr val="accent1"/>
          </a:solidFill>
          <a:ln w="12700">
            <a:solidFill>
              <a:schemeClr val="accent1"/>
            </a:solidFill>
            <a:prstDash val="solid"/>
          </a:ln>
        </p:spPr>
        <p:txBody>
          <a:bodyPr/>
          <a:p/>
        </p:txBody>
      </p:sp>
      <p:sp>
        <p:nvSpPr>
          <p:cNvPr id="11" name="num-8"/>
          <p:cNvSpPr txBox="1"/>
          <p:nvPr/>
        </p:nvSpPr>
        <p:spPr>
          <a:xfrm>
            <a:off x="10515600" y="822960"/>
            <a:ext cx="914400" cy="914400"/>
          </a:xfrm>
          <a:prstGeom prst="rect">
            <a:avLst/>
          </a:prstGeom>
          <a:noFill/>
          <a:ln/>
        </p:spPr>
        <p:txBody>
          <a:bodyPr wrap="square" lIns="0" tIns="0" rIns="0" bIns="0" rtlCol="0" anchor="ctr"/>
          <a:lstStyle/>
          <a:p>
            <a:pPr marL="0" indent="0" algn="ctr">
              <a:buNone/>
            </a:pPr>
            <a:r>
              <a:rPr lang="en-US" sz="1500" b="1" dirty="0">
                <a:solidFill>
                  <a:schemeClr val="tx2"/>
                </a:solidFill>
              </a:rPr>
              <a:t>OT</a:t>
            </a:r>
            <a:endParaRPr lang="en-US" sz="1500"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59"/>
            <a:ext cx="11094415" cy="1080485"/>
          </a:xfrm>
          <a:prstGeom prst="rect">
            <a:avLst/>
          </a:prstGeom>
          <a:noFill/>
          <a:ln/>
        </p:spPr>
        <p:txBody>
          <a:bodyPr wrap="square" lIns="0" tIns="0" rIns="0" bIns="0" rtlCol="0" anchor="ctr"/>
          <a:lstStyle/>
          <a:p>
            <a:pPr marL="0" indent="0">
              <a:buNone/>
            </a:pPr>
            <a:r>
              <a:rPr lang="en-US" sz="3400" b="1" dirty="0" smtClean="0">
                <a:solidFill>
                  <a:schemeClr val="tx2"/>
                </a:solidFill>
                <a:latin typeface="Cambria" pitchFamily="34" charset="0"/>
                <a:ea typeface="Cambria" pitchFamily="34" charset="-122"/>
                <a:cs typeface="Cambria" pitchFamily="34" charset="-120"/>
              </a:rPr>
              <a:t>El </a:t>
            </a:r>
            <a:r>
              <a:rPr lang="en-US" sz="3400" b="1" dirty="0" err="1" smtClean="0">
                <a:solidFill>
                  <a:schemeClr val="tx2"/>
                </a:solidFill>
                <a:latin typeface="Cambria" pitchFamily="34" charset="0"/>
                <a:ea typeface="Cambria" pitchFamily="34" charset="-122"/>
                <a:cs typeface="Cambria" pitchFamily="34" charset="-120"/>
              </a:rPr>
              <a:t>Problema</a:t>
            </a:r>
            <a:r>
              <a:rPr lang="en-US" sz="3400" b="1" dirty="0" smtClean="0">
                <a:solidFill>
                  <a:schemeClr val="tx2"/>
                </a:solidFill>
                <a:latin typeface="Cambria" pitchFamily="34" charset="0"/>
                <a:ea typeface="Cambria" pitchFamily="34" charset="-122"/>
                <a:cs typeface="Cambria" pitchFamily="34" charset="-120"/>
              </a:rPr>
              <a:t/>
            </a:r>
            <a:br>
              <a:rPr lang="en-US" sz="3400" b="1" dirty="0" smtClean="0">
                <a:solidFill>
                  <a:schemeClr val="tx2"/>
                </a:solidFill>
                <a:latin typeface="Cambria" pitchFamily="34" charset="0"/>
                <a:ea typeface="Cambria" pitchFamily="34" charset="-122"/>
                <a:cs typeface="Cambria" pitchFamily="34" charset="-120"/>
              </a:rPr>
            </a:br>
            <a:r>
              <a:rPr lang="en-US" sz="3400" b="1" dirty="0" smtClean="0">
                <a:solidFill>
                  <a:schemeClr val="tx2"/>
                </a:solidFill>
                <a:latin typeface="Cambria" pitchFamily="34" charset="0"/>
                <a:ea typeface="Cambria" pitchFamily="34" charset="-122"/>
                <a:cs typeface="Cambria" pitchFamily="34" charset="-120"/>
              </a:rPr>
              <a:t>El </a:t>
            </a:r>
            <a:r>
              <a:rPr lang="en-US" sz="3400" b="1" dirty="0">
                <a:solidFill>
                  <a:schemeClr val="tx2"/>
                </a:solidFill>
                <a:latin typeface="Cambria" pitchFamily="34" charset="0"/>
                <a:ea typeface="Cambria" pitchFamily="34" charset="-122"/>
                <a:cs typeface="Cambria" pitchFamily="34" charset="-120"/>
              </a:rPr>
              <a:t>sistema original fallaba donde más duele</a:t>
            </a:r>
            <a:endParaRPr lang="en-US" sz="3400" dirty="0"/>
          </a:p>
        </p:txBody>
      </p:sp>
      <p:sp>
        <p:nvSpPr>
          <p:cNvPr id="3" name="tarjeta-9"/>
          <p:cNvSpPr/>
          <p:nvPr/>
        </p:nvSpPr>
        <p:spPr>
          <a:xfrm>
            <a:off x="548640" y="1554480"/>
            <a:ext cx="2606040" cy="3200400"/>
          </a:xfrm>
          <a:prstGeom prst="roundRect">
            <a:avLst>
              <a:gd name="adj" fmla="val 4211"/>
            </a:avLst>
          </a:prstGeom>
          <a:solidFill>
            <a:schemeClr val="bg2"/>
          </a:solidFill>
          <a:ln w="12700">
            <a:solidFill>
              <a:schemeClr val="bg2"/>
            </a:solidFill>
            <a:prstDash val="solid"/>
          </a:ln>
        </p:spPr>
        <p:txBody>
          <a:bodyPr/>
          <a:p/>
        </p:txBody>
      </p:sp>
      <p:sp>
        <p:nvSpPr>
          <p:cNvPr id="4" name="texto-10"/>
          <p:cNvSpPr txBox="1"/>
          <p:nvPr/>
        </p:nvSpPr>
        <p:spPr>
          <a:xfrm>
            <a:off x="822960" y="1920240"/>
            <a:ext cx="2103120" cy="914400"/>
          </a:xfrm>
          <a:prstGeom prst="rect">
            <a:avLst/>
          </a:prstGeom>
          <a:noFill/>
          <a:ln/>
        </p:spPr>
        <p:txBody>
          <a:bodyPr wrap="square" lIns="0" tIns="0" rIns="0" bIns="0" rtlCol="0" anchor="t"/>
          <a:lstStyle/>
          <a:p>
            <a:pPr marL="0" indent="0">
              <a:buNone/>
            </a:pPr>
            <a:r>
              <a:rPr lang="en-US" sz="3600" b="1" dirty="0">
                <a:solidFill>
                  <a:schemeClr val="accent3"/>
                </a:solidFill>
                <a:latin typeface="Cambria" pitchFamily="34" charset="0"/>
                <a:ea typeface="Cambria" pitchFamily="34" charset="-122"/>
                <a:cs typeface="Cambria" pitchFamily="34" charset="-120"/>
              </a:rPr>
              <a:t>4 pasos</a:t>
            </a:r>
            <a:endParaRPr lang="en-US" sz="3600" dirty="0"/>
          </a:p>
        </p:txBody>
      </p:sp>
      <p:sp>
        <p:nvSpPr>
          <p:cNvPr id="5" name="texto-11"/>
          <p:cNvSpPr txBox="1"/>
          <p:nvPr/>
        </p:nvSpPr>
        <p:spPr>
          <a:xfrm>
            <a:off x="822960" y="3017520"/>
            <a:ext cx="2103120" cy="2377440"/>
          </a:xfrm>
          <a:prstGeom prst="rect">
            <a:avLst/>
          </a:prstGeom>
          <a:noFill/>
          <a:ln/>
        </p:spPr>
        <p:txBody>
          <a:bodyPr wrap="square" lIns="0" tIns="0" rIns="0" bIns="0" rtlCol="0" anchor="t"/>
          <a:lstStyle/>
          <a:p>
            <a:pPr marL="0" indent="0">
              <a:buNone/>
            </a:pPr>
            <a:r>
              <a:rPr lang="en-US" sz="1500" dirty="0">
                <a:solidFill>
                  <a:schemeClr val="tx1"/>
                </a:solidFill>
              </a:rPr>
              <a:t>para tomar el número de OT, sin transacción: dos usuarios podían recibir el mismo número</a:t>
            </a:r>
            <a:endParaRPr lang="en-US" sz="1500" dirty="0"/>
          </a:p>
        </p:txBody>
      </p:sp>
      <p:sp>
        <p:nvSpPr>
          <p:cNvPr id="6" name="tarjeta-12"/>
          <p:cNvSpPr/>
          <p:nvPr/>
        </p:nvSpPr>
        <p:spPr>
          <a:xfrm>
            <a:off x="3346704" y="1554480"/>
            <a:ext cx="2606040" cy="3200400"/>
          </a:xfrm>
          <a:prstGeom prst="roundRect">
            <a:avLst>
              <a:gd name="adj" fmla="val 4211"/>
            </a:avLst>
          </a:prstGeom>
          <a:solidFill>
            <a:schemeClr val="bg2"/>
          </a:solidFill>
          <a:ln w="12700">
            <a:solidFill>
              <a:schemeClr val="bg2"/>
            </a:solidFill>
            <a:prstDash val="solid"/>
          </a:ln>
        </p:spPr>
        <p:txBody>
          <a:bodyPr/>
          <a:p/>
        </p:txBody>
      </p:sp>
      <p:sp>
        <p:nvSpPr>
          <p:cNvPr id="7" name="texto-13"/>
          <p:cNvSpPr txBox="1"/>
          <p:nvPr/>
        </p:nvSpPr>
        <p:spPr>
          <a:xfrm>
            <a:off x="3621024" y="1920240"/>
            <a:ext cx="2103120" cy="914400"/>
          </a:xfrm>
          <a:prstGeom prst="rect">
            <a:avLst/>
          </a:prstGeom>
          <a:noFill/>
          <a:ln/>
        </p:spPr>
        <p:txBody>
          <a:bodyPr wrap="square" lIns="0" tIns="0" rIns="0" bIns="0" rtlCol="0" anchor="t"/>
          <a:lstStyle/>
          <a:p>
            <a:pPr marL="0" indent="0">
              <a:buNone/>
            </a:pPr>
            <a:r>
              <a:rPr lang="en-US" sz="3600" b="1" dirty="0">
                <a:solidFill>
                  <a:schemeClr val="accent3"/>
                </a:solidFill>
                <a:latin typeface="Cambria" pitchFamily="34" charset="0"/>
                <a:ea typeface="Cambria" pitchFamily="34" charset="-122"/>
                <a:cs typeface="Cambria" pitchFamily="34" charset="-120"/>
              </a:rPr>
              <a:t>«Éxito»</a:t>
            </a:r>
            <a:endParaRPr lang="en-US" sz="3600" dirty="0"/>
          </a:p>
        </p:txBody>
      </p:sp>
      <p:sp>
        <p:nvSpPr>
          <p:cNvPr id="8" name="texto-14"/>
          <p:cNvSpPr txBox="1"/>
          <p:nvPr/>
        </p:nvSpPr>
        <p:spPr>
          <a:xfrm>
            <a:off x="3621024" y="3017520"/>
            <a:ext cx="2103120" cy="2377440"/>
          </a:xfrm>
          <a:prstGeom prst="rect">
            <a:avLst/>
          </a:prstGeom>
          <a:noFill/>
          <a:ln/>
        </p:spPr>
        <p:txBody>
          <a:bodyPr wrap="square" lIns="0" tIns="0" rIns="0" bIns="0" rtlCol="0" anchor="t"/>
          <a:lstStyle/>
          <a:p>
            <a:pPr marL="0" indent="0">
              <a:buNone/>
            </a:pPr>
            <a:r>
              <a:rPr lang="en-US" sz="1500" dirty="0">
                <a:solidFill>
                  <a:schemeClr val="tx1"/>
                </a:solidFill>
              </a:rPr>
              <a:t>en pantalla aunque el procedimiento fallara: 36 de 49 procedimientos no existen en la base de prueba</a:t>
            </a:r>
            <a:endParaRPr lang="en-US" sz="1500" dirty="0"/>
          </a:p>
        </p:txBody>
      </p:sp>
      <p:sp>
        <p:nvSpPr>
          <p:cNvPr id="9" name="tarjeta-15"/>
          <p:cNvSpPr/>
          <p:nvPr/>
        </p:nvSpPr>
        <p:spPr>
          <a:xfrm>
            <a:off x="6144768" y="1554480"/>
            <a:ext cx="2606040" cy="3200400"/>
          </a:xfrm>
          <a:prstGeom prst="roundRect">
            <a:avLst>
              <a:gd name="adj" fmla="val 4211"/>
            </a:avLst>
          </a:prstGeom>
          <a:solidFill>
            <a:schemeClr val="bg2"/>
          </a:solidFill>
          <a:ln w="12700">
            <a:solidFill>
              <a:schemeClr val="bg2"/>
            </a:solidFill>
            <a:prstDash val="solid"/>
          </a:ln>
        </p:spPr>
        <p:txBody>
          <a:bodyPr/>
          <a:p/>
        </p:txBody>
      </p:sp>
      <p:sp>
        <p:nvSpPr>
          <p:cNvPr id="10" name="texto-16"/>
          <p:cNvSpPr txBox="1"/>
          <p:nvPr/>
        </p:nvSpPr>
        <p:spPr>
          <a:xfrm>
            <a:off x="6419088" y="1920240"/>
            <a:ext cx="2103120" cy="914400"/>
          </a:xfrm>
          <a:prstGeom prst="rect">
            <a:avLst/>
          </a:prstGeom>
          <a:noFill/>
          <a:ln/>
        </p:spPr>
        <p:txBody>
          <a:bodyPr wrap="square" lIns="0" tIns="0" rIns="0" bIns="0" rtlCol="0" anchor="t"/>
          <a:lstStyle/>
          <a:p>
            <a:pPr marL="0" indent="0">
              <a:buNone/>
            </a:pPr>
            <a:r>
              <a:rPr lang="en-US" sz="3600" b="1" dirty="0">
                <a:solidFill>
                  <a:schemeClr val="accent3"/>
                </a:solidFill>
                <a:latin typeface="Cambria" pitchFamily="34" charset="0"/>
                <a:ea typeface="Cambria" pitchFamily="34" charset="-122"/>
                <a:cs typeface="Cambria" pitchFamily="34" charset="-120"/>
              </a:rPr>
              <a:t>1,2 MB</a:t>
            </a:r>
            <a:endParaRPr lang="en-US" sz="3600" dirty="0"/>
          </a:p>
        </p:txBody>
      </p:sp>
      <p:sp>
        <p:nvSpPr>
          <p:cNvPr id="11" name="texto-17"/>
          <p:cNvSpPr txBox="1"/>
          <p:nvPr/>
        </p:nvSpPr>
        <p:spPr>
          <a:xfrm>
            <a:off x="6419088" y="3017520"/>
            <a:ext cx="2103120" cy="2377440"/>
          </a:xfrm>
          <a:prstGeom prst="rect">
            <a:avLst/>
          </a:prstGeom>
          <a:noFill/>
          <a:ln/>
        </p:spPr>
        <p:txBody>
          <a:bodyPr wrap="square" lIns="0" tIns="0" rIns="0" bIns="0" rtlCol="0" anchor="t"/>
          <a:lstStyle/>
          <a:p>
            <a:pPr marL="0" indent="0">
              <a:buNone/>
            </a:pPr>
            <a:r>
              <a:rPr lang="en-US" sz="1500" dirty="0">
                <a:solidFill>
                  <a:schemeClr val="tx1"/>
                </a:solidFill>
              </a:rPr>
              <a:t>pesaba la lista de OT (672 filas en pantalla); la queja principal de los usuarios era la lentitud</a:t>
            </a:r>
            <a:endParaRPr lang="en-US" sz="1500" dirty="0"/>
          </a:p>
        </p:txBody>
      </p:sp>
      <p:sp>
        <p:nvSpPr>
          <p:cNvPr id="12" name="tarjeta-18"/>
          <p:cNvSpPr/>
          <p:nvPr/>
        </p:nvSpPr>
        <p:spPr>
          <a:xfrm>
            <a:off x="8942832" y="1554480"/>
            <a:ext cx="2606040" cy="3200400"/>
          </a:xfrm>
          <a:prstGeom prst="roundRect">
            <a:avLst>
              <a:gd name="adj" fmla="val 4211"/>
            </a:avLst>
          </a:prstGeom>
          <a:solidFill>
            <a:schemeClr val="bg2"/>
          </a:solidFill>
          <a:ln w="12700">
            <a:solidFill>
              <a:schemeClr val="bg2"/>
            </a:solidFill>
            <a:prstDash val="solid"/>
          </a:ln>
        </p:spPr>
        <p:txBody>
          <a:bodyPr/>
          <a:p/>
        </p:txBody>
      </p:sp>
      <p:sp>
        <p:nvSpPr>
          <p:cNvPr id="13" name="texto-19"/>
          <p:cNvSpPr txBox="1"/>
          <p:nvPr/>
        </p:nvSpPr>
        <p:spPr>
          <a:xfrm>
            <a:off x="9217152" y="1920240"/>
            <a:ext cx="2103120" cy="914400"/>
          </a:xfrm>
          <a:prstGeom prst="rect">
            <a:avLst/>
          </a:prstGeom>
          <a:noFill/>
          <a:ln/>
        </p:spPr>
        <p:txBody>
          <a:bodyPr wrap="square" lIns="0" tIns="0" rIns="0" bIns="0" rtlCol="0" anchor="t"/>
          <a:lstStyle/>
          <a:p>
            <a:pPr marL="0" indent="0">
              <a:buNone/>
            </a:pPr>
            <a:r>
              <a:rPr lang="en-US" sz="3600" b="1" dirty="0">
                <a:solidFill>
                  <a:schemeClr val="accent3"/>
                </a:solidFill>
                <a:latin typeface="Cambria" pitchFamily="34" charset="0"/>
                <a:ea typeface="Cambria" pitchFamily="34" charset="-122"/>
                <a:cs typeface="Cambria" pitchFamily="34" charset="-120"/>
              </a:rPr>
              <a:t>Sin sesión</a:t>
            </a:r>
            <a:endParaRPr lang="en-US" sz="3600" dirty="0"/>
          </a:p>
        </p:txBody>
      </p:sp>
      <p:sp>
        <p:nvSpPr>
          <p:cNvPr id="14" name="texto-20"/>
          <p:cNvSpPr txBox="1"/>
          <p:nvPr/>
        </p:nvSpPr>
        <p:spPr>
          <a:xfrm>
            <a:off x="9217152" y="3017520"/>
            <a:ext cx="2103120" cy="2377440"/>
          </a:xfrm>
          <a:prstGeom prst="rect">
            <a:avLst/>
          </a:prstGeom>
          <a:noFill/>
          <a:ln/>
        </p:spPr>
        <p:txBody>
          <a:bodyPr wrap="square" lIns="0" tIns="0" rIns="0" bIns="0" rtlCol="0" anchor="t"/>
          <a:lstStyle/>
          <a:p>
            <a:pPr marL="0" indent="0">
              <a:buNone/>
            </a:pPr>
            <a:r>
              <a:rPr lang="en-US" sz="1500" dirty="0">
                <a:solidFill>
                  <a:schemeClr val="tx1"/>
                </a:solidFill>
              </a:rPr>
              <a:t>se abrían las pantallas de SISMAN (solo 2 de las probadas pedían login), y cualquier usuario veía todo</a:t>
            </a:r>
            <a:endParaRPr lang="en-US" sz="1500" dirty="0"/>
          </a:p>
        </p:txBody>
      </p:sp>
      <p:sp>
        <p:nvSpPr>
          <p:cNvPr id="15" name="texto-21"/>
          <p:cNvSpPr txBox="1"/>
          <p:nvPr/>
        </p:nvSpPr>
        <p:spPr>
          <a:xfrm>
            <a:off x="548640" y="5029200"/>
            <a:ext cx="10972800" cy="365760"/>
          </a:xfrm>
          <a:prstGeom prst="rect">
            <a:avLst/>
          </a:prstGeom>
          <a:noFill/>
          <a:ln/>
        </p:spPr>
        <p:txBody>
          <a:bodyPr wrap="square" lIns="0" tIns="0" rIns="0" bIns="0" rtlCol="0" anchor="t"/>
          <a:lstStyle/>
          <a:p>
            <a:pPr marL="0" indent="0">
              <a:buNone/>
            </a:pPr>
            <a:r>
              <a:rPr lang="en-US" sz="1200" i="1" dirty="0">
                <a:solidFill>
                  <a:schemeClr val="accent4"/>
                </a:solidFill>
              </a:rPr>
              <a:t>Hallazgos del análisis del sistema original (código, base de datos y validación con un usuario).</a:t>
            </a:r>
            <a:endParaRPr lang="en-US" sz="12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r"/>
            <a:fld id="{F7021451-1387-4CA6-816F-3879F97B5CBC}" type="slidenum">
              <a:rPr lang="en-US" b="0"/>
              <a:t>2</a:t>
            </a:fld>
            <a:endParaRPr lang="en-US"/>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4415" cy="1051560"/>
          </a:xfrm>
          <a:prstGeom prst="rect">
            <a:avLst/>
          </a:prstGeom>
          <a:noFill/>
          <a:ln/>
        </p:spPr>
        <p:txBody>
          <a:bodyPr wrap="square" lIns="0" tIns="0" rIns="0" bIns="0" rtlCol="0" anchor="ctr"/>
          <a:lstStyle/>
          <a:p>
            <a:pPr marL="0" indent="0">
              <a:buNone/>
            </a:pPr>
            <a:r>
              <a:rPr lang="en-US" sz="3400" b="1" dirty="0" smtClean="0">
                <a:solidFill>
                  <a:schemeClr val="tx2"/>
                </a:solidFill>
                <a:latin typeface="Cambria" pitchFamily="34" charset="0"/>
                <a:ea typeface="Cambria" pitchFamily="34" charset="-122"/>
                <a:cs typeface="Cambria" pitchFamily="34" charset="-120"/>
              </a:rPr>
              <a:t>La </a:t>
            </a:r>
            <a:r>
              <a:rPr lang="en-US" sz="3400" b="1" dirty="0" err="1" smtClean="0">
                <a:solidFill>
                  <a:schemeClr val="tx2"/>
                </a:solidFill>
                <a:latin typeface="Cambria" pitchFamily="34" charset="0"/>
                <a:ea typeface="Cambria" pitchFamily="34" charset="-122"/>
                <a:cs typeface="Cambria" pitchFamily="34" charset="-120"/>
              </a:rPr>
              <a:t>Solución</a:t>
            </a:r>
            <a:r>
              <a:rPr lang="en-US" sz="3400" b="1" dirty="0" smtClean="0">
                <a:solidFill>
                  <a:schemeClr val="tx2"/>
                </a:solidFill>
                <a:latin typeface="Cambria" pitchFamily="34" charset="0"/>
                <a:ea typeface="Cambria" pitchFamily="34" charset="-122"/>
                <a:cs typeface="Cambria" pitchFamily="34" charset="-120"/>
              </a:rPr>
              <a:t/>
            </a:r>
            <a:br>
              <a:rPr lang="en-US" sz="3400" b="1" dirty="0" smtClean="0">
                <a:solidFill>
                  <a:schemeClr val="tx2"/>
                </a:solidFill>
                <a:latin typeface="Cambria" pitchFamily="34" charset="0"/>
                <a:ea typeface="Cambria" pitchFamily="34" charset="-122"/>
                <a:cs typeface="Cambria" pitchFamily="34" charset="-120"/>
              </a:rPr>
            </a:br>
            <a:r>
              <a:rPr lang="en-US" sz="3400" b="1" dirty="0" smtClean="0">
                <a:solidFill>
                  <a:schemeClr val="tx2"/>
                </a:solidFill>
                <a:latin typeface="Cambria" pitchFamily="34" charset="0"/>
                <a:ea typeface="Cambria" pitchFamily="34" charset="-122"/>
                <a:cs typeface="Cambria" pitchFamily="34" charset="-120"/>
              </a:rPr>
              <a:t>Un </a:t>
            </a:r>
            <a:r>
              <a:rPr lang="en-US" sz="3400" b="1" dirty="0">
                <a:solidFill>
                  <a:schemeClr val="tx2"/>
                </a:solidFill>
                <a:latin typeface="Cambria" pitchFamily="34" charset="0"/>
                <a:ea typeface="Cambria" pitchFamily="34" charset="-122"/>
                <a:cs typeface="Cambria" pitchFamily="34" charset="-120"/>
              </a:rPr>
              <a:t>módulo acotado, de punta a punta</a:t>
            </a:r>
            <a:endParaRPr lang="en-US" sz="3400" dirty="0"/>
          </a:p>
        </p:txBody>
      </p:sp>
      <p:sp>
        <p:nvSpPr>
          <p:cNvPr id="3" name="tarjeta-22"/>
          <p:cNvSpPr/>
          <p:nvPr/>
        </p:nvSpPr>
        <p:spPr>
          <a:xfrm>
            <a:off x="548640" y="1645920"/>
            <a:ext cx="3383280" cy="2377440"/>
          </a:xfrm>
          <a:prstGeom prst="roundRect">
            <a:avLst>
              <a:gd name="adj" fmla="val 4615"/>
            </a:avLst>
          </a:prstGeom>
          <a:solidFill>
            <a:schemeClr val="bg2"/>
          </a:solidFill>
          <a:ln w="12700">
            <a:solidFill>
              <a:schemeClr val="bg2"/>
            </a:solidFill>
            <a:prstDash val="solid"/>
          </a:ln>
        </p:spPr>
        <p:txBody>
          <a:bodyPr/>
          <a:p/>
        </p:txBody>
      </p:sp>
      <p:sp>
        <p:nvSpPr>
          <p:cNvPr id="4" name="circulo-23"/>
          <p:cNvSpPr/>
          <p:nvPr/>
        </p:nvSpPr>
        <p:spPr>
          <a:xfrm>
            <a:off x="822960" y="1920240"/>
            <a:ext cx="640080" cy="640080"/>
          </a:xfrm>
          <a:prstGeom prst="ellipse">
            <a:avLst/>
          </a:prstGeom>
          <a:solidFill>
            <a:schemeClr val="accent1"/>
          </a:solidFill>
          <a:ln w="12700">
            <a:solidFill>
              <a:schemeClr val="accent1"/>
            </a:solidFill>
            <a:prstDash val="solid"/>
          </a:ln>
        </p:spPr>
        <p:txBody>
          <a:bodyPr/>
          <a:p/>
        </p:txBody>
      </p:sp>
      <p:sp>
        <p:nvSpPr>
          <p:cNvPr id="5" name="num-24"/>
          <p:cNvSpPr txBox="1"/>
          <p:nvPr/>
        </p:nvSpPr>
        <p:spPr>
          <a:xfrm>
            <a:off x="822960" y="1920240"/>
            <a:ext cx="640080" cy="640080"/>
          </a:xfrm>
          <a:prstGeom prst="rect">
            <a:avLst/>
          </a:prstGeom>
          <a:noFill/>
          <a:ln/>
        </p:spPr>
        <p:txBody>
          <a:bodyPr wrap="square" lIns="0" tIns="0" rIns="0" bIns="0" rtlCol="0" anchor="ctr"/>
          <a:lstStyle/>
          <a:p>
            <a:pPr marL="0" indent="0" algn="ctr">
              <a:buNone/>
            </a:pPr>
            <a:r>
              <a:rPr lang="en-US" sz="1600" b="1" dirty="0">
                <a:solidFill>
                  <a:schemeClr val="tx2"/>
                </a:solidFill>
              </a:rPr>
              <a:t>1</a:t>
            </a:r>
            <a:endParaRPr lang="en-US" sz="1600" dirty="0"/>
          </a:p>
        </p:txBody>
      </p:sp>
      <p:sp>
        <p:nvSpPr>
          <p:cNvPr id="6" name="texto-25"/>
          <p:cNvSpPr txBox="1"/>
          <p:nvPr/>
        </p:nvSpPr>
        <p:spPr>
          <a:xfrm>
            <a:off x="1645920" y="1965960"/>
            <a:ext cx="2194560" cy="640080"/>
          </a:xfrm>
          <a:prstGeom prst="rect">
            <a:avLst/>
          </a:prstGeom>
          <a:noFill/>
          <a:ln/>
        </p:spPr>
        <p:txBody>
          <a:bodyPr wrap="square" lIns="0" tIns="0" rIns="0" bIns="0" rtlCol="0" anchor="t"/>
          <a:lstStyle/>
          <a:p>
            <a:pPr marL="0" indent="0">
              <a:buNone/>
            </a:pPr>
            <a:r>
              <a:rPr lang="en-US" sz="2000" b="1" dirty="0">
                <a:solidFill>
                  <a:schemeClr val="tx2"/>
                </a:solidFill>
              </a:rPr>
              <a:t>Mantenimiento preventivo</a:t>
            </a:r>
            <a:endParaRPr lang="en-US" sz="2000" dirty="0"/>
          </a:p>
        </p:txBody>
      </p:sp>
      <p:sp>
        <p:nvSpPr>
          <p:cNvPr id="7" name="texto-26"/>
          <p:cNvSpPr txBox="1"/>
          <p:nvPr/>
        </p:nvSpPr>
        <p:spPr>
          <a:xfrm>
            <a:off x="822960" y="2834640"/>
            <a:ext cx="2834640" cy="1005840"/>
          </a:xfrm>
          <a:prstGeom prst="rect">
            <a:avLst/>
          </a:prstGeom>
          <a:noFill/>
          <a:ln/>
        </p:spPr>
        <p:txBody>
          <a:bodyPr wrap="square" lIns="0" tIns="0" rIns="0" bIns="0" rtlCol="0" anchor="t"/>
          <a:lstStyle/>
          <a:p>
            <a:pPr marL="0" indent="0">
              <a:buNone/>
            </a:pPr>
            <a:r>
              <a:rPr lang="en-US" sz="1500" dirty="0">
                <a:solidFill>
                  <a:schemeClr val="tx1"/>
                </a:solidFill>
              </a:rPr>
              <a:t>Se registra, se edita y se aprueba</a:t>
            </a:r>
            <a:endParaRPr lang="en-US" sz="1500" dirty="0"/>
          </a:p>
        </p:txBody>
      </p:sp>
      <p:sp>
        <p:nvSpPr>
          <p:cNvPr id="8" name="flecha-27"/>
          <p:cNvSpPr/>
          <p:nvPr/>
        </p:nvSpPr>
        <p:spPr>
          <a:xfrm>
            <a:off x="3977640" y="2834640"/>
            <a:ext cx="274320" cy="0"/>
          </a:xfrm>
          <a:prstGeom prst="line">
            <a:avLst/>
          </a:prstGeom>
          <a:noFill/>
          <a:ln w="38100">
            <a:solidFill>
              <a:schemeClr val="accent1"/>
            </a:solidFill>
            <a:prstDash val="solid"/>
            <a:tailEnd type="triangle"/>
          </a:ln>
        </p:spPr>
        <p:txBody>
          <a:bodyPr/>
          <a:p/>
        </p:txBody>
      </p:sp>
      <p:sp>
        <p:nvSpPr>
          <p:cNvPr id="9" name="tarjeta-28"/>
          <p:cNvSpPr/>
          <p:nvPr/>
        </p:nvSpPr>
        <p:spPr>
          <a:xfrm>
            <a:off x="4297680" y="1645920"/>
            <a:ext cx="3383280" cy="2377440"/>
          </a:xfrm>
          <a:prstGeom prst="roundRect">
            <a:avLst>
              <a:gd name="adj" fmla="val 4615"/>
            </a:avLst>
          </a:prstGeom>
          <a:solidFill>
            <a:schemeClr val="bg2"/>
          </a:solidFill>
          <a:ln w="12700">
            <a:solidFill>
              <a:schemeClr val="bg2"/>
            </a:solidFill>
            <a:prstDash val="solid"/>
          </a:ln>
        </p:spPr>
        <p:txBody>
          <a:bodyPr/>
          <a:p/>
        </p:txBody>
      </p:sp>
      <p:sp>
        <p:nvSpPr>
          <p:cNvPr id="10" name="circulo-29"/>
          <p:cNvSpPr/>
          <p:nvPr/>
        </p:nvSpPr>
        <p:spPr>
          <a:xfrm>
            <a:off x="4572000" y="1920240"/>
            <a:ext cx="640080" cy="640080"/>
          </a:xfrm>
          <a:prstGeom prst="ellipse">
            <a:avLst/>
          </a:prstGeom>
          <a:solidFill>
            <a:schemeClr val="accent1"/>
          </a:solidFill>
          <a:ln w="12700">
            <a:solidFill>
              <a:schemeClr val="accent1"/>
            </a:solidFill>
            <a:prstDash val="solid"/>
          </a:ln>
        </p:spPr>
        <p:txBody>
          <a:bodyPr/>
          <a:p/>
        </p:txBody>
      </p:sp>
      <p:sp>
        <p:nvSpPr>
          <p:cNvPr id="11" name="num-30"/>
          <p:cNvSpPr txBox="1"/>
          <p:nvPr/>
        </p:nvSpPr>
        <p:spPr>
          <a:xfrm>
            <a:off x="4572000" y="1920240"/>
            <a:ext cx="640080" cy="640080"/>
          </a:xfrm>
          <a:prstGeom prst="rect">
            <a:avLst/>
          </a:prstGeom>
          <a:noFill/>
          <a:ln/>
        </p:spPr>
        <p:txBody>
          <a:bodyPr wrap="square" lIns="0" tIns="0" rIns="0" bIns="0" rtlCol="0" anchor="ctr"/>
          <a:lstStyle/>
          <a:p>
            <a:pPr marL="0" indent="0" algn="ctr">
              <a:buNone/>
            </a:pPr>
            <a:r>
              <a:rPr lang="en-US" sz="1600" b="1" dirty="0">
                <a:solidFill>
                  <a:schemeClr val="tx2"/>
                </a:solidFill>
              </a:rPr>
              <a:t>2</a:t>
            </a:r>
            <a:endParaRPr lang="en-US" sz="1600" dirty="0"/>
          </a:p>
        </p:txBody>
      </p:sp>
      <p:sp>
        <p:nvSpPr>
          <p:cNvPr id="12" name="texto-31"/>
          <p:cNvSpPr txBox="1"/>
          <p:nvPr/>
        </p:nvSpPr>
        <p:spPr>
          <a:xfrm>
            <a:off x="5394960" y="1965960"/>
            <a:ext cx="2194560" cy="640080"/>
          </a:xfrm>
          <a:prstGeom prst="rect">
            <a:avLst/>
          </a:prstGeom>
          <a:noFill/>
          <a:ln/>
        </p:spPr>
        <p:txBody>
          <a:bodyPr wrap="square" lIns="0" tIns="0" rIns="0" bIns="0" rtlCol="0" anchor="t"/>
          <a:lstStyle/>
          <a:p>
            <a:pPr marL="0" indent="0">
              <a:buNone/>
            </a:pPr>
            <a:r>
              <a:rPr lang="en-US" sz="2000" b="1" dirty="0">
                <a:solidFill>
                  <a:schemeClr val="tx2"/>
                </a:solidFill>
              </a:rPr>
              <a:t>Fecha programada</a:t>
            </a:r>
            <a:endParaRPr lang="en-US" sz="2000" dirty="0"/>
          </a:p>
        </p:txBody>
      </p:sp>
      <p:sp>
        <p:nvSpPr>
          <p:cNvPr id="13" name="texto-32"/>
          <p:cNvSpPr txBox="1"/>
          <p:nvPr/>
        </p:nvSpPr>
        <p:spPr>
          <a:xfrm>
            <a:off x="4572000" y="2834640"/>
            <a:ext cx="2834640" cy="1005840"/>
          </a:xfrm>
          <a:prstGeom prst="rect">
            <a:avLst/>
          </a:prstGeom>
          <a:noFill/>
          <a:ln/>
        </p:spPr>
        <p:txBody>
          <a:bodyPr wrap="square" lIns="0" tIns="0" rIns="0" bIns="0" rtlCol="0" anchor="t"/>
          <a:lstStyle/>
          <a:p>
            <a:pPr marL="0" indent="0">
              <a:buNone/>
            </a:pPr>
            <a:r>
              <a:rPr lang="en-US" sz="1500" dirty="0">
                <a:solidFill>
                  <a:schemeClr val="tx1"/>
                </a:solidFill>
              </a:rPr>
              <a:t>Solo para un MP aprobado; inicio posterior a hoy</a:t>
            </a:r>
            <a:endParaRPr lang="en-US" sz="1500" dirty="0"/>
          </a:p>
        </p:txBody>
      </p:sp>
      <p:sp>
        <p:nvSpPr>
          <p:cNvPr id="14" name="flecha-33"/>
          <p:cNvSpPr/>
          <p:nvPr/>
        </p:nvSpPr>
        <p:spPr>
          <a:xfrm>
            <a:off x="7726680" y="2834640"/>
            <a:ext cx="274320" cy="0"/>
          </a:xfrm>
          <a:prstGeom prst="line">
            <a:avLst/>
          </a:prstGeom>
          <a:noFill/>
          <a:ln w="38100">
            <a:solidFill>
              <a:schemeClr val="accent1"/>
            </a:solidFill>
            <a:prstDash val="solid"/>
            <a:tailEnd type="triangle"/>
          </a:ln>
        </p:spPr>
        <p:txBody>
          <a:bodyPr/>
          <a:p/>
        </p:txBody>
      </p:sp>
      <p:sp>
        <p:nvSpPr>
          <p:cNvPr id="15" name="tarjeta-34"/>
          <p:cNvSpPr/>
          <p:nvPr/>
        </p:nvSpPr>
        <p:spPr>
          <a:xfrm>
            <a:off x="8046720" y="1645920"/>
            <a:ext cx="3383280" cy="2377440"/>
          </a:xfrm>
          <a:prstGeom prst="roundRect">
            <a:avLst>
              <a:gd name="adj" fmla="val 4615"/>
            </a:avLst>
          </a:prstGeom>
          <a:solidFill>
            <a:schemeClr val="bg2"/>
          </a:solidFill>
          <a:ln w="12700">
            <a:solidFill>
              <a:schemeClr val="bg2"/>
            </a:solidFill>
            <a:prstDash val="solid"/>
          </a:ln>
        </p:spPr>
        <p:txBody>
          <a:bodyPr/>
          <a:p/>
        </p:txBody>
      </p:sp>
      <p:sp>
        <p:nvSpPr>
          <p:cNvPr id="16" name="circulo-35"/>
          <p:cNvSpPr/>
          <p:nvPr/>
        </p:nvSpPr>
        <p:spPr>
          <a:xfrm>
            <a:off x="8321040" y="1920240"/>
            <a:ext cx="640080" cy="640080"/>
          </a:xfrm>
          <a:prstGeom prst="ellipse">
            <a:avLst/>
          </a:prstGeom>
          <a:solidFill>
            <a:schemeClr val="accent1"/>
          </a:solidFill>
          <a:ln w="12700">
            <a:solidFill>
              <a:schemeClr val="accent1"/>
            </a:solidFill>
            <a:prstDash val="solid"/>
          </a:ln>
        </p:spPr>
        <p:txBody>
          <a:bodyPr/>
          <a:p/>
        </p:txBody>
      </p:sp>
      <p:sp>
        <p:nvSpPr>
          <p:cNvPr id="17" name="num-36"/>
          <p:cNvSpPr txBox="1"/>
          <p:nvPr/>
        </p:nvSpPr>
        <p:spPr>
          <a:xfrm>
            <a:off x="8321040" y="1920240"/>
            <a:ext cx="640080" cy="640080"/>
          </a:xfrm>
          <a:prstGeom prst="rect">
            <a:avLst/>
          </a:prstGeom>
          <a:noFill/>
          <a:ln/>
        </p:spPr>
        <p:txBody>
          <a:bodyPr wrap="square" lIns="0" tIns="0" rIns="0" bIns="0" rtlCol="0" anchor="ctr"/>
          <a:lstStyle/>
          <a:p>
            <a:pPr marL="0" indent="0" algn="ctr">
              <a:buNone/>
            </a:pPr>
            <a:r>
              <a:rPr lang="en-US" sz="1600" b="1" dirty="0">
                <a:solidFill>
                  <a:schemeClr val="tx2"/>
                </a:solidFill>
              </a:rPr>
              <a:t>3</a:t>
            </a:r>
            <a:endParaRPr lang="en-US" sz="1600" dirty="0"/>
          </a:p>
        </p:txBody>
      </p:sp>
      <p:sp>
        <p:nvSpPr>
          <p:cNvPr id="18" name="texto-37"/>
          <p:cNvSpPr txBox="1"/>
          <p:nvPr/>
        </p:nvSpPr>
        <p:spPr>
          <a:xfrm>
            <a:off x="9144000" y="1965960"/>
            <a:ext cx="2194560" cy="640080"/>
          </a:xfrm>
          <a:prstGeom prst="rect">
            <a:avLst/>
          </a:prstGeom>
          <a:noFill/>
          <a:ln/>
        </p:spPr>
        <p:txBody>
          <a:bodyPr wrap="square" lIns="0" tIns="0" rIns="0" bIns="0" rtlCol="0" anchor="t"/>
          <a:lstStyle/>
          <a:p>
            <a:pPr marL="0" indent="0">
              <a:buNone/>
            </a:pPr>
            <a:r>
              <a:rPr lang="en-US" sz="2000" b="1" dirty="0">
                <a:solidFill>
                  <a:schemeClr val="tx2"/>
                </a:solidFill>
              </a:rPr>
              <a:t>Orden de trabajo</a:t>
            </a:r>
            <a:endParaRPr lang="en-US" sz="2000" dirty="0"/>
          </a:p>
        </p:txBody>
      </p:sp>
      <p:sp>
        <p:nvSpPr>
          <p:cNvPr id="19" name="texto-38"/>
          <p:cNvSpPr txBox="1"/>
          <p:nvPr/>
        </p:nvSpPr>
        <p:spPr>
          <a:xfrm>
            <a:off x="8321040" y="2834640"/>
            <a:ext cx="2834640" cy="1005840"/>
          </a:xfrm>
          <a:prstGeom prst="rect">
            <a:avLst/>
          </a:prstGeom>
          <a:noFill/>
          <a:ln/>
        </p:spPr>
        <p:txBody>
          <a:bodyPr wrap="square" lIns="0" tIns="0" rIns="0" bIns="0" rtlCol="0" anchor="t"/>
          <a:lstStyle/>
          <a:p>
            <a:pPr marL="0" indent="0">
              <a:buNone/>
            </a:pPr>
            <a:r>
              <a:rPr lang="en-US" sz="1500" dirty="0">
                <a:solidFill>
                  <a:schemeClr val="tx1"/>
                </a:solidFill>
              </a:rPr>
              <a:t>Número único garantizado; estados con historial</a:t>
            </a:r>
            <a:endParaRPr lang="en-US" sz="1500" dirty="0"/>
          </a:p>
        </p:txBody>
      </p:sp>
      <p:sp>
        <p:nvSpPr>
          <p:cNvPr id="20" name="texto-39"/>
          <p:cNvSpPr txBox="1"/>
          <p:nvPr/>
        </p:nvSpPr>
        <p:spPr>
          <a:xfrm>
            <a:off x="548640" y="4434840"/>
            <a:ext cx="3383280" cy="411480"/>
          </a:xfrm>
          <a:prstGeom prst="rect">
            <a:avLst/>
          </a:prstGeom>
          <a:noFill/>
          <a:ln/>
        </p:spPr>
        <p:txBody>
          <a:bodyPr wrap="square" lIns="0" tIns="0" rIns="0" bIns="0" rtlCol="0" anchor="t"/>
          <a:lstStyle/>
          <a:p>
            <a:pPr marL="0" indent="0">
              <a:buNone/>
            </a:pPr>
            <a:r>
              <a:rPr lang="en-US" sz="1800" b="1" dirty="0">
                <a:solidFill>
                  <a:schemeClr val="accent5"/>
                </a:solidFill>
              </a:rPr>
              <a:t>API REST</a:t>
            </a:r>
            <a:endParaRPr lang="en-US" sz="1800" dirty="0"/>
          </a:p>
        </p:txBody>
      </p:sp>
      <p:sp>
        <p:nvSpPr>
          <p:cNvPr id="21" name="texto-40"/>
          <p:cNvSpPr txBox="1"/>
          <p:nvPr/>
        </p:nvSpPr>
        <p:spPr>
          <a:xfrm>
            <a:off x="548640" y="4846320"/>
            <a:ext cx="3383280" cy="731520"/>
          </a:xfrm>
          <a:prstGeom prst="rect">
            <a:avLst/>
          </a:prstGeom>
          <a:noFill/>
          <a:ln/>
        </p:spPr>
        <p:txBody>
          <a:bodyPr wrap="square" lIns="0" tIns="0" rIns="0" bIns="0" rtlCol="0" anchor="t"/>
          <a:lstStyle/>
          <a:p>
            <a:pPr marL="0" indent="0">
              <a:buNone/>
            </a:pPr>
            <a:r>
              <a:rPr lang="en-US" sz="1500" dirty="0">
                <a:solidFill>
                  <a:schemeClr val="tx1"/>
                </a:solidFill>
              </a:rPr>
              <a:t>16 operaciones, JWT y OpenAPI</a:t>
            </a:r>
            <a:endParaRPr lang="en-US" sz="1500" dirty="0"/>
          </a:p>
        </p:txBody>
      </p:sp>
      <p:sp>
        <p:nvSpPr>
          <p:cNvPr id="22" name="texto-41"/>
          <p:cNvSpPr txBox="1"/>
          <p:nvPr/>
        </p:nvSpPr>
        <p:spPr>
          <a:xfrm>
            <a:off x="4297680" y="4434840"/>
            <a:ext cx="3383280" cy="411480"/>
          </a:xfrm>
          <a:prstGeom prst="rect">
            <a:avLst/>
          </a:prstGeom>
          <a:noFill/>
          <a:ln/>
        </p:spPr>
        <p:txBody>
          <a:bodyPr wrap="square" lIns="0" tIns="0" rIns="0" bIns="0" rtlCol="0" anchor="t"/>
          <a:lstStyle/>
          <a:p>
            <a:pPr marL="0" indent="0">
              <a:buNone/>
            </a:pPr>
            <a:r>
              <a:rPr lang="en-US" sz="1800" b="1" dirty="0">
                <a:solidFill>
                  <a:schemeClr val="accent5"/>
                </a:solidFill>
              </a:rPr>
              <a:t>Web</a:t>
            </a:r>
            <a:endParaRPr lang="en-US" sz="1800" dirty="0"/>
          </a:p>
        </p:txBody>
      </p:sp>
      <p:sp>
        <p:nvSpPr>
          <p:cNvPr id="23" name="texto-42"/>
          <p:cNvSpPr txBox="1"/>
          <p:nvPr/>
        </p:nvSpPr>
        <p:spPr>
          <a:xfrm>
            <a:off x="4297680" y="4846320"/>
            <a:ext cx="3383280" cy="731520"/>
          </a:xfrm>
          <a:prstGeom prst="rect">
            <a:avLst/>
          </a:prstGeom>
          <a:noFill/>
          <a:ln/>
        </p:spPr>
        <p:txBody>
          <a:bodyPr wrap="square" lIns="0" tIns="0" rIns="0" bIns="0" rtlCol="0" anchor="t"/>
          <a:lstStyle/>
          <a:p>
            <a:pPr marL="0" indent="0">
              <a:buNone/>
            </a:pPr>
            <a:r>
              <a:rPr lang="en-US" sz="1500" dirty="0">
                <a:solidFill>
                  <a:schemeClr val="tx1"/>
                </a:solidFill>
              </a:rPr>
              <a:t>Razor Pages para el planificador y el especialista</a:t>
            </a:r>
            <a:endParaRPr lang="en-US" sz="1500" dirty="0"/>
          </a:p>
        </p:txBody>
      </p:sp>
      <p:sp>
        <p:nvSpPr>
          <p:cNvPr id="24" name="texto-43"/>
          <p:cNvSpPr txBox="1"/>
          <p:nvPr/>
        </p:nvSpPr>
        <p:spPr>
          <a:xfrm>
            <a:off x="8046720" y="4434840"/>
            <a:ext cx="3383280" cy="411480"/>
          </a:xfrm>
          <a:prstGeom prst="rect">
            <a:avLst/>
          </a:prstGeom>
          <a:noFill/>
          <a:ln/>
        </p:spPr>
        <p:txBody>
          <a:bodyPr wrap="square" lIns="0" tIns="0" rIns="0" bIns="0" rtlCol="0" anchor="t"/>
          <a:lstStyle/>
          <a:p>
            <a:pPr marL="0" indent="0">
              <a:buNone/>
            </a:pPr>
            <a:r>
              <a:rPr lang="en-US" sz="1800" b="1" dirty="0">
                <a:solidFill>
                  <a:schemeClr val="accent5"/>
                </a:solidFill>
              </a:rPr>
              <a:t>Extras</a:t>
            </a:r>
            <a:endParaRPr lang="en-US" sz="1800" dirty="0"/>
          </a:p>
        </p:txBody>
      </p:sp>
      <p:sp>
        <p:nvSpPr>
          <p:cNvPr id="25" name="texto-44"/>
          <p:cNvSpPr txBox="1"/>
          <p:nvPr/>
        </p:nvSpPr>
        <p:spPr>
          <a:xfrm>
            <a:off x="8046720" y="4846320"/>
            <a:ext cx="3383280" cy="731520"/>
          </a:xfrm>
          <a:prstGeom prst="rect">
            <a:avLst/>
          </a:prstGeom>
          <a:noFill/>
          <a:ln/>
        </p:spPr>
        <p:txBody>
          <a:bodyPr wrap="square" lIns="0" tIns="0" rIns="0" bIns="0" rtlCol="0" anchor="t"/>
          <a:lstStyle/>
          <a:p>
            <a:pPr marL="0" indent="0">
              <a:buNone/>
            </a:pPr>
            <a:r>
              <a:rPr lang="en-US" sz="1500" dirty="0">
                <a:solidFill>
                  <a:schemeClr val="tx1"/>
                </a:solidFill>
              </a:rPr>
              <a:t>Planning mensual y exportación a Excel</a:t>
            </a:r>
            <a:endParaRPr lang="en-US" sz="1500" dirty="0"/>
          </a:p>
        </p:txBody>
      </p:sp>
      <p:sp>
        <p:nvSpPr>
          <p:cNvPr id="26"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r"/>
            <a:fld id="{F7021451-1387-4CA6-816F-3879F97B5CBC}" type="slidenum">
              <a:rPr lang="en-US" b="0"/>
              <a:t>3</a:t>
            </a:fld>
            <a:endParaRPr lang="en-US"/>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4415" cy="822960"/>
          </a:xfrm>
          <a:prstGeom prst="rect">
            <a:avLst/>
          </a:prstGeom>
          <a:noFill/>
          <a:ln/>
        </p:spPr>
        <p:txBody>
          <a:bodyPr wrap="square" lIns="0" tIns="0" rIns="0" bIns="0" rtlCol="0" anchor="ctr"/>
          <a:lstStyle/>
          <a:p>
            <a:pPr marL="0" indent="0">
              <a:buNone/>
            </a:pPr>
            <a:r>
              <a:rPr lang="en-US" sz="3400" b="1" dirty="0">
                <a:solidFill>
                  <a:schemeClr val="tx2"/>
                </a:solidFill>
                <a:latin typeface="Cambria" pitchFamily="34" charset="0"/>
                <a:ea typeface="Cambria" pitchFamily="34" charset="-122"/>
                <a:cs typeface="Cambria" pitchFamily="34" charset="-120"/>
              </a:rPr>
              <a:t>Especificaciones primero, código después</a:t>
            </a:r>
            <a:endParaRPr lang="en-US" sz="3400" dirty="0"/>
          </a:p>
        </p:txBody>
      </p:sp>
      <p:sp>
        <p:nvSpPr>
          <p:cNvPr id="3" name="texto-45"/>
          <p:cNvSpPr txBox="1"/>
          <p:nvPr/>
        </p:nvSpPr>
        <p:spPr>
          <a:xfrm>
            <a:off x="548640" y="1508760"/>
            <a:ext cx="2011680" cy="914400"/>
          </a:xfrm>
          <a:prstGeom prst="rect">
            <a:avLst/>
          </a:prstGeom>
          <a:noFill/>
          <a:ln/>
        </p:spPr>
        <p:txBody>
          <a:bodyPr wrap="square" lIns="0" tIns="0" rIns="0" bIns="0" rtlCol="0" anchor="t"/>
          <a:lstStyle/>
          <a:p>
            <a:pPr marL="0" indent="0">
              <a:buNone/>
            </a:pPr>
            <a:r>
              <a:rPr lang="en-US" sz="4800" b="1" dirty="0">
                <a:solidFill>
                  <a:schemeClr val="tx2"/>
                </a:solidFill>
                <a:latin typeface="Cambria" pitchFamily="34" charset="0"/>
                <a:ea typeface="Cambria" pitchFamily="34" charset="-122"/>
                <a:cs typeface="Cambria" pitchFamily="34" charset="-120"/>
              </a:rPr>
              <a:t>12</a:t>
            </a:r>
            <a:endParaRPr lang="en-US" sz="4800" dirty="0"/>
          </a:p>
        </p:txBody>
      </p:sp>
      <p:sp>
        <p:nvSpPr>
          <p:cNvPr id="4" name="texto-46"/>
          <p:cNvSpPr txBox="1"/>
          <p:nvPr/>
        </p:nvSpPr>
        <p:spPr>
          <a:xfrm>
            <a:off x="548640" y="2423160"/>
            <a:ext cx="2011680" cy="640080"/>
          </a:xfrm>
          <a:prstGeom prst="rect">
            <a:avLst/>
          </a:prstGeom>
          <a:noFill/>
          <a:ln/>
        </p:spPr>
        <p:txBody>
          <a:bodyPr wrap="square" lIns="0" tIns="0" rIns="0" bIns="0" rtlCol="0" anchor="t"/>
          <a:lstStyle/>
          <a:p>
            <a:pPr marL="0" indent="0">
              <a:buNone/>
            </a:pPr>
            <a:r>
              <a:rPr lang="en-US" sz="1400" dirty="0">
                <a:solidFill>
                  <a:schemeClr val="accent4"/>
                </a:solidFill>
              </a:rPr>
              <a:t>requisitos funcionales</a:t>
            </a:r>
            <a:endParaRPr lang="en-US" sz="1400" dirty="0"/>
          </a:p>
        </p:txBody>
      </p:sp>
      <p:sp>
        <p:nvSpPr>
          <p:cNvPr id="5" name="texto-47"/>
          <p:cNvSpPr txBox="1"/>
          <p:nvPr/>
        </p:nvSpPr>
        <p:spPr>
          <a:xfrm>
            <a:off x="2788920" y="1508760"/>
            <a:ext cx="2011680" cy="914400"/>
          </a:xfrm>
          <a:prstGeom prst="rect">
            <a:avLst/>
          </a:prstGeom>
          <a:noFill/>
          <a:ln/>
        </p:spPr>
        <p:txBody>
          <a:bodyPr wrap="square" lIns="0" tIns="0" rIns="0" bIns="0" rtlCol="0" anchor="t"/>
          <a:lstStyle/>
          <a:p>
            <a:pPr marL="0" indent="0">
              <a:buNone/>
            </a:pPr>
            <a:r>
              <a:rPr lang="en-US" sz="4800" b="1" dirty="0">
                <a:solidFill>
                  <a:schemeClr val="tx2"/>
                </a:solidFill>
                <a:latin typeface="Cambria" pitchFamily="34" charset="0"/>
                <a:ea typeface="Cambria" pitchFamily="34" charset="-122"/>
                <a:cs typeface="Cambria" pitchFamily="34" charset="-120"/>
              </a:rPr>
              <a:t>6</a:t>
            </a:r>
            <a:endParaRPr lang="en-US" sz="4800" dirty="0"/>
          </a:p>
        </p:txBody>
      </p:sp>
      <p:sp>
        <p:nvSpPr>
          <p:cNvPr id="6" name="texto-48"/>
          <p:cNvSpPr txBox="1"/>
          <p:nvPr/>
        </p:nvSpPr>
        <p:spPr>
          <a:xfrm>
            <a:off x="2788920" y="2423160"/>
            <a:ext cx="2011680" cy="640080"/>
          </a:xfrm>
          <a:prstGeom prst="rect">
            <a:avLst/>
          </a:prstGeom>
          <a:noFill/>
          <a:ln/>
        </p:spPr>
        <p:txBody>
          <a:bodyPr wrap="square" lIns="0" tIns="0" rIns="0" bIns="0" rtlCol="0" anchor="t"/>
          <a:lstStyle/>
          <a:p>
            <a:pPr marL="0" indent="0">
              <a:buNone/>
            </a:pPr>
            <a:r>
              <a:rPr lang="en-US" sz="1400" dirty="0">
                <a:solidFill>
                  <a:schemeClr val="accent4"/>
                </a:solidFill>
              </a:rPr>
              <a:t>no funcionales medibles</a:t>
            </a:r>
            <a:endParaRPr lang="en-US" sz="1400" dirty="0"/>
          </a:p>
        </p:txBody>
      </p:sp>
      <p:sp>
        <p:nvSpPr>
          <p:cNvPr id="7" name="texto-49"/>
          <p:cNvSpPr txBox="1"/>
          <p:nvPr/>
        </p:nvSpPr>
        <p:spPr>
          <a:xfrm>
            <a:off x="5029200" y="1508760"/>
            <a:ext cx="2011680" cy="914400"/>
          </a:xfrm>
          <a:prstGeom prst="rect">
            <a:avLst/>
          </a:prstGeom>
          <a:noFill/>
          <a:ln/>
        </p:spPr>
        <p:txBody>
          <a:bodyPr wrap="square" lIns="0" tIns="0" rIns="0" bIns="0" rtlCol="0" anchor="t"/>
          <a:lstStyle/>
          <a:p>
            <a:pPr marL="0" indent="0">
              <a:buNone/>
            </a:pPr>
            <a:r>
              <a:rPr lang="en-US" sz="4800" b="1" dirty="0">
                <a:solidFill>
                  <a:schemeClr val="tx2"/>
                </a:solidFill>
                <a:latin typeface="Cambria" pitchFamily="34" charset="0"/>
                <a:ea typeface="Cambria" pitchFamily="34" charset="-122"/>
                <a:cs typeface="Cambria" pitchFamily="34" charset="-120"/>
              </a:rPr>
              <a:t>12</a:t>
            </a:r>
            <a:endParaRPr lang="en-US" sz="4800" dirty="0"/>
          </a:p>
        </p:txBody>
      </p:sp>
      <p:sp>
        <p:nvSpPr>
          <p:cNvPr id="8" name="texto-50"/>
          <p:cNvSpPr txBox="1"/>
          <p:nvPr/>
        </p:nvSpPr>
        <p:spPr>
          <a:xfrm>
            <a:off x="5029200" y="2423160"/>
            <a:ext cx="2011680" cy="640080"/>
          </a:xfrm>
          <a:prstGeom prst="rect">
            <a:avLst/>
          </a:prstGeom>
          <a:noFill/>
          <a:ln/>
        </p:spPr>
        <p:txBody>
          <a:bodyPr wrap="square" lIns="0" tIns="0" rIns="0" bIns="0" rtlCol="0" anchor="t"/>
          <a:lstStyle/>
          <a:p>
            <a:pPr marL="0" indent="0">
              <a:buNone/>
            </a:pPr>
            <a:r>
              <a:rPr lang="en-US" sz="1400" dirty="0">
                <a:solidFill>
                  <a:schemeClr val="accent4"/>
                </a:solidFill>
              </a:rPr>
              <a:t>historias Dado/Cuando/Entonces</a:t>
            </a:r>
            <a:endParaRPr lang="en-US" sz="1400" dirty="0"/>
          </a:p>
        </p:txBody>
      </p:sp>
      <p:sp>
        <p:nvSpPr>
          <p:cNvPr id="9" name="texto-51"/>
          <p:cNvSpPr txBox="1"/>
          <p:nvPr/>
        </p:nvSpPr>
        <p:spPr>
          <a:xfrm>
            <a:off x="7269480" y="1508760"/>
            <a:ext cx="2011680" cy="914400"/>
          </a:xfrm>
          <a:prstGeom prst="rect">
            <a:avLst/>
          </a:prstGeom>
          <a:noFill/>
          <a:ln/>
        </p:spPr>
        <p:txBody>
          <a:bodyPr wrap="square" lIns="0" tIns="0" rIns="0" bIns="0" rtlCol="0" anchor="t"/>
          <a:lstStyle/>
          <a:p>
            <a:pPr marL="0" indent="0">
              <a:buNone/>
            </a:pPr>
            <a:r>
              <a:rPr lang="en-US" sz="4800" b="1" dirty="0">
                <a:solidFill>
                  <a:schemeClr val="tx2"/>
                </a:solidFill>
                <a:latin typeface="Cambria" pitchFamily="34" charset="0"/>
                <a:ea typeface="Cambria" pitchFamily="34" charset="-122"/>
                <a:cs typeface="Cambria" pitchFamily="34" charset="-120"/>
              </a:rPr>
              <a:t>9</a:t>
            </a:r>
            <a:endParaRPr lang="en-US" sz="4800" dirty="0"/>
          </a:p>
        </p:txBody>
      </p:sp>
      <p:sp>
        <p:nvSpPr>
          <p:cNvPr id="10" name="texto-52"/>
          <p:cNvSpPr txBox="1"/>
          <p:nvPr/>
        </p:nvSpPr>
        <p:spPr>
          <a:xfrm>
            <a:off x="7269480" y="2423160"/>
            <a:ext cx="2011680" cy="640080"/>
          </a:xfrm>
          <a:prstGeom prst="rect">
            <a:avLst/>
          </a:prstGeom>
          <a:noFill/>
          <a:ln/>
        </p:spPr>
        <p:txBody>
          <a:bodyPr wrap="square" lIns="0" tIns="0" rIns="0" bIns="0" rtlCol="0" anchor="t"/>
          <a:lstStyle/>
          <a:p>
            <a:pPr marL="0" indent="0">
              <a:buNone/>
            </a:pPr>
            <a:r>
              <a:rPr lang="en-US" sz="1400" dirty="0">
                <a:solidFill>
                  <a:schemeClr val="accent4"/>
                </a:solidFill>
              </a:rPr>
              <a:t>casos de uso</a:t>
            </a:r>
            <a:endParaRPr lang="en-US" sz="1400" dirty="0"/>
          </a:p>
        </p:txBody>
      </p:sp>
      <p:sp>
        <p:nvSpPr>
          <p:cNvPr id="11" name="texto-53"/>
          <p:cNvSpPr txBox="1"/>
          <p:nvPr/>
        </p:nvSpPr>
        <p:spPr>
          <a:xfrm>
            <a:off x="9509760" y="1508760"/>
            <a:ext cx="2011680" cy="914400"/>
          </a:xfrm>
          <a:prstGeom prst="rect">
            <a:avLst/>
          </a:prstGeom>
          <a:noFill/>
          <a:ln/>
        </p:spPr>
        <p:txBody>
          <a:bodyPr wrap="square" lIns="0" tIns="0" rIns="0" bIns="0" rtlCol="0" anchor="t"/>
          <a:lstStyle/>
          <a:p>
            <a:pPr marL="0" indent="0">
              <a:buNone/>
            </a:pPr>
            <a:r>
              <a:rPr lang="en-US" sz="4800" b="1" dirty="0">
                <a:solidFill>
                  <a:schemeClr val="tx2"/>
                </a:solidFill>
                <a:latin typeface="Cambria" pitchFamily="34" charset="0"/>
                <a:ea typeface="Cambria" pitchFamily="34" charset="-122"/>
                <a:cs typeface="Cambria" pitchFamily="34" charset="-120"/>
              </a:rPr>
              <a:t>35</a:t>
            </a:r>
            <a:endParaRPr lang="en-US" sz="4800" dirty="0"/>
          </a:p>
        </p:txBody>
      </p:sp>
      <p:sp>
        <p:nvSpPr>
          <p:cNvPr id="12" name="texto-54"/>
          <p:cNvSpPr txBox="1"/>
          <p:nvPr/>
        </p:nvSpPr>
        <p:spPr>
          <a:xfrm>
            <a:off x="9509760" y="2423160"/>
            <a:ext cx="2011680" cy="640080"/>
          </a:xfrm>
          <a:prstGeom prst="rect">
            <a:avLst/>
          </a:prstGeom>
          <a:noFill/>
          <a:ln/>
        </p:spPr>
        <p:txBody>
          <a:bodyPr wrap="square" lIns="0" tIns="0" rIns="0" bIns="0" rtlCol="0" anchor="t"/>
          <a:lstStyle/>
          <a:p>
            <a:pPr marL="0" indent="0">
              <a:buNone/>
            </a:pPr>
            <a:r>
              <a:rPr lang="en-US" sz="1400" dirty="0">
                <a:solidFill>
                  <a:schemeClr val="accent4"/>
                </a:solidFill>
              </a:rPr>
              <a:t>reglas RN-xx con su origen</a:t>
            </a:r>
            <a:endParaRPr lang="en-US" sz="1400" dirty="0"/>
          </a:p>
        </p:txBody>
      </p:sp>
      <p:sp>
        <p:nvSpPr>
          <p:cNvPr id="13" name="texto-55"/>
          <p:cNvSpPr txBox="1"/>
          <p:nvPr/>
        </p:nvSpPr>
        <p:spPr>
          <a:xfrm>
            <a:off x="548640" y="3429000"/>
            <a:ext cx="10972800" cy="411480"/>
          </a:xfrm>
          <a:prstGeom prst="rect">
            <a:avLst/>
          </a:prstGeom>
          <a:noFill/>
          <a:ln/>
        </p:spPr>
        <p:txBody>
          <a:bodyPr wrap="square" lIns="0" tIns="0" rIns="0" bIns="0" rtlCol="0" anchor="t"/>
          <a:lstStyle/>
          <a:p>
            <a:pPr marL="0" indent="0">
              <a:buNone/>
            </a:pPr>
            <a:r>
              <a:rPr lang="en-US" sz="1800" b="1" dirty="0">
                <a:solidFill>
                  <a:schemeClr val="tx2"/>
                </a:solidFill>
              </a:rPr>
              <a:t>Matriz de trazabilidad: cada requisito llega hasta su prueba</a:t>
            </a:r>
            <a:endParaRPr lang="en-US" sz="1800" dirty="0"/>
          </a:p>
        </p:txBody>
      </p:sp>
      <p:sp>
        <p:nvSpPr>
          <p:cNvPr id="14" name="eslabon-56"/>
          <p:cNvSpPr/>
          <p:nvPr/>
        </p:nvSpPr>
        <p:spPr>
          <a:xfrm>
            <a:off x="548640" y="4023360"/>
            <a:ext cx="1371600" cy="640080"/>
          </a:xfrm>
          <a:prstGeom prst="roundRect">
            <a:avLst>
              <a:gd name="adj" fmla="val 14286"/>
            </a:avLst>
          </a:prstGeom>
          <a:solidFill>
            <a:schemeClr val="tx2"/>
          </a:solidFill>
          <a:ln w="12700">
            <a:solidFill>
              <a:schemeClr val="tx2"/>
            </a:solidFill>
            <a:prstDash val="solid"/>
          </a:ln>
        </p:spPr>
        <p:txBody>
          <a:bodyPr/>
          <a:p/>
        </p:txBody>
      </p:sp>
      <p:sp>
        <p:nvSpPr>
          <p:cNvPr id="15" name="texto-57"/>
          <p:cNvSpPr txBox="1"/>
          <p:nvPr/>
        </p:nvSpPr>
        <p:spPr>
          <a:xfrm>
            <a:off x="548640" y="4023360"/>
            <a:ext cx="1371600" cy="640080"/>
          </a:xfrm>
          <a:prstGeom prst="rect">
            <a:avLst/>
          </a:prstGeom>
          <a:noFill/>
          <a:ln/>
        </p:spPr>
        <p:txBody>
          <a:bodyPr wrap="square" lIns="0" tIns="0" rIns="0" bIns="0" rtlCol="0" anchor="ctr"/>
          <a:lstStyle/>
          <a:p>
            <a:pPr marL="0" indent="0" algn="ctr">
              <a:buNone/>
            </a:pPr>
            <a:r>
              <a:rPr lang="en-US" sz="1400" b="1" dirty="0">
                <a:solidFill>
                  <a:schemeClr val="bg1"/>
                </a:solidFill>
              </a:rPr>
              <a:t>Requisito</a:t>
            </a:r>
            <a:endParaRPr lang="en-US" sz="1400" dirty="0"/>
          </a:p>
        </p:txBody>
      </p:sp>
      <p:sp>
        <p:nvSpPr>
          <p:cNvPr id="16" name="flecha-58"/>
          <p:cNvSpPr/>
          <p:nvPr/>
        </p:nvSpPr>
        <p:spPr>
          <a:xfrm>
            <a:off x="1938528" y="4343400"/>
            <a:ext cx="192024" cy="0"/>
          </a:xfrm>
          <a:prstGeom prst="line">
            <a:avLst/>
          </a:prstGeom>
          <a:noFill/>
          <a:ln w="25400">
            <a:solidFill>
              <a:schemeClr val="accent1"/>
            </a:solidFill>
            <a:prstDash val="solid"/>
            <a:tailEnd type="triangle"/>
          </a:ln>
        </p:spPr>
        <p:txBody>
          <a:bodyPr/>
          <a:p/>
        </p:txBody>
      </p:sp>
      <p:sp>
        <p:nvSpPr>
          <p:cNvPr id="17" name="eslabon-59"/>
          <p:cNvSpPr/>
          <p:nvPr/>
        </p:nvSpPr>
        <p:spPr>
          <a:xfrm>
            <a:off x="2148840" y="4023360"/>
            <a:ext cx="1371600" cy="640080"/>
          </a:xfrm>
          <a:prstGeom prst="roundRect">
            <a:avLst>
              <a:gd name="adj" fmla="val 14286"/>
            </a:avLst>
          </a:prstGeom>
          <a:solidFill>
            <a:schemeClr val="tx2"/>
          </a:solidFill>
          <a:ln w="12700">
            <a:solidFill>
              <a:schemeClr val="tx2"/>
            </a:solidFill>
            <a:prstDash val="solid"/>
          </a:ln>
        </p:spPr>
        <p:txBody>
          <a:bodyPr/>
          <a:p/>
        </p:txBody>
      </p:sp>
      <p:sp>
        <p:nvSpPr>
          <p:cNvPr id="18" name="texto-60"/>
          <p:cNvSpPr txBox="1"/>
          <p:nvPr/>
        </p:nvSpPr>
        <p:spPr>
          <a:xfrm>
            <a:off x="2148840" y="4023360"/>
            <a:ext cx="1371600" cy="640080"/>
          </a:xfrm>
          <a:prstGeom prst="rect">
            <a:avLst/>
          </a:prstGeom>
          <a:noFill/>
          <a:ln/>
        </p:spPr>
        <p:txBody>
          <a:bodyPr wrap="square" lIns="0" tIns="0" rIns="0" bIns="0" rtlCol="0" anchor="ctr"/>
          <a:lstStyle/>
          <a:p>
            <a:pPr marL="0" indent="0" algn="ctr">
              <a:buNone/>
            </a:pPr>
            <a:r>
              <a:rPr lang="en-US" sz="1400" b="1" dirty="0">
                <a:solidFill>
                  <a:schemeClr val="bg1"/>
                </a:solidFill>
              </a:rPr>
              <a:t>Historia</a:t>
            </a:r>
            <a:endParaRPr lang="en-US" sz="1400" dirty="0"/>
          </a:p>
        </p:txBody>
      </p:sp>
      <p:sp>
        <p:nvSpPr>
          <p:cNvPr id="19" name="flecha-61"/>
          <p:cNvSpPr/>
          <p:nvPr/>
        </p:nvSpPr>
        <p:spPr>
          <a:xfrm>
            <a:off x="3538728" y="4343400"/>
            <a:ext cx="192024" cy="0"/>
          </a:xfrm>
          <a:prstGeom prst="line">
            <a:avLst/>
          </a:prstGeom>
          <a:noFill/>
          <a:ln w="25400">
            <a:solidFill>
              <a:schemeClr val="accent1"/>
            </a:solidFill>
            <a:prstDash val="solid"/>
            <a:tailEnd type="triangle"/>
          </a:ln>
        </p:spPr>
        <p:txBody>
          <a:bodyPr/>
          <a:p/>
        </p:txBody>
      </p:sp>
      <p:sp>
        <p:nvSpPr>
          <p:cNvPr id="20" name="eslabon-62"/>
          <p:cNvSpPr/>
          <p:nvPr/>
        </p:nvSpPr>
        <p:spPr>
          <a:xfrm>
            <a:off x="3749040" y="4023360"/>
            <a:ext cx="1371600" cy="640080"/>
          </a:xfrm>
          <a:prstGeom prst="roundRect">
            <a:avLst>
              <a:gd name="adj" fmla="val 14286"/>
            </a:avLst>
          </a:prstGeom>
          <a:solidFill>
            <a:schemeClr val="tx2"/>
          </a:solidFill>
          <a:ln w="12700">
            <a:solidFill>
              <a:schemeClr val="tx2"/>
            </a:solidFill>
            <a:prstDash val="solid"/>
          </a:ln>
        </p:spPr>
        <p:txBody>
          <a:bodyPr/>
          <a:p/>
        </p:txBody>
      </p:sp>
      <p:sp>
        <p:nvSpPr>
          <p:cNvPr id="21" name="texto-63"/>
          <p:cNvSpPr txBox="1"/>
          <p:nvPr/>
        </p:nvSpPr>
        <p:spPr>
          <a:xfrm>
            <a:off x="3749040" y="4023360"/>
            <a:ext cx="1371600" cy="640080"/>
          </a:xfrm>
          <a:prstGeom prst="rect">
            <a:avLst/>
          </a:prstGeom>
          <a:noFill/>
          <a:ln/>
        </p:spPr>
        <p:txBody>
          <a:bodyPr wrap="square" lIns="0" tIns="0" rIns="0" bIns="0" rtlCol="0" anchor="ctr"/>
          <a:lstStyle/>
          <a:p>
            <a:pPr marL="0" indent="0" algn="ctr">
              <a:buNone/>
            </a:pPr>
            <a:r>
              <a:rPr lang="en-US" sz="1400" b="1" dirty="0">
                <a:solidFill>
                  <a:schemeClr val="bg1"/>
                </a:solidFill>
              </a:rPr>
              <a:t>Caso de uso</a:t>
            </a:r>
            <a:endParaRPr lang="en-US" sz="1400" dirty="0"/>
          </a:p>
        </p:txBody>
      </p:sp>
      <p:sp>
        <p:nvSpPr>
          <p:cNvPr id="22" name="flecha-64"/>
          <p:cNvSpPr/>
          <p:nvPr/>
        </p:nvSpPr>
        <p:spPr>
          <a:xfrm>
            <a:off x="5138928" y="4343400"/>
            <a:ext cx="192024" cy="0"/>
          </a:xfrm>
          <a:prstGeom prst="line">
            <a:avLst/>
          </a:prstGeom>
          <a:noFill/>
          <a:ln w="25400">
            <a:solidFill>
              <a:schemeClr val="accent1"/>
            </a:solidFill>
            <a:prstDash val="solid"/>
            <a:tailEnd type="triangle"/>
          </a:ln>
        </p:spPr>
        <p:txBody>
          <a:bodyPr/>
          <a:p/>
        </p:txBody>
      </p:sp>
      <p:sp>
        <p:nvSpPr>
          <p:cNvPr id="23" name="eslabon-65"/>
          <p:cNvSpPr/>
          <p:nvPr/>
        </p:nvSpPr>
        <p:spPr>
          <a:xfrm>
            <a:off x="5349240" y="4023360"/>
            <a:ext cx="1371600" cy="640080"/>
          </a:xfrm>
          <a:prstGeom prst="roundRect">
            <a:avLst>
              <a:gd name="adj" fmla="val 14286"/>
            </a:avLst>
          </a:prstGeom>
          <a:solidFill>
            <a:schemeClr val="tx2"/>
          </a:solidFill>
          <a:ln w="12700">
            <a:solidFill>
              <a:schemeClr val="tx2"/>
            </a:solidFill>
            <a:prstDash val="solid"/>
          </a:ln>
        </p:spPr>
        <p:txBody>
          <a:bodyPr/>
          <a:p/>
        </p:txBody>
      </p:sp>
      <p:sp>
        <p:nvSpPr>
          <p:cNvPr id="24" name="texto-66"/>
          <p:cNvSpPr txBox="1"/>
          <p:nvPr/>
        </p:nvSpPr>
        <p:spPr>
          <a:xfrm>
            <a:off x="5349240" y="4023360"/>
            <a:ext cx="1371600" cy="640080"/>
          </a:xfrm>
          <a:prstGeom prst="rect">
            <a:avLst/>
          </a:prstGeom>
          <a:noFill/>
          <a:ln/>
        </p:spPr>
        <p:txBody>
          <a:bodyPr wrap="square" lIns="0" tIns="0" rIns="0" bIns="0" rtlCol="0" anchor="ctr"/>
          <a:lstStyle/>
          <a:p>
            <a:pPr marL="0" indent="0" algn="ctr">
              <a:buNone/>
            </a:pPr>
            <a:r>
              <a:rPr lang="en-US" sz="1400" b="1" dirty="0">
                <a:solidFill>
                  <a:schemeClr val="bg1"/>
                </a:solidFill>
              </a:rPr>
              <a:t>Regla</a:t>
            </a:r>
            <a:endParaRPr lang="en-US" sz="1400" dirty="0"/>
          </a:p>
        </p:txBody>
      </p:sp>
      <p:sp>
        <p:nvSpPr>
          <p:cNvPr id="25" name="flecha-67"/>
          <p:cNvSpPr/>
          <p:nvPr/>
        </p:nvSpPr>
        <p:spPr>
          <a:xfrm>
            <a:off x="6739128" y="4343400"/>
            <a:ext cx="192024" cy="0"/>
          </a:xfrm>
          <a:prstGeom prst="line">
            <a:avLst/>
          </a:prstGeom>
          <a:noFill/>
          <a:ln w="25400">
            <a:solidFill>
              <a:schemeClr val="accent1"/>
            </a:solidFill>
            <a:prstDash val="solid"/>
            <a:tailEnd type="triangle"/>
          </a:ln>
        </p:spPr>
        <p:txBody>
          <a:bodyPr/>
          <a:p/>
        </p:txBody>
      </p:sp>
      <p:sp>
        <p:nvSpPr>
          <p:cNvPr id="26" name="eslabon-68"/>
          <p:cNvSpPr/>
          <p:nvPr/>
        </p:nvSpPr>
        <p:spPr>
          <a:xfrm>
            <a:off x="6949440" y="4023360"/>
            <a:ext cx="1371600" cy="640080"/>
          </a:xfrm>
          <a:prstGeom prst="roundRect">
            <a:avLst>
              <a:gd name="adj" fmla="val 14286"/>
            </a:avLst>
          </a:prstGeom>
          <a:solidFill>
            <a:schemeClr val="tx2"/>
          </a:solidFill>
          <a:ln w="12700">
            <a:solidFill>
              <a:schemeClr val="tx2"/>
            </a:solidFill>
            <a:prstDash val="solid"/>
          </a:ln>
        </p:spPr>
        <p:txBody>
          <a:bodyPr/>
          <a:p/>
        </p:txBody>
      </p:sp>
      <p:sp>
        <p:nvSpPr>
          <p:cNvPr id="27" name="texto-69"/>
          <p:cNvSpPr txBox="1"/>
          <p:nvPr/>
        </p:nvSpPr>
        <p:spPr>
          <a:xfrm>
            <a:off x="6949440" y="4023360"/>
            <a:ext cx="1371600" cy="640080"/>
          </a:xfrm>
          <a:prstGeom prst="rect">
            <a:avLst/>
          </a:prstGeom>
          <a:noFill/>
          <a:ln/>
        </p:spPr>
        <p:txBody>
          <a:bodyPr wrap="square" lIns="0" tIns="0" rIns="0" bIns="0" rtlCol="0" anchor="ctr"/>
          <a:lstStyle/>
          <a:p>
            <a:pPr marL="0" indent="0" algn="ctr">
              <a:buNone/>
            </a:pPr>
            <a:r>
              <a:rPr lang="en-US" sz="1400" b="1" dirty="0">
                <a:solidFill>
                  <a:schemeClr val="bg1"/>
                </a:solidFill>
              </a:rPr>
              <a:t>Endpoint</a:t>
            </a:r>
            <a:endParaRPr lang="en-US" sz="1400" dirty="0"/>
          </a:p>
        </p:txBody>
      </p:sp>
      <p:sp>
        <p:nvSpPr>
          <p:cNvPr id="28" name="flecha-70"/>
          <p:cNvSpPr/>
          <p:nvPr/>
        </p:nvSpPr>
        <p:spPr>
          <a:xfrm>
            <a:off x="8339328" y="4343400"/>
            <a:ext cx="192024" cy="0"/>
          </a:xfrm>
          <a:prstGeom prst="line">
            <a:avLst/>
          </a:prstGeom>
          <a:noFill/>
          <a:ln w="25400">
            <a:solidFill>
              <a:schemeClr val="accent1"/>
            </a:solidFill>
            <a:prstDash val="solid"/>
            <a:tailEnd type="triangle"/>
          </a:ln>
        </p:spPr>
        <p:txBody>
          <a:bodyPr/>
          <a:p/>
        </p:txBody>
      </p:sp>
      <p:sp>
        <p:nvSpPr>
          <p:cNvPr id="29" name="eslabon-71"/>
          <p:cNvSpPr/>
          <p:nvPr/>
        </p:nvSpPr>
        <p:spPr>
          <a:xfrm>
            <a:off x="8549640" y="4023360"/>
            <a:ext cx="1371600" cy="640080"/>
          </a:xfrm>
          <a:prstGeom prst="roundRect">
            <a:avLst>
              <a:gd name="adj" fmla="val 14286"/>
            </a:avLst>
          </a:prstGeom>
          <a:solidFill>
            <a:schemeClr val="tx2"/>
          </a:solidFill>
          <a:ln w="12700">
            <a:solidFill>
              <a:schemeClr val="tx2"/>
            </a:solidFill>
            <a:prstDash val="solid"/>
          </a:ln>
        </p:spPr>
        <p:txBody>
          <a:bodyPr/>
          <a:p/>
        </p:txBody>
      </p:sp>
      <p:sp>
        <p:nvSpPr>
          <p:cNvPr id="30" name="texto-72"/>
          <p:cNvSpPr txBox="1"/>
          <p:nvPr/>
        </p:nvSpPr>
        <p:spPr>
          <a:xfrm>
            <a:off x="8549640" y="4023360"/>
            <a:ext cx="1371600" cy="640080"/>
          </a:xfrm>
          <a:prstGeom prst="rect">
            <a:avLst/>
          </a:prstGeom>
          <a:noFill/>
          <a:ln/>
        </p:spPr>
        <p:txBody>
          <a:bodyPr wrap="square" lIns="0" tIns="0" rIns="0" bIns="0" rtlCol="0" anchor="ctr"/>
          <a:lstStyle/>
          <a:p>
            <a:pPr marL="0" indent="0" algn="ctr">
              <a:buNone/>
            </a:pPr>
            <a:r>
              <a:rPr lang="en-US" sz="1400" b="1" dirty="0">
                <a:solidFill>
                  <a:schemeClr val="bg1"/>
                </a:solidFill>
              </a:rPr>
              <a:t>Clase</a:t>
            </a:r>
            <a:endParaRPr lang="en-US" sz="1400" dirty="0"/>
          </a:p>
        </p:txBody>
      </p:sp>
      <p:sp>
        <p:nvSpPr>
          <p:cNvPr id="31" name="flecha-73"/>
          <p:cNvSpPr/>
          <p:nvPr/>
        </p:nvSpPr>
        <p:spPr>
          <a:xfrm>
            <a:off x="9939528" y="4343400"/>
            <a:ext cx="192024" cy="0"/>
          </a:xfrm>
          <a:prstGeom prst="line">
            <a:avLst/>
          </a:prstGeom>
          <a:noFill/>
          <a:ln w="25400">
            <a:solidFill>
              <a:schemeClr val="accent1"/>
            </a:solidFill>
            <a:prstDash val="solid"/>
            <a:tailEnd type="triangle"/>
          </a:ln>
        </p:spPr>
        <p:txBody>
          <a:bodyPr/>
          <a:p/>
        </p:txBody>
      </p:sp>
      <p:sp>
        <p:nvSpPr>
          <p:cNvPr id="32" name="eslabon-74"/>
          <p:cNvSpPr/>
          <p:nvPr/>
        </p:nvSpPr>
        <p:spPr>
          <a:xfrm>
            <a:off x="10149840" y="4023360"/>
            <a:ext cx="1371600" cy="640080"/>
          </a:xfrm>
          <a:prstGeom prst="roundRect">
            <a:avLst>
              <a:gd name="adj" fmla="val 14286"/>
            </a:avLst>
          </a:prstGeom>
          <a:solidFill>
            <a:schemeClr val="accent2"/>
          </a:solidFill>
          <a:ln w="12700">
            <a:solidFill>
              <a:schemeClr val="tx2"/>
            </a:solidFill>
            <a:prstDash val="solid"/>
          </a:ln>
        </p:spPr>
        <p:txBody>
          <a:bodyPr/>
          <a:p/>
        </p:txBody>
      </p:sp>
      <p:sp>
        <p:nvSpPr>
          <p:cNvPr id="33" name="texto-75"/>
          <p:cNvSpPr txBox="1"/>
          <p:nvPr/>
        </p:nvSpPr>
        <p:spPr>
          <a:xfrm>
            <a:off x="10149840" y="4023360"/>
            <a:ext cx="1371600" cy="640080"/>
          </a:xfrm>
          <a:prstGeom prst="rect">
            <a:avLst/>
          </a:prstGeom>
          <a:noFill/>
          <a:ln/>
        </p:spPr>
        <p:txBody>
          <a:bodyPr wrap="square" lIns="0" tIns="0" rIns="0" bIns="0" rtlCol="0" anchor="ctr"/>
          <a:lstStyle/>
          <a:p>
            <a:pPr marL="0" indent="0" algn="ctr">
              <a:buNone/>
            </a:pPr>
            <a:r>
              <a:rPr lang="en-US" sz="1400" b="1" dirty="0">
                <a:solidFill>
                  <a:schemeClr val="bg1"/>
                </a:solidFill>
              </a:rPr>
              <a:t>Prueba</a:t>
            </a:r>
            <a:endParaRPr lang="en-US" sz="1400" dirty="0"/>
          </a:p>
        </p:txBody>
      </p:sp>
      <p:sp>
        <p:nvSpPr>
          <p:cNvPr id="34" name="texto-76"/>
          <p:cNvSpPr txBox="1"/>
          <p:nvPr/>
        </p:nvSpPr>
        <p:spPr>
          <a:xfrm>
            <a:off x="548640" y="5029200"/>
            <a:ext cx="10972800" cy="548640"/>
          </a:xfrm>
          <a:prstGeom prst="rect">
            <a:avLst/>
          </a:prstGeom>
          <a:noFill/>
          <a:ln/>
        </p:spPr>
        <p:txBody>
          <a:bodyPr wrap="square" lIns="0" tIns="0" rIns="0" bIns="0" rtlCol="0" anchor="t"/>
          <a:lstStyle/>
          <a:p>
            <a:pPr marL="0" indent="0">
              <a:buNone/>
            </a:pPr>
            <a:r>
              <a:rPr lang="en-US" sz="1500" dirty="0">
                <a:solidFill>
                  <a:schemeClr val="tx1"/>
                </a:solidFill>
              </a:rPr>
              <a:t>Cada regla indica si se hereda del original, corrige un defecto, es nueva o está «a validar» con un usuario.</a:t>
            </a:r>
            <a:endParaRPr lang="en-US" sz="1500" dirty="0"/>
          </a:p>
        </p:txBody>
      </p:sp>
      <p:sp>
        <p:nvSpPr>
          <p:cNvPr id="3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r"/>
            <a:fld id="{F7021451-1387-4CA6-816F-3879F97B5CBC}" type="slidenum">
              <a:rPr lang="en-US" b="0"/>
              <a:t>4</a:t>
            </a:fld>
            <a:endParaRPr lang="en-US"/>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4415" cy="822960"/>
          </a:xfrm>
          <a:prstGeom prst="rect">
            <a:avLst/>
          </a:prstGeom>
          <a:noFill/>
          <a:ln/>
        </p:spPr>
        <p:txBody>
          <a:bodyPr wrap="square" lIns="0" tIns="0" rIns="0" bIns="0" rtlCol="0" anchor="ctr"/>
          <a:lstStyle/>
          <a:p>
            <a:pPr marL="0" indent="0">
              <a:buNone/>
            </a:pPr>
            <a:r>
              <a:rPr lang="en-US" sz="3400" b="1" dirty="0">
                <a:solidFill>
                  <a:schemeClr val="tx2"/>
                </a:solidFill>
                <a:latin typeface="Cambria" pitchFamily="34" charset="0"/>
                <a:ea typeface="Cambria" pitchFamily="34" charset="-122"/>
                <a:cs typeface="Cambria" pitchFamily="34" charset="-120"/>
              </a:rPr>
              <a:t>Una regla, de su origen a su prueba</a:t>
            </a:r>
            <a:endParaRPr lang="en-US" sz="3400" dirty="0"/>
          </a:p>
        </p:txBody>
      </p:sp>
      <p:sp>
        <p:nvSpPr>
          <p:cNvPr id="3" name="linea-77"/>
          <p:cNvSpPr/>
          <p:nvPr/>
        </p:nvSpPr>
        <p:spPr>
          <a:xfrm>
            <a:off x="868680" y="1828800"/>
            <a:ext cx="0" cy="3931920"/>
          </a:xfrm>
          <a:prstGeom prst="line">
            <a:avLst/>
          </a:prstGeom>
          <a:noFill/>
          <a:ln w="38100">
            <a:solidFill>
              <a:schemeClr val="accent6"/>
            </a:solidFill>
            <a:prstDash val="solid"/>
          </a:ln>
        </p:spPr>
        <p:txBody>
          <a:bodyPr/>
          <a:p/>
        </p:txBody>
      </p:sp>
      <p:sp>
        <p:nvSpPr>
          <p:cNvPr id="4" name="circulo-78"/>
          <p:cNvSpPr/>
          <p:nvPr/>
        </p:nvSpPr>
        <p:spPr>
          <a:xfrm>
            <a:off x="548640" y="1554480"/>
            <a:ext cx="640080" cy="640080"/>
          </a:xfrm>
          <a:prstGeom prst="ellipse">
            <a:avLst/>
          </a:prstGeom>
          <a:solidFill>
            <a:schemeClr val="accent1"/>
          </a:solidFill>
          <a:ln w="12700">
            <a:solidFill>
              <a:schemeClr val="accent1"/>
            </a:solidFill>
            <a:prstDash val="solid"/>
          </a:ln>
        </p:spPr>
        <p:txBody>
          <a:bodyPr/>
          <a:p/>
        </p:txBody>
      </p:sp>
      <p:sp>
        <p:nvSpPr>
          <p:cNvPr id="5" name="num-79"/>
          <p:cNvSpPr txBox="1"/>
          <p:nvPr/>
        </p:nvSpPr>
        <p:spPr>
          <a:xfrm>
            <a:off x="548640" y="1554480"/>
            <a:ext cx="640080" cy="640080"/>
          </a:xfrm>
          <a:prstGeom prst="rect">
            <a:avLst/>
          </a:prstGeom>
          <a:noFill/>
          <a:ln/>
        </p:spPr>
        <p:txBody>
          <a:bodyPr wrap="square" lIns="0" tIns="0" rIns="0" bIns="0" rtlCol="0" anchor="ctr"/>
          <a:lstStyle/>
          <a:p>
            <a:pPr marL="0" indent="0" algn="ctr">
              <a:buNone/>
            </a:pPr>
            <a:r>
              <a:rPr lang="en-US" sz="1500" b="1" dirty="0">
                <a:solidFill>
                  <a:schemeClr val="tx2"/>
                </a:solidFill>
              </a:rPr>
              <a:t>1</a:t>
            </a:r>
            <a:endParaRPr lang="en-US" sz="1500" dirty="0"/>
          </a:p>
        </p:txBody>
      </p:sp>
      <p:sp>
        <p:nvSpPr>
          <p:cNvPr id="6" name="texto-80"/>
          <p:cNvSpPr txBox="1"/>
          <p:nvPr/>
        </p:nvSpPr>
        <p:spPr>
          <a:xfrm>
            <a:off x="1463040" y="1627632"/>
            <a:ext cx="2377440" cy="502920"/>
          </a:xfrm>
          <a:prstGeom prst="rect">
            <a:avLst/>
          </a:prstGeom>
          <a:noFill/>
          <a:ln/>
        </p:spPr>
        <p:txBody>
          <a:bodyPr wrap="square" lIns="0" tIns="0" rIns="0" bIns="0" rtlCol="0" anchor="ctr"/>
          <a:lstStyle/>
          <a:p>
            <a:pPr marL="0" indent="0">
              <a:buNone/>
            </a:pPr>
            <a:r>
              <a:rPr lang="en-US" sz="1800" b="1" dirty="0">
                <a:solidFill>
                  <a:schemeClr val="tx2"/>
                </a:solidFill>
              </a:rPr>
              <a:t>Hallazgo</a:t>
            </a:r>
            <a:endParaRPr lang="en-US" sz="1800" dirty="0"/>
          </a:p>
        </p:txBody>
      </p:sp>
      <p:sp>
        <p:nvSpPr>
          <p:cNvPr id="7" name="texto-81"/>
          <p:cNvSpPr txBox="1"/>
          <p:nvPr/>
        </p:nvSpPr>
        <p:spPr>
          <a:xfrm>
            <a:off x="3840480" y="1627632"/>
            <a:ext cx="7680960" cy="502920"/>
          </a:xfrm>
          <a:prstGeom prst="rect">
            <a:avLst/>
          </a:prstGeom>
          <a:noFill/>
          <a:ln/>
        </p:spPr>
        <p:txBody>
          <a:bodyPr wrap="square" lIns="0" tIns="0" rIns="0" bIns="0" rtlCol="0" anchor="ctr"/>
          <a:lstStyle/>
          <a:p>
            <a:pPr marL="0" indent="0">
              <a:buNone/>
            </a:pPr>
            <a:r>
              <a:rPr lang="en-US" sz="1500" dirty="0">
                <a:solidFill>
                  <a:schemeClr val="tx1"/>
                </a:solidFill>
              </a:rPr>
              <a:t>El original toma el número de OT en cuatro pasos sin transacción</a:t>
            </a:r>
            <a:endParaRPr lang="en-US" sz="1500" dirty="0"/>
          </a:p>
        </p:txBody>
      </p:sp>
      <p:sp>
        <p:nvSpPr>
          <p:cNvPr id="8" name="circulo-82"/>
          <p:cNvSpPr/>
          <p:nvPr/>
        </p:nvSpPr>
        <p:spPr>
          <a:xfrm>
            <a:off x="548640" y="2395728"/>
            <a:ext cx="640080" cy="640080"/>
          </a:xfrm>
          <a:prstGeom prst="ellipse">
            <a:avLst/>
          </a:prstGeom>
          <a:solidFill>
            <a:schemeClr val="accent1"/>
          </a:solidFill>
          <a:ln w="12700">
            <a:solidFill>
              <a:schemeClr val="accent1"/>
            </a:solidFill>
            <a:prstDash val="solid"/>
          </a:ln>
        </p:spPr>
        <p:txBody>
          <a:bodyPr/>
          <a:p/>
        </p:txBody>
      </p:sp>
      <p:sp>
        <p:nvSpPr>
          <p:cNvPr id="9" name="num-83"/>
          <p:cNvSpPr txBox="1"/>
          <p:nvPr/>
        </p:nvSpPr>
        <p:spPr>
          <a:xfrm>
            <a:off x="548640" y="2395728"/>
            <a:ext cx="640080" cy="640080"/>
          </a:xfrm>
          <a:prstGeom prst="rect">
            <a:avLst/>
          </a:prstGeom>
          <a:noFill/>
          <a:ln/>
        </p:spPr>
        <p:txBody>
          <a:bodyPr wrap="square" lIns="0" tIns="0" rIns="0" bIns="0" rtlCol="0" anchor="ctr"/>
          <a:lstStyle/>
          <a:p>
            <a:pPr marL="0" indent="0" algn="ctr">
              <a:buNone/>
            </a:pPr>
            <a:r>
              <a:rPr lang="en-US" sz="1500" b="1" dirty="0">
                <a:solidFill>
                  <a:schemeClr val="tx2"/>
                </a:solidFill>
              </a:rPr>
              <a:t>2</a:t>
            </a:r>
            <a:endParaRPr lang="en-US" sz="1500" dirty="0"/>
          </a:p>
        </p:txBody>
      </p:sp>
      <p:sp>
        <p:nvSpPr>
          <p:cNvPr id="10" name="texto-84"/>
          <p:cNvSpPr txBox="1"/>
          <p:nvPr/>
        </p:nvSpPr>
        <p:spPr>
          <a:xfrm>
            <a:off x="1463040" y="2468880"/>
            <a:ext cx="2377440" cy="502920"/>
          </a:xfrm>
          <a:prstGeom prst="rect">
            <a:avLst/>
          </a:prstGeom>
          <a:noFill/>
          <a:ln/>
        </p:spPr>
        <p:txBody>
          <a:bodyPr wrap="square" lIns="0" tIns="0" rIns="0" bIns="0" rtlCol="0" anchor="ctr"/>
          <a:lstStyle/>
          <a:p>
            <a:pPr marL="0" indent="0">
              <a:buNone/>
            </a:pPr>
            <a:r>
              <a:rPr lang="en-US" sz="1800" b="1" dirty="0">
                <a:solidFill>
                  <a:schemeClr val="tx2"/>
                </a:solidFill>
              </a:rPr>
              <a:t>Regla RN-34</a:t>
            </a:r>
            <a:endParaRPr lang="en-US" sz="1800" dirty="0"/>
          </a:p>
        </p:txBody>
      </p:sp>
      <p:sp>
        <p:nvSpPr>
          <p:cNvPr id="11" name="texto-85"/>
          <p:cNvSpPr txBox="1"/>
          <p:nvPr/>
        </p:nvSpPr>
        <p:spPr>
          <a:xfrm>
            <a:off x="3840480" y="2468880"/>
            <a:ext cx="7680960" cy="502920"/>
          </a:xfrm>
          <a:prstGeom prst="rect">
            <a:avLst/>
          </a:prstGeom>
          <a:noFill/>
          <a:ln/>
        </p:spPr>
        <p:txBody>
          <a:bodyPr wrap="square" lIns="0" tIns="0" rIns="0" bIns="0" rtlCol="0" anchor="ctr"/>
          <a:lstStyle/>
          <a:p>
            <a:pPr marL="0" indent="0">
              <a:buNone/>
            </a:pPr>
            <a:r>
              <a:rPr lang="en-US" sz="1500" dirty="0">
                <a:solidFill>
                  <a:schemeClr val="tx1"/>
                </a:solidFill>
              </a:rPr>
              <a:t>20 solicitudes simultáneas reciben 20 números distintos y consecutivos</a:t>
            </a:r>
            <a:endParaRPr lang="en-US" sz="1500" dirty="0"/>
          </a:p>
        </p:txBody>
      </p:sp>
      <p:sp>
        <p:nvSpPr>
          <p:cNvPr id="12" name="circulo-86"/>
          <p:cNvSpPr/>
          <p:nvPr/>
        </p:nvSpPr>
        <p:spPr>
          <a:xfrm>
            <a:off x="548640" y="3236976"/>
            <a:ext cx="640080" cy="640080"/>
          </a:xfrm>
          <a:prstGeom prst="ellipse">
            <a:avLst/>
          </a:prstGeom>
          <a:solidFill>
            <a:schemeClr val="accent1"/>
          </a:solidFill>
          <a:ln w="12700">
            <a:solidFill>
              <a:schemeClr val="accent1"/>
            </a:solidFill>
            <a:prstDash val="solid"/>
          </a:ln>
        </p:spPr>
        <p:txBody>
          <a:bodyPr/>
          <a:p/>
        </p:txBody>
      </p:sp>
      <p:sp>
        <p:nvSpPr>
          <p:cNvPr id="13" name="num-87"/>
          <p:cNvSpPr txBox="1"/>
          <p:nvPr/>
        </p:nvSpPr>
        <p:spPr>
          <a:xfrm>
            <a:off x="548640" y="3236976"/>
            <a:ext cx="640080" cy="640080"/>
          </a:xfrm>
          <a:prstGeom prst="rect">
            <a:avLst/>
          </a:prstGeom>
          <a:noFill/>
          <a:ln/>
        </p:spPr>
        <p:txBody>
          <a:bodyPr wrap="square" lIns="0" tIns="0" rIns="0" bIns="0" rtlCol="0" anchor="ctr"/>
          <a:lstStyle/>
          <a:p>
            <a:pPr marL="0" indent="0" algn="ctr">
              <a:buNone/>
            </a:pPr>
            <a:r>
              <a:rPr lang="en-US" sz="1500" b="1" dirty="0">
                <a:solidFill>
                  <a:schemeClr val="tx2"/>
                </a:solidFill>
              </a:rPr>
              <a:t>3</a:t>
            </a:r>
            <a:endParaRPr lang="en-US" sz="1500" dirty="0"/>
          </a:p>
        </p:txBody>
      </p:sp>
      <p:sp>
        <p:nvSpPr>
          <p:cNvPr id="14" name="texto-88"/>
          <p:cNvSpPr txBox="1"/>
          <p:nvPr/>
        </p:nvSpPr>
        <p:spPr>
          <a:xfrm>
            <a:off x="1463040" y="3310128"/>
            <a:ext cx="2377440" cy="502920"/>
          </a:xfrm>
          <a:prstGeom prst="rect">
            <a:avLst/>
          </a:prstGeom>
          <a:noFill/>
          <a:ln/>
        </p:spPr>
        <p:txBody>
          <a:bodyPr wrap="square" lIns="0" tIns="0" rIns="0" bIns="0" rtlCol="0" anchor="ctr"/>
          <a:lstStyle/>
          <a:p>
            <a:pPr marL="0" indent="0">
              <a:buNone/>
            </a:pPr>
            <a:r>
              <a:rPr lang="en-US" sz="1800" b="1" dirty="0">
                <a:solidFill>
                  <a:schemeClr val="tx2"/>
                </a:solidFill>
              </a:rPr>
              <a:t>Diseño</a:t>
            </a:r>
            <a:endParaRPr lang="en-US" sz="1800" dirty="0"/>
          </a:p>
        </p:txBody>
      </p:sp>
      <p:sp>
        <p:nvSpPr>
          <p:cNvPr id="15" name="texto-89"/>
          <p:cNvSpPr txBox="1"/>
          <p:nvPr/>
        </p:nvSpPr>
        <p:spPr>
          <a:xfrm>
            <a:off x="3840480" y="3310128"/>
            <a:ext cx="7680960" cy="502920"/>
          </a:xfrm>
          <a:prstGeom prst="rect">
            <a:avLst/>
          </a:prstGeom>
          <a:noFill/>
          <a:ln/>
        </p:spPr>
        <p:txBody>
          <a:bodyPr wrap="square" lIns="0" tIns="0" rIns="0" bIns="0" rtlCol="0" anchor="ctr"/>
          <a:lstStyle/>
          <a:p>
            <a:pPr marL="0" indent="0">
              <a:buNone/>
            </a:pPr>
            <a:r>
              <a:rPr lang="en-US" sz="1500" dirty="0">
                <a:solidFill>
                  <a:schemeClr val="tx1"/>
                </a:solidFill>
              </a:rPr>
              <a:t>UPDATE … WITH (UPDLOCK) OUTPUT dentro de la transacción, más UNIQUE en la base</a:t>
            </a:r>
            <a:endParaRPr lang="en-US" sz="1500" dirty="0"/>
          </a:p>
        </p:txBody>
      </p:sp>
      <p:sp>
        <p:nvSpPr>
          <p:cNvPr id="16" name="circulo-90"/>
          <p:cNvSpPr/>
          <p:nvPr/>
        </p:nvSpPr>
        <p:spPr>
          <a:xfrm>
            <a:off x="548640" y="4078224"/>
            <a:ext cx="640080" cy="640080"/>
          </a:xfrm>
          <a:prstGeom prst="ellipse">
            <a:avLst/>
          </a:prstGeom>
          <a:solidFill>
            <a:schemeClr val="accent1"/>
          </a:solidFill>
          <a:ln w="12700">
            <a:solidFill>
              <a:schemeClr val="accent1"/>
            </a:solidFill>
            <a:prstDash val="solid"/>
          </a:ln>
        </p:spPr>
        <p:txBody>
          <a:bodyPr/>
          <a:p/>
        </p:txBody>
      </p:sp>
      <p:sp>
        <p:nvSpPr>
          <p:cNvPr id="17" name="num-91"/>
          <p:cNvSpPr txBox="1"/>
          <p:nvPr/>
        </p:nvSpPr>
        <p:spPr>
          <a:xfrm>
            <a:off x="548640" y="4078224"/>
            <a:ext cx="640080" cy="640080"/>
          </a:xfrm>
          <a:prstGeom prst="rect">
            <a:avLst/>
          </a:prstGeom>
          <a:noFill/>
          <a:ln/>
        </p:spPr>
        <p:txBody>
          <a:bodyPr wrap="square" lIns="0" tIns="0" rIns="0" bIns="0" rtlCol="0" anchor="ctr"/>
          <a:lstStyle/>
          <a:p>
            <a:pPr marL="0" indent="0" algn="ctr">
              <a:buNone/>
            </a:pPr>
            <a:r>
              <a:rPr lang="en-US" sz="1500" b="1" dirty="0">
                <a:solidFill>
                  <a:schemeClr val="tx2"/>
                </a:solidFill>
              </a:rPr>
              <a:t>4</a:t>
            </a:r>
            <a:endParaRPr lang="en-US" sz="1500" dirty="0"/>
          </a:p>
        </p:txBody>
      </p:sp>
      <p:sp>
        <p:nvSpPr>
          <p:cNvPr id="18" name="texto-92"/>
          <p:cNvSpPr txBox="1"/>
          <p:nvPr/>
        </p:nvSpPr>
        <p:spPr>
          <a:xfrm>
            <a:off x="1463040" y="4151376"/>
            <a:ext cx="2377440" cy="502920"/>
          </a:xfrm>
          <a:prstGeom prst="rect">
            <a:avLst/>
          </a:prstGeom>
          <a:noFill/>
          <a:ln/>
        </p:spPr>
        <p:txBody>
          <a:bodyPr wrap="square" lIns="0" tIns="0" rIns="0" bIns="0" rtlCol="0" anchor="ctr"/>
          <a:lstStyle/>
          <a:p>
            <a:pPr marL="0" indent="0">
              <a:buNone/>
            </a:pPr>
            <a:r>
              <a:rPr lang="en-US" sz="1800" b="1" dirty="0">
                <a:solidFill>
                  <a:schemeClr val="tx2"/>
                </a:solidFill>
              </a:rPr>
              <a:t>Prueba</a:t>
            </a:r>
            <a:endParaRPr lang="en-US" sz="1800" dirty="0"/>
          </a:p>
        </p:txBody>
      </p:sp>
      <p:sp>
        <p:nvSpPr>
          <p:cNvPr id="19" name="texto-93"/>
          <p:cNvSpPr txBox="1"/>
          <p:nvPr/>
        </p:nvSpPr>
        <p:spPr>
          <a:xfrm>
            <a:off x="3840480" y="4151376"/>
            <a:ext cx="7680960" cy="502920"/>
          </a:xfrm>
          <a:prstGeom prst="rect">
            <a:avLst/>
          </a:prstGeom>
          <a:noFill/>
          <a:ln/>
        </p:spPr>
        <p:txBody>
          <a:bodyPr wrap="square" lIns="0" tIns="0" rIns="0" bIns="0" rtlCol="0" anchor="ctr"/>
          <a:lstStyle/>
          <a:p>
            <a:pPr marL="0" indent="0">
              <a:buNone/>
            </a:pPr>
            <a:r>
              <a:rPr lang="en-US" sz="1500" dirty="0">
                <a:solidFill>
                  <a:schemeClr val="tx1"/>
                </a:solidFill>
              </a:rPr>
              <a:t>20 clientes en paralelo, sincronizados con una barrera</a:t>
            </a:r>
            <a:endParaRPr lang="en-US" sz="1500" dirty="0"/>
          </a:p>
        </p:txBody>
      </p:sp>
      <p:sp>
        <p:nvSpPr>
          <p:cNvPr id="20" name="circulo-94"/>
          <p:cNvSpPr/>
          <p:nvPr/>
        </p:nvSpPr>
        <p:spPr>
          <a:xfrm>
            <a:off x="548640" y="4919472"/>
            <a:ext cx="640080" cy="640080"/>
          </a:xfrm>
          <a:prstGeom prst="ellipse">
            <a:avLst/>
          </a:prstGeom>
          <a:solidFill>
            <a:schemeClr val="accent2"/>
          </a:solidFill>
          <a:ln w="12700">
            <a:solidFill>
              <a:schemeClr val="accent2"/>
            </a:solidFill>
            <a:prstDash val="solid"/>
          </a:ln>
        </p:spPr>
        <p:txBody>
          <a:bodyPr/>
          <a:p/>
        </p:txBody>
      </p:sp>
      <p:sp>
        <p:nvSpPr>
          <p:cNvPr id="21" name="num-95"/>
          <p:cNvSpPr txBox="1"/>
          <p:nvPr/>
        </p:nvSpPr>
        <p:spPr>
          <a:xfrm>
            <a:off x="548640" y="4919472"/>
            <a:ext cx="640080" cy="640080"/>
          </a:xfrm>
          <a:prstGeom prst="rect">
            <a:avLst/>
          </a:prstGeom>
          <a:noFill/>
          <a:ln/>
        </p:spPr>
        <p:txBody>
          <a:bodyPr wrap="square" lIns="0" tIns="0" rIns="0" bIns="0" rtlCol="0" anchor="ctr"/>
          <a:lstStyle/>
          <a:p>
            <a:pPr marL="0" indent="0" algn="ctr">
              <a:buNone/>
            </a:pPr>
            <a:r>
              <a:rPr lang="en-US" sz="1500" b="1" dirty="0">
                <a:solidFill>
                  <a:schemeClr val="bg1"/>
                </a:solidFill>
              </a:rPr>
              <a:t>5</a:t>
            </a:r>
            <a:endParaRPr lang="en-US" sz="1500" dirty="0"/>
          </a:p>
        </p:txBody>
      </p:sp>
      <p:sp>
        <p:nvSpPr>
          <p:cNvPr id="22" name="texto-96"/>
          <p:cNvSpPr txBox="1"/>
          <p:nvPr/>
        </p:nvSpPr>
        <p:spPr>
          <a:xfrm>
            <a:off x="1463040" y="4992624"/>
            <a:ext cx="2377440" cy="502920"/>
          </a:xfrm>
          <a:prstGeom prst="rect">
            <a:avLst/>
          </a:prstGeom>
          <a:noFill/>
          <a:ln/>
        </p:spPr>
        <p:txBody>
          <a:bodyPr wrap="square" lIns="0" tIns="0" rIns="0" bIns="0" rtlCol="0" anchor="ctr"/>
          <a:lstStyle/>
          <a:p>
            <a:pPr marL="0" indent="0">
              <a:buNone/>
            </a:pPr>
            <a:r>
              <a:rPr lang="en-US" sz="1800" b="1" dirty="0">
                <a:solidFill>
                  <a:schemeClr val="tx2"/>
                </a:solidFill>
              </a:rPr>
              <a:t>Resultado</a:t>
            </a:r>
            <a:endParaRPr lang="en-US" sz="1800" dirty="0"/>
          </a:p>
        </p:txBody>
      </p:sp>
      <p:sp>
        <p:nvSpPr>
          <p:cNvPr id="23" name="texto-97"/>
          <p:cNvSpPr txBox="1"/>
          <p:nvPr/>
        </p:nvSpPr>
        <p:spPr>
          <a:xfrm>
            <a:off x="3840480" y="4992624"/>
            <a:ext cx="7680960" cy="502920"/>
          </a:xfrm>
          <a:prstGeom prst="rect">
            <a:avLst/>
          </a:prstGeom>
          <a:noFill/>
          <a:ln/>
        </p:spPr>
        <p:txBody>
          <a:bodyPr wrap="square" lIns="0" tIns="0" rIns="0" bIns="0" rtlCol="0" anchor="ctr"/>
          <a:lstStyle/>
          <a:p>
            <a:pPr marL="0" indent="0">
              <a:buNone/>
            </a:pPr>
            <a:r>
              <a:rPr lang="en-US" sz="1500" dirty="0">
                <a:solidFill>
                  <a:schemeClr val="tx1"/>
                </a:solidFill>
              </a:rPr>
              <a:t>20 de 20 distintos; con la versión del original, 19 de 20 fallan</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r"/>
            <a:fld id="{F7021451-1387-4CA6-816F-3879F97B5CBC}" type="slidenum">
              <a:rPr lang="en-US" b="0"/>
              <a:t>5</a:t>
            </a:fld>
            <a:endParaRPr lang="en-US"/>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4415" cy="978408"/>
          </a:xfrm>
          <a:prstGeom prst="rect">
            <a:avLst/>
          </a:prstGeom>
          <a:noFill/>
          <a:ln/>
        </p:spPr>
        <p:txBody>
          <a:bodyPr wrap="square" lIns="0" tIns="0" rIns="0" bIns="0" rtlCol="0" anchor="ctr"/>
          <a:lstStyle/>
          <a:p>
            <a:pPr marL="0" indent="0">
              <a:buNone/>
            </a:pPr>
            <a:r>
              <a:rPr lang="en-US" sz="3400" b="1" dirty="0" err="1" smtClean="0">
                <a:solidFill>
                  <a:schemeClr val="tx2"/>
                </a:solidFill>
                <a:latin typeface="Cambria" pitchFamily="34" charset="0"/>
                <a:ea typeface="Cambria" pitchFamily="34" charset="-122"/>
                <a:cs typeface="Cambria" pitchFamily="34" charset="-120"/>
              </a:rPr>
              <a:t>Arquitectura</a:t>
            </a:r>
            <a:r>
              <a:rPr lang="en-US" sz="3400" b="1" dirty="0" smtClean="0">
                <a:solidFill>
                  <a:schemeClr val="tx2"/>
                </a:solidFill>
                <a:latin typeface="Cambria" pitchFamily="34" charset="0"/>
                <a:ea typeface="Cambria" pitchFamily="34" charset="-122"/>
                <a:cs typeface="Cambria" pitchFamily="34" charset="-120"/>
              </a:rPr>
              <a:t/>
            </a:r>
            <a:br>
              <a:rPr lang="en-US" sz="3400" b="1" dirty="0" smtClean="0">
                <a:solidFill>
                  <a:schemeClr val="tx2"/>
                </a:solidFill>
                <a:latin typeface="Cambria" pitchFamily="34" charset="0"/>
                <a:ea typeface="Cambria" pitchFamily="34" charset="-122"/>
                <a:cs typeface="Cambria" pitchFamily="34" charset="-120"/>
              </a:rPr>
            </a:br>
            <a:r>
              <a:rPr lang="en-US" sz="3400" b="1" dirty="0" smtClean="0">
                <a:solidFill>
                  <a:schemeClr val="tx2"/>
                </a:solidFill>
                <a:latin typeface="Cambria" pitchFamily="34" charset="0"/>
                <a:ea typeface="Cambria" pitchFamily="34" charset="-122"/>
                <a:cs typeface="Cambria" pitchFamily="34" charset="-120"/>
              </a:rPr>
              <a:t>Clean </a:t>
            </a:r>
            <a:r>
              <a:rPr lang="en-US" sz="3400" b="1" dirty="0">
                <a:solidFill>
                  <a:schemeClr val="tx2"/>
                </a:solidFill>
                <a:latin typeface="Cambria" pitchFamily="34" charset="0"/>
                <a:ea typeface="Cambria" pitchFamily="34" charset="-122"/>
                <a:cs typeface="Cambria" pitchFamily="34" charset="-120"/>
              </a:rPr>
              <a:t>Architecture: las reglas no dependen de nada</a:t>
            </a:r>
            <a:endParaRPr lang="en-US" sz="3400" dirty="0"/>
          </a:p>
        </p:txBody>
      </p:sp>
      <p:sp>
        <p:nvSpPr>
          <p:cNvPr id="3" name="capa-98"/>
          <p:cNvSpPr/>
          <p:nvPr/>
        </p:nvSpPr>
        <p:spPr>
          <a:xfrm>
            <a:off x="548640" y="1508760"/>
            <a:ext cx="5669280" cy="960120"/>
          </a:xfrm>
          <a:prstGeom prst="roundRect">
            <a:avLst>
              <a:gd name="adj" fmla="val 9524"/>
            </a:avLst>
          </a:prstGeom>
          <a:solidFill>
            <a:schemeClr val="accent5"/>
          </a:solidFill>
          <a:ln w="12700">
            <a:solidFill>
              <a:schemeClr val="accent5"/>
            </a:solidFill>
            <a:prstDash val="solid"/>
          </a:ln>
        </p:spPr>
        <p:txBody>
          <a:bodyPr/>
          <a:p/>
        </p:txBody>
      </p:sp>
      <p:sp>
        <p:nvSpPr>
          <p:cNvPr id="4" name="texto-99"/>
          <p:cNvSpPr txBox="1"/>
          <p:nvPr/>
        </p:nvSpPr>
        <p:spPr>
          <a:xfrm>
            <a:off x="822960" y="1618488"/>
            <a:ext cx="2011680" cy="731520"/>
          </a:xfrm>
          <a:prstGeom prst="rect">
            <a:avLst/>
          </a:prstGeom>
          <a:noFill/>
          <a:ln/>
        </p:spPr>
        <p:txBody>
          <a:bodyPr wrap="square" lIns="0" tIns="0" rIns="0" bIns="0" rtlCol="0" anchor="ctr"/>
          <a:lstStyle/>
          <a:p>
            <a:pPr marL="0" indent="0">
              <a:buNone/>
            </a:pPr>
            <a:r>
              <a:rPr lang="en-US" sz="2000" b="1" dirty="0">
                <a:solidFill>
                  <a:schemeClr val="bg1"/>
                </a:solidFill>
              </a:rPr>
              <a:t>Api</a:t>
            </a:r>
            <a:endParaRPr lang="en-US" sz="2000" dirty="0"/>
          </a:p>
        </p:txBody>
      </p:sp>
      <p:sp>
        <p:nvSpPr>
          <p:cNvPr id="5" name="texto-100"/>
          <p:cNvSpPr txBox="1"/>
          <p:nvPr/>
        </p:nvSpPr>
        <p:spPr>
          <a:xfrm>
            <a:off x="2743200" y="1618488"/>
            <a:ext cx="3383280" cy="731520"/>
          </a:xfrm>
          <a:prstGeom prst="rect">
            <a:avLst/>
          </a:prstGeom>
          <a:noFill/>
          <a:ln/>
        </p:spPr>
        <p:txBody>
          <a:bodyPr wrap="square" lIns="0" tIns="0" rIns="0" bIns="0" rtlCol="0" anchor="ctr"/>
          <a:lstStyle/>
          <a:p>
            <a:pPr marL="0" indent="0">
              <a:buNone/>
            </a:pPr>
            <a:r>
              <a:rPr lang="en-US" sz="1400" dirty="0">
                <a:solidFill>
                  <a:schemeClr val="bg1"/>
                </a:solidFill>
              </a:rPr>
              <a:t>Controladores, JWT, ProblemDetails, Swagger</a:t>
            </a:r>
            <a:endParaRPr lang="en-US" sz="1400" dirty="0"/>
          </a:p>
        </p:txBody>
      </p:sp>
      <p:sp>
        <p:nvSpPr>
          <p:cNvPr id="6" name="capa-101"/>
          <p:cNvSpPr/>
          <p:nvPr/>
        </p:nvSpPr>
        <p:spPr>
          <a:xfrm>
            <a:off x="548640" y="2651760"/>
            <a:ext cx="5669280" cy="960120"/>
          </a:xfrm>
          <a:prstGeom prst="roundRect">
            <a:avLst>
              <a:gd name="adj" fmla="val 9524"/>
            </a:avLst>
          </a:prstGeom>
          <a:solidFill>
            <a:schemeClr val="accent4"/>
          </a:solidFill>
          <a:ln w="12700">
            <a:solidFill>
              <a:schemeClr val="accent4"/>
            </a:solidFill>
            <a:prstDash val="solid"/>
          </a:ln>
        </p:spPr>
        <p:txBody>
          <a:bodyPr/>
          <a:p/>
        </p:txBody>
      </p:sp>
      <p:sp>
        <p:nvSpPr>
          <p:cNvPr id="7" name="texto-102"/>
          <p:cNvSpPr txBox="1"/>
          <p:nvPr/>
        </p:nvSpPr>
        <p:spPr>
          <a:xfrm>
            <a:off x="822960" y="2761488"/>
            <a:ext cx="2011680" cy="731520"/>
          </a:xfrm>
          <a:prstGeom prst="rect">
            <a:avLst/>
          </a:prstGeom>
          <a:noFill/>
          <a:ln/>
        </p:spPr>
        <p:txBody>
          <a:bodyPr wrap="square" lIns="0" tIns="0" rIns="0" bIns="0" rtlCol="0" anchor="ctr"/>
          <a:lstStyle/>
          <a:p>
            <a:pPr marL="0" indent="0">
              <a:buNone/>
            </a:pPr>
            <a:r>
              <a:rPr lang="en-US" sz="2000" b="1" dirty="0">
                <a:solidFill>
                  <a:schemeClr val="bg1"/>
                </a:solidFill>
              </a:rPr>
              <a:t>Application</a:t>
            </a:r>
            <a:endParaRPr lang="en-US" sz="2000" dirty="0"/>
          </a:p>
        </p:txBody>
      </p:sp>
      <p:sp>
        <p:nvSpPr>
          <p:cNvPr id="8" name="texto-103"/>
          <p:cNvSpPr txBox="1"/>
          <p:nvPr/>
        </p:nvSpPr>
        <p:spPr>
          <a:xfrm>
            <a:off x="2743200" y="2761488"/>
            <a:ext cx="3383280" cy="731520"/>
          </a:xfrm>
          <a:prstGeom prst="rect">
            <a:avLst/>
          </a:prstGeom>
          <a:noFill/>
          <a:ln/>
        </p:spPr>
        <p:txBody>
          <a:bodyPr wrap="square" lIns="0" tIns="0" rIns="0" bIns="0" rtlCol="0" anchor="ctr"/>
          <a:lstStyle/>
          <a:p>
            <a:pPr marL="0" indent="0">
              <a:buNone/>
            </a:pPr>
            <a:r>
              <a:rPr lang="en-US" sz="1400" dirty="0">
                <a:solidFill>
                  <a:schemeClr val="bg1"/>
                </a:solidFill>
              </a:rPr>
              <a:t>Casos de uso, validadores, puertos</a:t>
            </a:r>
            <a:endParaRPr lang="en-US" sz="1400" dirty="0"/>
          </a:p>
        </p:txBody>
      </p:sp>
      <p:sp>
        <p:nvSpPr>
          <p:cNvPr id="9" name="capa-104"/>
          <p:cNvSpPr/>
          <p:nvPr/>
        </p:nvSpPr>
        <p:spPr>
          <a:xfrm>
            <a:off x="548640" y="3794760"/>
            <a:ext cx="5669280" cy="960120"/>
          </a:xfrm>
          <a:prstGeom prst="roundRect">
            <a:avLst>
              <a:gd name="adj" fmla="val 9524"/>
            </a:avLst>
          </a:prstGeom>
          <a:solidFill>
            <a:schemeClr val="tx2"/>
          </a:solidFill>
          <a:ln w="12700">
            <a:solidFill>
              <a:schemeClr val="tx2"/>
            </a:solidFill>
            <a:prstDash val="solid"/>
          </a:ln>
        </p:spPr>
        <p:txBody>
          <a:bodyPr/>
          <a:p/>
        </p:txBody>
      </p:sp>
      <p:sp>
        <p:nvSpPr>
          <p:cNvPr id="10" name="texto-105"/>
          <p:cNvSpPr txBox="1"/>
          <p:nvPr/>
        </p:nvSpPr>
        <p:spPr>
          <a:xfrm>
            <a:off x="822960" y="3904488"/>
            <a:ext cx="2011680" cy="731520"/>
          </a:xfrm>
          <a:prstGeom prst="rect">
            <a:avLst/>
          </a:prstGeom>
          <a:noFill/>
          <a:ln/>
        </p:spPr>
        <p:txBody>
          <a:bodyPr wrap="square" lIns="0" tIns="0" rIns="0" bIns="0" rtlCol="0" anchor="ctr"/>
          <a:lstStyle/>
          <a:p>
            <a:pPr marL="0" indent="0">
              <a:buNone/>
            </a:pPr>
            <a:r>
              <a:rPr lang="en-US" sz="2000" b="1" dirty="0">
                <a:solidFill>
                  <a:schemeClr val="bg1"/>
                </a:solidFill>
              </a:rPr>
              <a:t>Domain</a:t>
            </a:r>
            <a:endParaRPr lang="en-US" sz="2000" dirty="0"/>
          </a:p>
        </p:txBody>
      </p:sp>
      <p:sp>
        <p:nvSpPr>
          <p:cNvPr id="11" name="texto-106"/>
          <p:cNvSpPr txBox="1"/>
          <p:nvPr/>
        </p:nvSpPr>
        <p:spPr>
          <a:xfrm>
            <a:off x="2743200" y="3904488"/>
            <a:ext cx="3383280" cy="731520"/>
          </a:xfrm>
          <a:prstGeom prst="rect">
            <a:avLst/>
          </a:prstGeom>
          <a:noFill/>
          <a:ln/>
        </p:spPr>
        <p:txBody>
          <a:bodyPr wrap="square" lIns="0" tIns="0" rIns="0" bIns="0" rtlCol="0" anchor="ctr"/>
          <a:lstStyle/>
          <a:p>
            <a:pPr marL="0" indent="0">
              <a:buNone/>
            </a:pPr>
            <a:r>
              <a:rPr lang="en-US" sz="1400" dirty="0">
                <a:solidFill>
                  <a:schemeClr val="bg1"/>
                </a:solidFill>
              </a:rPr>
              <a:t>Entidades y reglas de negocio</a:t>
            </a:r>
            <a:endParaRPr lang="en-US" sz="1400" dirty="0"/>
          </a:p>
        </p:txBody>
      </p:sp>
      <p:sp>
        <p:nvSpPr>
          <p:cNvPr id="12" name="capa-107"/>
          <p:cNvSpPr/>
          <p:nvPr/>
        </p:nvSpPr>
        <p:spPr>
          <a:xfrm>
            <a:off x="548640" y="4937760"/>
            <a:ext cx="5669280" cy="960120"/>
          </a:xfrm>
          <a:prstGeom prst="roundRect">
            <a:avLst>
              <a:gd name="adj" fmla="val 9524"/>
            </a:avLst>
          </a:prstGeom>
          <a:solidFill>
            <a:schemeClr val="bg2"/>
          </a:solidFill>
          <a:ln w="12700">
            <a:solidFill>
              <a:schemeClr val="accent6"/>
            </a:solidFill>
            <a:prstDash val="solid"/>
          </a:ln>
        </p:spPr>
        <p:txBody>
          <a:bodyPr/>
          <a:p/>
        </p:txBody>
      </p:sp>
      <p:sp>
        <p:nvSpPr>
          <p:cNvPr id="13" name="texto-108"/>
          <p:cNvSpPr txBox="1"/>
          <p:nvPr/>
        </p:nvSpPr>
        <p:spPr>
          <a:xfrm>
            <a:off x="822960" y="5047488"/>
            <a:ext cx="2011680" cy="731520"/>
          </a:xfrm>
          <a:prstGeom prst="rect">
            <a:avLst/>
          </a:prstGeom>
          <a:noFill/>
          <a:ln/>
        </p:spPr>
        <p:txBody>
          <a:bodyPr wrap="square" lIns="0" tIns="0" rIns="0" bIns="0" rtlCol="0" anchor="ctr"/>
          <a:lstStyle/>
          <a:p>
            <a:pPr marL="0" indent="0">
              <a:buNone/>
            </a:pPr>
            <a:r>
              <a:rPr lang="en-US" sz="2000" b="1" dirty="0">
                <a:solidFill>
                  <a:schemeClr val="tx2"/>
                </a:solidFill>
              </a:rPr>
              <a:t>Infrastructure</a:t>
            </a:r>
            <a:endParaRPr lang="en-US" sz="2000" dirty="0"/>
          </a:p>
        </p:txBody>
      </p:sp>
      <p:sp>
        <p:nvSpPr>
          <p:cNvPr id="14" name="texto-109"/>
          <p:cNvSpPr txBox="1"/>
          <p:nvPr/>
        </p:nvSpPr>
        <p:spPr>
          <a:xfrm>
            <a:off x="2743200" y="5047488"/>
            <a:ext cx="3383280" cy="731520"/>
          </a:xfrm>
          <a:prstGeom prst="rect">
            <a:avLst/>
          </a:prstGeom>
          <a:noFill/>
          <a:ln/>
        </p:spPr>
        <p:txBody>
          <a:bodyPr wrap="square" lIns="0" tIns="0" rIns="0" bIns="0" rtlCol="0" anchor="ctr"/>
          <a:lstStyle/>
          <a:p>
            <a:pPr marL="0" indent="0">
              <a:buNone/>
            </a:pPr>
            <a:r>
              <a:rPr lang="en-US" sz="1400" dirty="0">
                <a:solidFill>
                  <a:schemeClr val="tx1"/>
                </a:solidFill>
              </a:rPr>
              <a:t>EF Core, SQL Server, correlativo, Excel</a:t>
            </a:r>
            <a:endParaRPr lang="en-US" sz="1400" dirty="0"/>
          </a:p>
        </p:txBody>
      </p:sp>
      <p:sp>
        <p:nvSpPr>
          <p:cNvPr id="15" name="tarjeta-110"/>
          <p:cNvSpPr/>
          <p:nvPr/>
        </p:nvSpPr>
        <p:spPr>
          <a:xfrm>
            <a:off x="6766560" y="1508760"/>
            <a:ext cx="4873752" cy="4389120"/>
          </a:xfrm>
          <a:prstGeom prst="roundRect">
            <a:avLst>
              <a:gd name="adj" fmla="val 2500"/>
            </a:avLst>
          </a:prstGeom>
          <a:solidFill>
            <a:schemeClr val="bg2"/>
          </a:solidFill>
          <a:ln w="12700">
            <a:solidFill>
              <a:schemeClr val="bg2"/>
            </a:solidFill>
            <a:prstDash val="solid"/>
          </a:ln>
        </p:spPr>
        <p:txBody>
          <a:bodyPr/>
          <a:p/>
        </p:txBody>
      </p:sp>
      <p:sp>
        <p:nvSpPr>
          <p:cNvPr id="16" name="texto-111"/>
          <p:cNvSpPr txBox="1"/>
          <p:nvPr/>
        </p:nvSpPr>
        <p:spPr>
          <a:xfrm>
            <a:off x="7040880" y="1737360"/>
            <a:ext cx="4389120" cy="457200"/>
          </a:xfrm>
          <a:prstGeom prst="rect">
            <a:avLst/>
          </a:prstGeom>
          <a:noFill/>
          <a:ln/>
        </p:spPr>
        <p:txBody>
          <a:bodyPr wrap="square" lIns="0" tIns="0" rIns="0" bIns="0" rtlCol="0" anchor="t"/>
          <a:lstStyle/>
          <a:p>
            <a:pPr marL="0" indent="0">
              <a:buNone/>
            </a:pPr>
            <a:r>
              <a:rPr lang="en-US" sz="1800" b="1" dirty="0">
                <a:solidFill>
                  <a:schemeClr val="tx2"/>
                </a:solidFill>
              </a:rPr>
              <a:t>Lo que se puede comprobar</a:t>
            </a:r>
            <a:endParaRPr lang="en-US" sz="1800" dirty="0"/>
          </a:p>
        </p:txBody>
      </p:sp>
      <p:sp>
        <p:nvSpPr>
          <p:cNvPr id="17" name="texto-112"/>
          <p:cNvSpPr txBox="1"/>
          <p:nvPr/>
        </p:nvSpPr>
        <p:spPr>
          <a:xfrm>
            <a:off x="7040880" y="2331720"/>
            <a:ext cx="4389120" cy="329184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chemeClr val="tx1"/>
                </a:solidFill>
              </a:rPr>
              <a:t>Domain no referencia ningún proyecto</a:t>
            </a:r>
            <a:endParaRPr lang="en-US" sz="1500" dirty="0"/>
          </a:p>
          <a:p>
            <a:pPr marL="342900" indent="-342900">
              <a:spcAft>
                <a:spcPts val="1000"/>
              </a:spcAft>
              <a:buSzPct val="100000"/>
              <a:buChar char="•"/>
            </a:pPr>
            <a:r>
              <a:rPr lang="en-US" sz="1500" dirty="0">
                <a:solidFill>
                  <a:schemeClr val="tx1"/>
                </a:solidFill>
              </a:rPr>
              <a:t>Las reglas se prueban sin base ni HTTP (25 pruebas)</a:t>
            </a:r>
            <a:endParaRPr lang="en-US" sz="1500" dirty="0"/>
          </a:p>
          <a:p>
            <a:pPr marL="342900" indent="-342900">
              <a:spcAft>
                <a:spcPts val="1000"/>
              </a:spcAft>
              <a:buSzPct val="100000"/>
              <a:buChar char="•"/>
            </a:pPr>
            <a:r>
              <a:rPr lang="en-US" sz="1500" dirty="0">
                <a:solidFill>
                  <a:schemeClr val="tx1"/>
                </a:solidFill>
              </a:rPr>
              <a:t>La web es un cliente HTTP: no copia reglas; las transiciones permitidas las calcula el dominio</a:t>
            </a:r>
            <a:endParaRPr lang="en-US" sz="1500" dirty="0"/>
          </a:p>
          <a:p>
            <a:pPr marL="342900" indent="-342900">
              <a:spcAft>
                <a:spcPts val="1000"/>
              </a:spcAft>
              <a:buSzPct val="100000"/>
              <a:buChar char="•"/>
            </a:pPr>
            <a:r>
              <a:rPr lang="en-US" sz="1500" dirty="0">
                <a:solidFill>
                  <a:schemeClr val="tx1"/>
                </a:solidFill>
              </a:rPr>
              <a:t>Un solo puerto de transacción para numerar MP y OT</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r"/>
            <a:fld id="{F7021451-1387-4CA6-816F-3879F97B5CBC}" type="slidenum">
              <a:rPr lang="en-US" b="0"/>
              <a:t>6</a:t>
            </a:fld>
            <a:endParaRPr lang="en-US"/>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4415" cy="822960"/>
          </a:xfrm>
          <a:prstGeom prst="rect">
            <a:avLst/>
          </a:prstGeom>
          <a:noFill/>
          <a:ln/>
        </p:spPr>
        <p:txBody>
          <a:bodyPr wrap="square" lIns="0" tIns="0" rIns="0" bIns="0" rtlCol="0" anchor="ctr"/>
          <a:lstStyle/>
          <a:p>
            <a:pPr marL="0" indent="0">
              <a:buNone/>
            </a:pPr>
            <a:r>
              <a:rPr lang="en-US" sz="3400" b="1" dirty="0" err="1" smtClean="0">
                <a:solidFill>
                  <a:schemeClr val="tx2"/>
                </a:solidFill>
                <a:latin typeface="Cambria" pitchFamily="34" charset="0"/>
                <a:ea typeface="Cambria" pitchFamily="34" charset="-122"/>
                <a:cs typeface="Cambria" pitchFamily="34" charset="-120"/>
              </a:rPr>
              <a:t>Siete</a:t>
            </a:r>
            <a:r>
              <a:rPr lang="en-US" sz="3400" b="1" dirty="0" smtClean="0">
                <a:solidFill>
                  <a:schemeClr val="tx2"/>
                </a:solidFill>
                <a:latin typeface="Cambria" pitchFamily="34" charset="0"/>
                <a:ea typeface="Cambria" pitchFamily="34" charset="-122"/>
                <a:cs typeface="Cambria" pitchFamily="34" charset="-120"/>
              </a:rPr>
              <a:t> ADR (</a:t>
            </a:r>
            <a:r>
              <a:rPr lang="en-US" sz="3400" b="1" dirty="0" err="1" smtClean="0">
                <a:solidFill>
                  <a:schemeClr val="tx2"/>
                </a:solidFill>
                <a:latin typeface="Cambria" pitchFamily="34" charset="0"/>
                <a:ea typeface="Cambria" pitchFamily="34" charset="-122"/>
                <a:cs typeface="Cambria" pitchFamily="34" charset="-120"/>
              </a:rPr>
              <a:t>Architecture</a:t>
            </a:r>
            <a:r>
              <a:rPr lang="en-US" sz="3400" b="1" dirty="0" smtClean="0">
                <a:solidFill>
                  <a:schemeClr val="tx2"/>
                </a:solidFill>
                <a:latin typeface="Cambria" pitchFamily="34" charset="0"/>
                <a:ea typeface="Cambria" pitchFamily="34" charset="-122"/>
                <a:cs typeface="Cambria" pitchFamily="34" charset="-120"/>
              </a:rPr>
              <a:t> Decision Record)</a:t>
            </a:r>
            <a:br>
              <a:rPr lang="en-US" sz="3400" b="1" dirty="0" smtClean="0">
                <a:solidFill>
                  <a:schemeClr val="tx2"/>
                </a:solidFill>
                <a:latin typeface="Cambria" pitchFamily="34" charset="0"/>
                <a:ea typeface="Cambria" pitchFamily="34" charset="-122"/>
                <a:cs typeface="Cambria" pitchFamily="34" charset="-120"/>
              </a:rPr>
            </a:br>
            <a:r>
              <a:rPr lang="en-US" sz="3400" b="1" dirty="0" err="1" smtClean="0">
                <a:solidFill>
                  <a:schemeClr val="tx2"/>
                </a:solidFill>
                <a:latin typeface="Cambria" pitchFamily="34" charset="0"/>
                <a:ea typeface="Cambria" pitchFamily="34" charset="-122"/>
                <a:cs typeface="Cambria" pitchFamily="34" charset="-120"/>
              </a:rPr>
              <a:t>Siete</a:t>
            </a:r>
            <a:r>
              <a:rPr lang="en-US" sz="3400" b="1" dirty="0" smtClean="0">
                <a:solidFill>
                  <a:schemeClr val="tx2"/>
                </a:solidFill>
                <a:latin typeface="Cambria" pitchFamily="34" charset="0"/>
                <a:ea typeface="Cambria" pitchFamily="34" charset="-122"/>
                <a:cs typeface="Cambria" pitchFamily="34" charset="-120"/>
              </a:rPr>
              <a:t> </a:t>
            </a:r>
            <a:r>
              <a:rPr lang="en-US" sz="3400" b="1" dirty="0">
                <a:solidFill>
                  <a:schemeClr val="tx2"/>
                </a:solidFill>
                <a:latin typeface="Cambria" pitchFamily="34" charset="0"/>
                <a:ea typeface="Cambria" pitchFamily="34" charset="-122"/>
                <a:cs typeface="Cambria" pitchFamily="34" charset="-120"/>
              </a:rPr>
              <a:t>decisiones registradas como ADR</a:t>
            </a:r>
            <a:endParaRPr lang="en-US" sz="3400" dirty="0"/>
          </a:p>
        </p:txBody>
      </p:sp>
      <p:sp>
        <p:nvSpPr>
          <p:cNvPr id="3" name="tarjeta-113"/>
          <p:cNvSpPr/>
          <p:nvPr/>
        </p:nvSpPr>
        <p:spPr>
          <a:xfrm>
            <a:off x="548640" y="1463040"/>
            <a:ext cx="2560320" cy="2011680"/>
          </a:xfrm>
          <a:prstGeom prst="roundRect">
            <a:avLst>
              <a:gd name="adj" fmla="val 5714"/>
            </a:avLst>
          </a:prstGeom>
          <a:solidFill>
            <a:schemeClr val="bg2"/>
          </a:solidFill>
          <a:ln w="12700">
            <a:solidFill>
              <a:schemeClr val="bg2"/>
            </a:solidFill>
            <a:prstDash val="solid"/>
          </a:ln>
        </p:spPr>
        <p:txBody>
          <a:bodyPr/>
          <a:p/>
        </p:txBody>
      </p:sp>
      <p:sp>
        <p:nvSpPr>
          <p:cNvPr id="4" name="texto-114"/>
          <p:cNvSpPr txBox="1"/>
          <p:nvPr/>
        </p:nvSpPr>
        <p:spPr>
          <a:xfrm>
            <a:off x="777240" y="1645920"/>
            <a:ext cx="2103120" cy="365760"/>
          </a:xfrm>
          <a:prstGeom prst="rect">
            <a:avLst/>
          </a:prstGeom>
          <a:noFill/>
          <a:ln/>
        </p:spPr>
        <p:txBody>
          <a:bodyPr wrap="square" lIns="0" tIns="0" rIns="0" bIns="0" rtlCol="0" anchor="t"/>
          <a:lstStyle/>
          <a:p>
            <a:pPr marL="0" indent="0">
              <a:buNone/>
            </a:pPr>
            <a:r>
              <a:rPr lang="en-US" sz="1300" b="1" dirty="0">
                <a:solidFill>
                  <a:schemeClr val="accent5"/>
                </a:solidFill>
              </a:rPr>
              <a:t>ADR-001</a:t>
            </a:r>
            <a:endParaRPr lang="en-US" sz="1300" dirty="0"/>
          </a:p>
        </p:txBody>
      </p:sp>
      <p:sp>
        <p:nvSpPr>
          <p:cNvPr id="5" name="texto-115"/>
          <p:cNvSpPr txBox="1"/>
          <p:nvPr/>
        </p:nvSpPr>
        <p:spPr>
          <a:xfrm>
            <a:off x="777240" y="2011680"/>
            <a:ext cx="2148839" cy="685800"/>
          </a:xfrm>
          <a:prstGeom prst="rect">
            <a:avLst/>
          </a:prstGeom>
          <a:noFill/>
          <a:ln/>
        </p:spPr>
        <p:txBody>
          <a:bodyPr wrap="square" lIns="0" tIns="0" rIns="0" bIns="0" rtlCol="0" anchor="t"/>
          <a:lstStyle/>
          <a:p>
            <a:pPr marL="0" indent="0">
              <a:buNone/>
            </a:pPr>
            <a:r>
              <a:rPr lang="en-US" sz="1900" b="1" dirty="0">
                <a:solidFill>
                  <a:schemeClr val="tx2"/>
                </a:solidFill>
              </a:rPr>
              <a:t>EF Core con esquema propio</a:t>
            </a:r>
            <a:endParaRPr lang="en-US" sz="1900" dirty="0"/>
          </a:p>
        </p:txBody>
      </p:sp>
      <p:sp>
        <p:nvSpPr>
          <p:cNvPr id="6" name="texto-116"/>
          <p:cNvSpPr txBox="1"/>
          <p:nvPr/>
        </p:nvSpPr>
        <p:spPr>
          <a:xfrm>
            <a:off x="777240" y="2697480"/>
            <a:ext cx="2148839" cy="685800"/>
          </a:xfrm>
          <a:prstGeom prst="rect">
            <a:avLst/>
          </a:prstGeom>
          <a:noFill/>
          <a:ln/>
        </p:spPr>
        <p:txBody>
          <a:bodyPr wrap="square" lIns="0" tIns="0" rIns="0" bIns="0" rtlCol="0" anchor="t"/>
          <a:lstStyle/>
          <a:p>
            <a:pPr marL="0" indent="0">
              <a:buNone/>
            </a:pPr>
            <a:r>
              <a:rPr lang="en-US" sz="1400" dirty="0">
                <a:solidFill>
                  <a:schemeClr val="accent4"/>
                </a:solidFill>
              </a:rPr>
              <a:t>La base original no se comparte y le faltan procedimientos</a:t>
            </a:r>
            <a:endParaRPr lang="en-US" sz="1400" dirty="0"/>
          </a:p>
        </p:txBody>
      </p:sp>
      <p:sp>
        <p:nvSpPr>
          <p:cNvPr id="7" name="tarjeta-117"/>
          <p:cNvSpPr/>
          <p:nvPr/>
        </p:nvSpPr>
        <p:spPr>
          <a:xfrm>
            <a:off x="3392424" y="1463040"/>
            <a:ext cx="2560320" cy="2011680"/>
          </a:xfrm>
          <a:prstGeom prst="roundRect">
            <a:avLst>
              <a:gd name="adj" fmla="val 5714"/>
            </a:avLst>
          </a:prstGeom>
          <a:solidFill>
            <a:schemeClr val="bg2"/>
          </a:solidFill>
          <a:ln w="12700">
            <a:solidFill>
              <a:schemeClr val="bg2"/>
            </a:solidFill>
            <a:prstDash val="solid"/>
          </a:ln>
        </p:spPr>
        <p:txBody>
          <a:bodyPr/>
          <a:p/>
        </p:txBody>
      </p:sp>
      <p:sp>
        <p:nvSpPr>
          <p:cNvPr id="8" name="texto-118"/>
          <p:cNvSpPr txBox="1"/>
          <p:nvPr/>
        </p:nvSpPr>
        <p:spPr>
          <a:xfrm>
            <a:off x="3621024" y="1645920"/>
            <a:ext cx="2103120" cy="365760"/>
          </a:xfrm>
          <a:prstGeom prst="rect">
            <a:avLst/>
          </a:prstGeom>
          <a:noFill/>
          <a:ln/>
        </p:spPr>
        <p:txBody>
          <a:bodyPr wrap="square" lIns="0" tIns="0" rIns="0" bIns="0" rtlCol="0" anchor="t"/>
          <a:lstStyle/>
          <a:p>
            <a:pPr marL="0" indent="0">
              <a:buNone/>
            </a:pPr>
            <a:r>
              <a:rPr lang="en-US" sz="1300" b="1" dirty="0">
                <a:solidFill>
                  <a:schemeClr val="accent5"/>
                </a:solidFill>
              </a:rPr>
              <a:t>ADR-002</a:t>
            </a:r>
            <a:endParaRPr lang="en-US" sz="1300" dirty="0"/>
          </a:p>
        </p:txBody>
      </p:sp>
      <p:sp>
        <p:nvSpPr>
          <p:cNvPr id="9" name="texto-119"/>
          <p:cNvSpPr txBox="1"/>
          <p:nvPr/>
        </p:nvSpPr>
        <p:spPr>
          <a:xfrm>
            <a:off x="3621024" y="2011680"/>
            <a:ext cx="2148839" cy="685800"/>
          </a:xfrm>
          <a:prstGeom prst="rect">
            <a:avLst/>
          </a:prstGeom>
          <a:noFill/>
          <a:ln/>
        </p:spPr>
        <p:txBody>
          <a:bodyPr wrap="square" lIns="0" tIns="0" rIns="0" bIns="0" rtlCol="0" anchor="t"/>
          <a:lstStyle/>
          <a:p>
            <a:pPr marL="0" indent="0">
              <a:buNone/>
            </a:pPr>
            <a:r>
              <a:rPr lang="en-US" sz="1900" b="1" dirty="0">
                <a:solidFill>
                  <a:schemeClr val="tx2"/>
                </a:solidFill>
              </a:rPr>
              <a:t>Repositorio propio y limpio</a:t>
            </a:r>
            <a:endParaRPr lang="en-US" sz="1900" dirty="0"/>
          </a:p>
        </p:txBody>
      </p:sp>
      <p:sp>
        <p:nvSpPr>
          <p:cNvPr id="10" name="texto-120"/>
          <p:cNvSpPr txBox="1"/>
          <p:nvPr/>
        </p:nvSpPr>
        <p:spPr>
          <a:xfrm>
            <a:off x="3621024" y="2697480"/>
            <a:ext cx="2148839" cy="685800"/>
          </a:xfrm>
          <a:prstGeom prst="rect">
            <a:avLst/>
          </a:prstGeom>
          <a:noFill/>
          <a:ln/>
        </p:spPr>
        <p:txBody>
          <a:bodyPr wrap="square" lIns="0" tIns="0" rIns="0" bIns="0" rtlCol="0" anchor="t"/>
          <a:lstStyle/>
          <a:p>
            <a:pPr marL="0" indent="0">
              <a:buNone/>
            </a:pPr>
            <a:r>
              <a:rPr lang="en-US" sz="1400" dirty="0">
                <a:solidFill>
                  <a:schemeClr val="accent4"/>
                </a:solidFill>
              </a:rPr>
              <a:t>Sin código ni secretos de la empresa</a:t>
            </a:r>
            <a:endParaRPr lang="en-US" sz="1400" dirty="0"/>
          </a:p>
        </p:txBody>
      </p:sp>
      <p:sp>
        <p:nvSpPr>
          <p:cNvPr id="11" name="tarjeta-121"/>
          <p:cNvSpPr/>
          <p:nvPr/>
        </p:nvSpPr>
        <p:spPr>
          <a:xfrm>
            <a:off x="6236207" y="1463040"/>
            <a:ext cx="2560320" cy="2011680"/>
          </a:xfrm>
          <a:prstGeom prst="roundRect">
            <a:avLst>
              <a:gd name="adj" fmla="val 5714"/>
            </a:avLst>
          </a:prstGeom>
          <a:solidFill>
            <a:schemeClr val="bg2"/>
          </a:solidFill>
          <a:ln w="12700">
            <a:solidFill>
              <a:schemeClr val="bg2"/>
            </a:solidFill>
            <a:prstDash val="solid"/>
          </a:ln>
        </p:spPr>
        <p:txBody>
          <a:bodyPr/>
          <a:p/>
        </p:txBody>
      </p:sp>
      <p:sp>
        <p:nvSpPr>
          <p:cNvPr id="12" name="texto-122"/>
          <p:cNvSpPr txBox="1"/>
          <p:nvPr/>
        </p:nvSpPr>
        <p:spPr>
          <a:xfrm>
            <a:off x="6464807" y="1645920"/>
            <a:ext cx="2103120" cy="365760"/>
          </a:xfrm>
          <a:prstGeom prst="rect">
            <a:avLst/>
          </a:prstGeom>
          <a:noFill/>
          <a:ln/>
        </p:spPr>
        <p:txBody>
          <a:bodyPr wrap="square" lIns="0" tIns="0" rIns="0" bIns="0" rtlCol="0" anchor="t"/>
          <a:lstStyle/>
          <a:p>
            <a:pPr marL="0" indent="0">
              <a:buNone/>
            </a:pPr>
            <a:r>
              <a:rPr lang="en-US" sz="1300" b="1" dirty="0">
                <a:solidFill>
                  <a:schemeClr val="accent5"/>
                </a:solidFill>
              </a:rPr>
              <a:t>ADR-003</a:t>
            </a:r>
            <a:endParaRPr lang="en-US" sz="1300" dirty="0"/>
          </a:p>
        </p:txBody>
      </p:sp>
      <p:sp>
        <p:nvSpPr>
          <p:cNvPr id="13" name="texto-123"/>
          <p:cNvSpPr txBox="1"/>
          <p:nvPr/>
        </p:nvSpPr>
        <p:spPr>
          <a:xfrm>
            <a:off x="6464807" y="2011680"/>
            <a:ext cx="2148839" cy="685800"/>
          </a:xfrm>
          <a:prstGeom prst="rect">
            <a:avLst/>
          </a:prstGeom>
          <a:noFill/>
          <a:ln/>
        </p:spPr>
        <p:txBody>
          <a:bodyPr wrap="square" lIns="0" tIns="0" rIns="0" bIns="0" rtlCol="0" anchor="t"/>
          <a:lstStyle/>
          <a:p>
            <a:pPr marL="0" indent="0">
              <a:buNone/>
            </a:pPr>
            <a:r>
              <a:rPr lang="en-US" sz="1900" b="1" dirty="0">
                <a:solidFill>
                  <a:schemeClr val="tx2"/>
                </a:solidFill>
              </a:rPr>
              <a:t>Clean Architecture</a:t>
            </a:r>
            <a:endParaRPr lang="en-US" sz="1900" dirty="0"/>
          </a:p>
        </p:txBody>
      </p:sp>
      <p:sp>
        <p:nvSpPr>
          <p:cNvPr id="14" name="texto-124"/>
          <p:cNvSpPr txBox="1"/>
          <p:nvPr/>
        </p:nvSpPr>
        <p:spPr>
          <a:xfrm>
            <a:off x="6464807" y="2697480"/>
            <a:ext cx="2148839" cy="685800"/>
          </a:xfrm>
          <a:prstGeom prst="rect">
            <a:avLst/>
          </a:prstGeom>
          <a:noFill/>
          <a:ln/>
        </p:spPr>
        <p:txBody>
          <a:bodyPr wrap="square" lIns="0" tIns="0" rIns="0" bIns="0" rtlCol="0" anchor="t"/>
          <a:lstStyle/>
          <a:p>
            <a:pPr marL="0" indent="0">
              <a:buNone/>
            </a:pPr>
            <a:r>
              <a:rPr lang="en-US" sz="1400" dirty="0">
                <a:solidFill>
                  <a:schemeClr val="accent4"/>
                </a:solidFill>
              </a:rPr>
              <a:t>Reglas probables sin infraestructura</a:t>
            </a:r>
            <a:endParaRPr lang="en-US" sz="1400" dirty="0"/>
          </a:p>
        </p:txBody>
      </p:sp>
      <p:sp>
        <p:nvSpPr>
          <p:cNvPr id="15" name="tarjeta-125"/>
          <p:cNvSpPr/>
          <p:nvPr/>
        </p:nvSpPr>
        <p:spPr>
          <a:xfrm>
            <a:off x="9079992" y="1463040"/>
            <a:ext cx="2560320" cy="2011680"/>
          </a:xfrm>
          <a:prstGeom prst="roundRect">
            <a:avLst>
              <a:gd name="adj" fmla="val 5714"/>
            </a:avLst>
          </a:prstGeom>
          <a:solidFill>
            <a:schemeClr val="bg2"/>
          </a:solidFill>
          <a:ln w="12700">
            <a:solidFill>
              <a:schemeClr val="bg2"/>
            </a:solidFill>
            <a:prstDash val="solid"/>
          </a:ln>
        </p:spPr>
        <p:txBody>
          <a:bodyPr/>
          <a:p/>
        </p:txBody>
      </p:sp>
      <p:sp>
        <p:nvSpPr>
          <p:cNvPr id="16" name="texto-126"/>
          <p:cNvSpPr txBox="1"/>
          <p:nvPr/>
        </p:nvSpPr>
        <p:spPr>
          <a:xfrm>
            <a:off x="9308592" y="1645920"/>
            <a:ext cx="2103120" cy="365760"/>
          </a:xfrm>
          <a:prstGeom prst="rect">
            <a:avLst/>
          </a:prstGeom>
          <a:noFill/>
          <a:ln/>
        </p:spPr>
        <p:txBody>
          <a:bodyPr wrap="square" lIns="0" tIns="0" rIns="0" bIns="0" rtlCol="0" anchor="t"/>
          <a:lstStyle/>
          <a:p>
            <a:pPr marL="0" indent="0">
              <a:buNone/>
            </a:pPr>
            <a:r>
              <a:rPr lang="en-US" sz="1300" b="1" dirty="0">
                <a:solidFill>
                  <a:schemeClr val="accent5"/>
                </a:solidFill>
              </a:rPr>
              <a:t>ADR-004</a:t>
            </a:r>
            <a:endParaRPr lang="en-US" sz="1300" dirty="0"/>
          </a:p>
        </p:txBody>
      </p:sp>
      <p:sp>
        <p:nvSpPr>
          <p:cNvPr id="17" name="texto-127"/>
          <p:cNvSpPr txBox="1"/>
          <p:nvPr/>
        </p:nvSpPr>
        <p:spPr>
          <a:xfrm>
            <a:off x="9308592" y="2011680"/>
            <a:ext cx="2148839" cy="685800"/>
          </a:xfrm>
          <a:prstGeom prst="rect">
            <a:avLst/>
          </a:prstGeom>
          <a:noFill/>
          <a:ln/>
        </p:spPr>
        <p:txBody>
          <a:bodyPr wrap="square" lIns="0" tIns="0" rIns="0" bIns="0" rtlCol="0" anchor="t"/>
          <a:lstStyle/>
          <a:p>
            <a:pPr marL="0" indent="0">
              <a:buNone/>
            </a:pPr>
            <a:r>
              <a:rPr lang="en-US" sz="1900" b="1" dirty="0">
                <a:solidFill>
                  <a:schemeClr val="tx2"/>
                </a:solidFill>
              </a:rPr>
              <a:t>FluentValidation</a:t>
            </a:r>
            <a:endParaRPr lang="en-US" sz="1900" dirty="0"/>
          </a:p>
        </p:txBody>
      </p:sp>
      <p:sp>
        <p:nvSpPr>
          <p:cNvPr id="18" name="texto-128"/>
          <p:cNvSpPr txBox="1"/>
          <p:nvPr/>
        </p:nvSpPr>
        <p:spPr>
          <a:xfrm>
            <a:off x="9308592" y="2697480"/>
            <a:ext cx="2148839" cy="685800"/>
          </a:xfrm>
          <a:prstGeom prst="rect">
            <a:avLst/>
          </a:prstGeom>
          <a:noFill/>
          <a:ln/>
        </p:spPr>
        <p:txBody>
          <a:bodyPr wrap="square" lIns="0" tIns="0" rIns="0" bIns="0" rtlCol="0" anchor="t"/>
          <a:lstStyle/>
          <a:p>
            <a:pPr marL="0" indent="0">
              <a:buNone/>
            </a:pPr>
            <a:r>
              <a:rPr lang="en-US" sz="1400" dirty="0">
                <a:solidFill>
                  <a:schemeClr val="accent4"/>
                </a:solidFill>
              </a:rPr>
              <a:t>El original validaba solo en el navegador</a:t>
            </a:r>
            <a:endParaRPr lang="en-US" sz="1400" dirty="0"/>
          </a:p>
        </p:txBody>
      </p:sp>
      <p:sp>
        <p:nvSpPr>
          <p:cNvPr id="19" name="tarjeta-129"/>
          <p:cNvSpPr/>
          <p:nvPr/>
        </p:nvSpPr>
        <p:spPr>
          <a:xfrm>
            <a:off x="548640" y="3749039"/>
            <a:ext cx="2560320" cy="2011680"/>
          </a:xfrm>
          <a:prstGeom prst="roundRect">
            <a:avLst>
              <a:gd name="adj" fmla="val 5714"/>
            </a:avLst>
          </a:prstGeom>
          <a:solidFill>
            <a:schemeClr val="bg2"/>
          </a:solidFill>
          <a:ln w="12700">
            <a:solidFill>
              <a:schemeClr val="bg2"/>
            </a:solidFill>
            <a:prstDash val="solid"/>
          </a:ln>
        </p:spPr>
        <p:txBody>
          <a:bodyPr/>
          <a:p/>
        </p:txBody>
      </p:sp>
      <p:sp>
        <p:nvSpPr>
          <p:cNvPr id="20" name="texto-130"/>
          <p:cNvSpPr txBox="1"/>
          <p:nvPr/>
        </p:nvSpPr>
        <p:spPr>
          <a:xfrm>
            <a:off x="777240" y="3931920"/>
            <a:ext cx="2103120" cy="365760"/>
          </a:xfrm>
          <a:prstGeom prst="rect">
            <a:avLst/>
          </a:prstGeom>
          <a:noFill/>
          <a:ln/>
        </p:spPr>
        <p:txBody>
          <a:bodyPr wrap="square" lIns="0" tIns="0" rIns="0" bIns="0" rtlCol="0" anchor="t"/>
          <a:lstStyle/>
          <a:p>
            <a:pPr marL="0" indent="0">
              <a:buNone/>
            </a:pPr>
            <a:r>
              <a:rPr lang="en-US" sz="1300" b="1" dirty="0">
                <a:solidFill>
                  <a:schemeClr val="accent5"/>
                </a:solidFill>
              </a:rPr>
              <a:t>ADR-005</a:t>
            </a:r>
            <a:endParaRPr lang="en-US" sz="1300" dirty="0"/>
          </a:p>
        </p:txBody>
      </p:sp>
      <p:sp>
        <p:nvSpPr>
          <p:cNvPr id="21" name="texto-131"/>
          <p:cNvSpPr txBox="1"/>
          <p:nvPr/>
        </p:nvSpPr>
        <p:spPr>
          <a:xfrm>
            <a:off x="777240" y="4297679"/>
            <a:ext cx="2148839" cy="685800"/>
          </a:xfrm>
          <a:prstGeom prst="rect">
            <a:avLst/>
          </a:prstGeom>
          <a:noFill/>
          <a:ln/>
        </p:spPr>
        <p:txBody>
          <a:bodyPr wrap="square" lIns="0" tIns="0" rIns="0" bIns="0" rtlCol="0" anchor="t"/>
          <a:lstStyle/>
          <a:p>
            <a:pPr marL="0" indent="0">
              <a:buNone/>
            </a:pPr>
            <a:r>
              <a:rPr lang="en-US" sz="1900" b="1" dirty="0">
                <a:solidFill>
                  <a:schemeClr val="tx2"/>
                </a:solidFill>
              </a:rPr>
              <a:t>ProblemDetails</a:t>
            </a:r>
            <a:endParaRPr lang="en-US" sz="1900" dirty="0"/>
          </a:p>
        </p:txBody>
      </p:sp>
      <p:sp>
        <p:nvSpPr>
          <p:cNvPr id="22" name="texto-132"/>
          <p:cNvSpPr txBox="1"/>
          <p:nvPr/>
        </p:nvSpPr>
        <p:spPr>
          <a:xfrm>
            <a:off x="777240" y="4983479"/>
            <a:ext cx="2148839" cy="685800"/>
          </a:xfrm>
          <a:prstGeom prst="rect">
            <a:avLst/>
          </a:prstGeom>
          <a:noFill/>
          <a:ln/>
        </p:spPr>
        <p:txBody>
          <a:bodyPr wrap="square" lIns="0" tIns="0" rIns="0" bIns="0" rtlCol="0" anchor="t"/>
          <a:lstStyle/>
          <a:p>
            <a:pPr marL="0" indent="0">
              <a:buNone/>
            </a:pPr>
            <a:r>
              <a:rPr lang="en-US" sz="1400" dirty="0">
                <a:solidFill>
                  <a:schemeClr val="accent4"/>
                </a:solidFill>
              </a:rPr>
              <a:t>Nunca más un «éxito» falso</a:t>
            </a:r>
            <a:endParaRPr lang="en-US" sz="1400" dirty="0"/>
          </a:p>
        </p:txBody>
      </p:sp>
      <p:sp>
        <p:nvSpPr>
          <p:cNvPr id="23" name="tarjeta-133"/>
          <p:cNvSpPr/>
          <p:nvPr/>
        </p:nvSpPr>
        <p:spPr>
          <a:xfrm>
            <a:off x="3392424" y="3749039"/>
            <a:ext cx="2560320" cy="2011680"/>
          </a:xfrm>
          <a:prstGeom prst="roundRect">
            <a:avLst>
              <a:gd name="adj" fmla="val 5714"/>
            </a:avLst>
          </a:prstGeom>
          <a:solidFill>
            <a:schemeClr val="bg2"/>
          </a:solidFill>
          <a:ln w="12700">
            <a:solidFill>
              <a:schemeClr val="bg2"/>
            </a:solidFill>
            <a:prstDash val="solid"/>
          </a:ln>
        </p:spPr>
        <p:txBody>
          <a:bodyPr/>
          <a:p/>
        </p:txBody>
      </p:sp>
      <p:sp>
        <p:nvSpPr>
          <p:cNvPr id="24" name="texto-134"/>
          <p:cNvSpPr txBox="1"/>
          <p:nvPr/>
        </p:nvSpPr>
        <p:spPr>
          <a:xfrm>
            <a:off x="3621024" y="3931920"/>
            <a:ext cx="2103120" cy="365760"/>
          </a:xfrm>
          <a:prstGeom prst="rect">
            <a:avLst/>
          </a:prstGeom>
          <a:noFill/>
          <a:ln/>
        </p:spPr>
        <p:txBody>
          <a:bodyPr wrap="square" lIns="0" tIns="0" rIns="0" bIns="0" rtlCol="0" anchor="t"/>
          <a:lstStyle/>
          <a:p>
            <a:pPr marL="0" indent="0">
              <a:buNone/>
            </a:pPr>
            <a:r>
              <a:rPr lang="en-US" sz="1300" b="1" dirty="0">
                <a:solidFill>
                  <a:schemeClr val="accent5"/>
                </a:solidFill>
              </a:rPr>
              <a:t>ADR-006</a:t>
            </a:r>
            <a:endParaRPr lang="en-US" sz="1300" dirty="0"/>
          </a:p>
        </p:txBody>
      </p:sp>
      <p:sp>
        <p:nvSpPr>
          <p:cNvPr id="25" name="texto-135"/>
          <p:cNvSpPr txBox="1"/>
          <p:nvPr/>
        </p:nvSpPr>
        <p:spPr>
          <a:xfrm>
            <a:off x="3621024" y="4297679"/>
            <a:ext cx="2148839" cy="685800"/>
          </a:xfrm>
          <a:prstGeom prst="rect">
            <a:avLst/>
          </a:prstGeom>
          <a:noFill/>
          <a:ln/>
        </p:spPr>
        <p:txBody>
          <a:bodyPr wrap="square" lIns="0" tIns="0" rIns="0" bIns="0" rtlCol="0" anchor="t"/>
          <a:lstStyle/>
          <a:p>
            <a:pPr marL="0" indent="0">
              <a:buNone/>
            </a:pPr>
            <a:r>
              <a:rPr lang="en-US" sz="1900" b="1" dirty="0">
                <a:solidFill>
                  <a:schemeClr val="tx2"/>
                </a:solidFill>
              </a:rPr>
              <a:t>JWT y dos perfiles</a:t>
            </a:r>
            <a:endParaRPr lang="en-US" sz="1900" dirty="0"/>
          </a:p>
        </p:txBody>
      </p:sp>
      <p:sp>
        <p:nvSpPr>
          <p:cNvPr id="26" name="texto-136"/>
          <p:cNvSpPr txBox="1"/>
          <p:nvPr/>
        </p:nvSpPr>
        <p:spPr>
          <a:xfrm>
            <a:off x="3621024" y="4983479"/>
            <a:ext cx="2148839" cy="685800"/>
          </a:xfrm>
          <a:prstGeom prst="rect">
            <a:avLst/>
          </a:prstGeom>
          <a:noFill/>
          <a:ln/>
        </p:spPr>
        <p:txBody>
          <a:bodyPr wrap="square" lIns="0" tIns="0" rIns="0" bIns="0" rtlCol="0" anchor="t"/>
          <a:lstStyle/>
          <a:p>
            <a:pPr marL="0" indent="0">
              <a:buNone/>
            </a:pPr>
            <a:r>
              <a:rPr lang="en-US" sz="1400" dirty="0">
                <a:solidFill>
                  <a:schemeClr val="accent4"/>
                </a:solidFill>
              </a:rPr>
              <a:t>Todo exige sesión por defecto</a:t>
            </a:r>
            <a:endParaRPr lang="en-US" sz="1400" dirty="0"/>
          </a:p>
        </p:txBody>
      </p:sp>
      <p:sp>
        <p:nvSpPr>
          <p:cNvPr id="27"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r"/>
            <a:fld id="{F7021451-1387-4CA6-816F-3879F97B5CBC}" type="slidenum">
              <a:rPr lang="en-US" b="0"/>
              <a:t>7</a:t>
            </a:fld>
            <a:endParaRPr lang="en-US"/>
          </a:p>
        </p:txBody>
      </p:sp>
      <p:sp>
        <p:nvSpPr>
          <p:cNvPr id="28" name="tarjeta-300"/>
          <p:cNvSpPr/>
          <p:nvPr/>
        </p:nvSpPr>
        <p:spPr>
          <a:xfrm>
            <a:off x="6236207" y="3749039"/>
            <a:ext cx="2560320" cy="2011680"/>
          </a:xfrm>
          <a:prstGeom prst="roundRect">
            <a:avLst>
              <a:gd name="adj" fmla="val 5714"/>
            </a:avLst>
          </a:prstGeom>
          <a:solidFill>
            <a:schemeClr val="bg2"/>
          </a:solidFill>
          <a:ln w="12700">
            <a:solidFill>
              <a:schemeClr val="bg2"/>
            </a:solidFill>
            <a:prstDash val="solid"/>
          </a:ln>
        </p:spPr>
        <p:txBody>
          <a:bodyPr/>
          <a:p/>
        </p:txBody>
      </p:sp>
      <p:sp>
        <p:nvSpPr>
          <p:cNvPr id="29" name="texto-301"/>
          <p:cNvSpPr txBox="1"/>
          <p:nvPr/>
        </p:nvSpPr>
        <p:spPr>
          <a:xfrm>
            <a:off x="6464807" y="3931920"/>
            <a:ext cx="2103120" cy="365760"/>
          </a:xfrm>
          <a:prstGeom prst="rect">
            <a:avLst/>
          </a:prstGeom>
          <a:noFill/>
          <a:ln/>
        </p:spPr>
        <p:txBody>
          <a:bodyPr wrap="square" lIns="0" tIns="0" rIns="0" bIns="0" rtlCol="0" anchor="t"/>
          <a:lstStyle/>
          <a:p>
            <a:pPr marL="0" indent="0">
              <a:buNone/>
            </a:pPr>
            <a:r>
              <a:rPr lang="en-US" sz="1300" b="1" dirty="0">
                <a:solidFill>
                  <a:schemeClr val="accent5"/>
                </a:solidFill>
              </a:rPr>
              <a:t>ADR-007</a:t>
            </a:r>
            <a:endParaRPr lang="en-US" sz="1300" dirty="0"/>
          </a:p>
        </p:txBody>
      </p:sp>
      <p:sp>
        <p:nvSpPr>
          <p:cNvPr id="30" name="texto-302"/>
          <p:cNvSpPr txBox="1"/>
          <p:nvPr/>
        </p:nvSpPr>
        <p:spPr>
          <a:xfrm>
            <a:off x="6464807" y="4297679"/>
            <a:ext cx="2148839" cy="685800"/>
          </a:xfrm>
          <a:prstGeom prst="rect">
            <a:avLst/>
          </a:prstGeom>
          <a:noFill/>
          <a:ln/>
        </p:spPr>
        <p:txBody>
          <a:bodyPr wrap="square" lIns="0" tIns="0" rIns="0" bIns="0" rtlCol="0" anchor="t"/>
          <a:lstStyle/>
          <a:p>
            <a:pPr marL="0" indent="0">
              <a:buNone/>
            </a:pPr>
            <a:r>
              <a:rPr lang="en-US" sz="1900" b="1" dirty="0">
                <a:solidFill>
                  <a:schemeClr val="tx2"/>
                </a:solidFill>
              </a:rPr>
              <a:t>Sin Docker</a:t>
            </a:r>
            <a:endParaRPr lang="en-US" sz="1900" dirty="0"/>
          </a:p>
        </p:txBody>
      </p:sp>
      <p:sp>
        <p:nvSpPr>
          <p:cNvPr id="31" name="texto-303"/>
          <p:cNvSpPr txBox="1"/>
          <p:nvPr/>
        </p:nvSpPr>
        <p:spPr>
          <a:xfrm>
            <a:off x="6464807" y="4983479"/>
            <a:ext cx="2148839" cy="685800"/>
          </a:xfrm>
          <a:prstGeom prst="rect">
            <a:avLst/>
          </a:prstGeom>
          <a:noFill/>
          <a:ln/>
        </p:spPr>
        <p:txBody>
          <a:bodyPr wrap="square" lIns="0" tIns="0" rIns="0" bIns="0" rtlCol="0" anchor="t"/>
          <a:lstStyle/>
          <a:p>
            <a:pPr marL="0" indent="0">
              <a:buNone/>
            </a:pPr>
            <a:r>
              <a:rPr lang="en-US" sz="1400" dirty="0">
                <a:solidFill>
                  <a:schemeClr val="accent4"/>
                </a:solidFill>
              </a:rPr>
              <a:t>Solo se afirma lo que se probó: LocalDB</a:t>
            </a:r>
            <a:endParaRPr lang="en-US" sz="1400" dirty="0"/>
          </a:p>
        </p:txBody>
      </p:sp>
      <p:sp>
        <p:nvSpPr>
          <p:cNvPr id="32" name="texto-304"/>
          <p:cNvSpPr txBox="1"/>
          <p:nvPr/>
        </p:nvSpPr>
        <p:spPr>
          <a:xfrm>
            <a:off x="9308592" y="4297679"/>
            <a:ext cx="2148839" cy="1188720"/>
          </a:xfrm>
          <a:prstGeom prst="rect">
            <a:avLst/>
          </a:prstGeom>
          <a:noFill/>
          <a:ln/>
        </p:spPr>
        <p:txBody>
          <a:bodyPr wrap="square" lIns="0" tIns="0" rIns="0" bIns="0" rtlCol="0" anchor="t"/>
          <a:lstStyle/>
          <a:p>
            <a:pPr marL="0" indent="0">
              <a:buNone/>
            </a:pPr>
            <a:r>
              <a:rPr lang="en-US" sz="1400" i="1" dirty="0">
                <a:solidFill>
                  <a:schemeClr val="accent4"/>
                </a:solidFill>
              </a:rPr>
              <a:t>Cada ADR registra contexto, alternativas descartadas y consecuencias</a:t>
            </a:r>
            <a:endParaRPr lang="en-US" sz="1400"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4415" cy="822960"/>
          </a:xfrm>
          <a:prstGeom prst="rect">
            <a:avLst/>
          </a:prstGeom>
          <a:noFill/>
          <a:ln/>
        </p:spPr>
        <p:txBody>
          <a:bodyPr wrap="square" lIns="0" tIns="0" rIns="0" bIns="0" rtlCol="0" anchor="ctr"/>
          <a:lstStyle/>
          <a:p>
            <a:pPr marL="0" indent="0">
              <a:buNone/>
            </a:pPr>
            <a:r>
              <a:rPr lang="en-US" sz="3400" b="1" dirty="0" err="1" smtClean="0">
                <a:solidFill>
                  <a:schemeClr val="tx2"/>
                </a:solidFill>
                <a:latin typeface="Cambria" pitchFamily="34" charset="0"/>
                <a:ea typeface="Cambria" pitchFamily="34" charset="-122"/>
                <a:cs typeface="Cambria" pitchFamily="34" charset="-120"/>
              </a:rPr>
              <a:t>Calidad</a:t>
            </a:r>
            <a:r>
              <a:rPr lang="en-US" sz="3400" b="1" dirty="0" smtClean="0">
                <a:solidFill>
                  <a:schemeClr val="tx2"/>
                </a:solidFill>
                <a:latin typeface="Cambria" pitchFamily="34" charset="0"/>
                <a:ea typeface="Cambria" pitchFamily="34" charset="-122"/>
                <a:cs typeface="Cambria" pitchFamily="34" charset="-120"/>
              </a:rPr>
              <a:t/>
            </a:r>
            <a:br>
              <a:rPr lang="en-US" sz="3400" b="1" dirty="0" smtClean="0">
                <a:solidFill>
                  <a:schemeClr val="tx2"/>
                </a:solidFill>
                <a:latin typeface="Cambria" pitchFamily="34" charset="0"/>
                <a:ea typeface="Cambria" pitchFamily="34" charset="-122"/>
                <a:cs typeface="Cambria" pitchFamily="34" charset="-120"/>
              </a:rPr>
            </a:br>
            <a:r>
              <a:rPr lang="en-US" sz="3400" b="1" dirty="0" smtClean="0">
                <a:solidFill>
                  <a:schemeClr val="tx2"/>
                </a:solidFill>
                <a:latin typeface="Cambria" pitchFamily="34" charset="0"/>
                <a:ea typeface="Cambria" pitchFamily="34" charset="-122"/>
                <a:cs typeface="Cambria" pitchFamily="34" charset="-120"/>
              </a:rPr>
              <a:t>121 </a:t>
            </a:r>
            <a:r>
              <a:rPr lang="en-US" sz="3400" b="1" dirty="0">
                <a:solidFill>
                  <a:schemeClr val="tx2"/>
                </a:solidFill>
                <a:latin typeface="Cambria" pitchFamily="34" charset="0"/>
                <a:ea typeface="Cambria" pitchFamily="34" charset="-122"/>
                <a:cs typeface="Cambria" pitchFamily="34" charset="-120"/>
              </a:rPr>
              <a:t>pruebas en verde y medidas que se pueden repetir</a:t>
            </a:r>
            <a:endParaRPr lang="en-US" sz="3400" dirty="0"/>
          </a:p>
        </p:txBody>
      </p:sp>
      <p:sp>
        <p:nvSpPr>
          <p:cNvPr id="3" name="texto-137"/>
          <p:cNvSpPr txBox="1"/>
          <p:nvPr/>
        </p:nvSpPr>
        <p:spPr>
          <a:xfrm>
            <a:off x="548640" y="1417320"/>
            <a:ext cx="2651760" cy="731520"/>
          </a:xfrm>
          <a:prstGeom prst="rect">
            <a:avLst/>
          </a:prstGeom>
          <a:noFill/>
          <a:ln/>
        </p:spPr>
        <p:txBody>
          <a:bodyPr wrap="square" lIns="0" tIns="0" rIns="0" bIns="0" rtlCol="0" anchor="t"/>
          <a:lstStyle/>
          <a:p>
            <a:pPr marL="0" indent="0">
              <a:buNone/>
            </a:pPr>
            <a:r>
              <a:rPr lang="en-US" sz="3600" b="1" dirty="0">
                <a:solidFill>
                  <a:schemeClr val="accent2"/>
                </a:solidFill>
                <a:latin typeface="Cambria" pitchFamily="34" charset="0"/>
                <a:ea typeface="Cambria" pitchFamily="34" charset="-122"/>
                <a:cs typeface="Cambria" pitchFamily="34" charset="-120"/>
              </a:rPr>
              <a:t>121</a:t>
            </a:r>
            <a:endParaRPr lang="en-US" sz="3600" dirty="0"/>
          </a:p>
        </p:txBody>
      </p:sp>
      <p:sp>
        <p:nvSpPr>
          <p:cNvPr id="4" name="texto-138"/>
          <p:cNvSpPr txBox="1"/>
          <p:nvPr/>
        </p:nvSpPr>
        <p:spPr>
          <a:xfrm>
            <a:off x="548640" y="2194560"/>
            <a:ext cx="2651760" cy="365760"/>
          </a:xfrm>
          <a:prstGeom prst="rect">
            <a:avLst/>
          </a:prstGeom>
          <a:noFill/>
          <a:ln/>
        </p:spPr>
        <p:txBody>
          <a:bodyPr wrap="square" lIns="0" tIns="0" rIns="0" bIns="0" rtlCol="0" anchor="t"/>
          <a:lstStyle/>
          <a:p>
            <a:pPr marL="0" indent="0">
              <a:buNone/>
            </a:pPr>
            <a:r>
              <a:rPr lang="en-US" sz="1400" dirty="0">
                <a:solidFill>
                  <a:schemeClr val="accent4"/>
                </a:solidFill>
              </a:rPr>
              <a:t>pruebas automáticas</a:t>
            </a:r>
            <a:endParaRPr lang="en-US" sz="1400" dirty="0"/>
          </a:p>
        </p:txBody>
      </p:sp>
      <p:sp>
        <p:nvSpPr>
          <p:cNvPr id="5" name="texto-139"/>
          <p:cNvSpPr txBox="1"/>
          <p:nvPr/>
        </p:nvSpPr>
        <p:spPr>
          <a:xfrm>
            <a:off x="3337560" y="1417320"/>
            <a:ext cx="2651760" cy="731520"/>
          </a:xfrm>
          <a:prstGeom prst="rect">
            <a:avLst/>
          </a:prstGeom>
          <a:noFill/>
          <a:ln/>
        </p:spPr>
        <p:txBody>
          <a:bodyPr wrap="square" lIns="0" tIns="0" rIns="0" bIns="0" rtlCol="0" anchor="t"/>
          <a:lstStyle/>
          <a:p>
            <a:pPr marL="0" indent="0">
              <a:buNone/>
            </a:pPr>
            <a:r>
              <a:rPr lang="en-US" sz="3600" b="1" dirty="0">
                <a:solidFill>
                  <a:schemeClr val="tx2"/>
                </a:solidFill>
                <a:latin typeface="Cambria" pitchFamily="34" charset="0"/>
                <a:ea typeface="Cambria" pitchFamily="34" charset="-122"/>
                <a:cs typeface="Cambria" pitchFamily="34" charset="-120"/>
              </a:rPr>
              <a:t>0</a:t>
            </a:r>
            <a:endParaRPr lang="en-US" sz="3600" dirty="0"/>
          </a:p>
        </p:txBody>
      </p:sp>
      <p:sp>
        <p:nvSpPr>
          <p:cNvPr id="6" name="texto-140"/>
          <p:cNvSpPr txBox="1"/>
          <p:nvPr/>
        </p:nvSpPr>
        <p:spPr>
          <a:xfrm>
            <a:off x="3337560" y="2194560"/>
            <a:ext cx="2651760" cy="365760"/>
          </a:xfrm>
          <a:prstGeom prst="rect">
            <a:avLst/>
          </a:prstGeom>
          <a:noFill/>
          <a:ln/>
        </p:spPr>
        <p:txBody>
          <a:bodyPr wrap="square" lIns="0" tIns="0" rIns="0" bIns="0" rtlCol="0" anchor="t"/>
          <a:lstStyle/>
          <a:p>
            <a:pPr marL="0" indent="0">
              <a:buNone/>
            </a:pPr>
            <a:r>
              <a:rPr lang="en-US" sz="1400" dirty="0">
                <a:solidFill>
                  <a:schemeClr val="accent4"/>
                </a:solidFill>
              </a:rPr>
              <a:t>advertencias de compilación</a:t>
            </a:r>
            <a:endParaRPr lang="en-US" sz="1400" dirty="0"/>
          </a:p>
        </p:txBody>
      </p:sp>
      <p:sp>
        <p:nvSpPr>
          <p:cNvPr id="7" name="texto-141"/>
          <p:cNvSpPr txBox="1"/>
          <p:nvPr/>
        </p:nvSpPr>
        <p:spPr>
          <a:xfrm>
            <a:off x="6126480" y="1417320"/>
            <a:ext cx="2651760" cy="731520"/>
          </a:xfrm>
          <a:prstGeom prst="rect">
            <a:avLst/>
          </a:prstGeom>
          <a:noFill/>
          <a:ln/>
        </p:spPr>
        <p:txBody>
          <a:bodyPr wrap="square" lIns="0" tIns="0" rIns="0" bIns="0" rtlCol="0" anchor="t"/>
          <a:lstStyle/>
          <a:p>
            <a:pPr marL="0" indent="0">
              <a:buNone/>
            </a:pPr>
            <a:r>
              <a:rPr lang="en-US" sz="3600" b="1" dirty="0">
                <a:solidFill>
                  <a:schemeClr val="tx2"/>
                </a:solidFill>
                <a:latin typeface="Cambria" pitchFamily="34" charset="0"/>
                <a:ea typeface="Cambria" pitchFamily="34" charset="-122"/>
                <a:cs typeface="Cambria" pitchFamily="34" charset="-120"/>
              </a:rPr>
              <a:t>47 ms</a:t>
            </a:r>
            <a:endParaRPr lang="en-US" sz="3600" dirty="0"/>
          </a:p>
        </p:txBody>
      </p:sp>
      <p:sp>
        <p:nvSpPr>
          <p:cNvPr id="8" name="texto-142"/>
          <p:cNvSpPr txBox="1"/>
          <p:nvPr/>
        </p:nvSpPr>
        <p:spPr>
          <a:xfrm>
            <a:off x="6126480" y="2194560"/>
            <a:ext cx="2651760" cy="365760"/>
          </a:xfrm>
          <a:prstGeom prst="rect">
            <a:avLst/>
          </a:prstGeom>
          <a:noFill/>
          <a:ln/>
        </p:spPr>
        <p:txBody>
          <a:bodyPr wrap="square" lIns="0" tIns="0" rIns="0" bIns="0" rtlCol="0" anchor="t"/>
          <a:lstStyle/>
          <a:p>
            <a:pPr marL="0" indent="0">
              <a:buNone/>
            </a:pPr>
            <a:r>
              <a:rPr lang="en-US" sz="1400" dirty="0">
                <a:solidFill>
                  <a:schemeClr val="accent4"/>
                </a:solidFill>
              </a:rPr>
              <a:t>peor página con 26 003 OT</a:t>
            </a:r>
            <a:endParaRPr lang="en-US" sz="1400" dirty="0"/>
          </a:p>
        </p:txBody>
      </p:sp>
      <p:sp>
        <p:nvSpPr>
          <p:cNvPr id="9" name="texto-143"/>
          <p:cNvSpPr txBox="1"/>
          <p:nvPr/>
        </p:nvSpPr>
        <p:spPr>
          <a:xfrm>
            <a:off x="8915400" y="1417320"/>
            <a:ext cx="2651760" cy="731520"/>
          </a:xfrm>
          <a:prstGeom prst="rect">
            <a:avLst/>
          </a:prstGeom>
          <a:noFill/>
          <a:ln/>
        </p:spPr>
        <p:txBody>
          <a:bodyPr wrap="square" lIns="0" tIns="0" rIns="0" bIns="0" rtlCol="0" anchor="t"/>
          <a:lstStyle/>
          <a:p>
            <a:pPr marL="0" indent="0">
              <a:buNone/>
            </a:pPr>
            <a:r>
              <a:rPr lang="en-US" sz="3600" b="1" dirty="0">
                <a:solidFill>
                  <a:schemeClr val="tx2"/>
                </a:solidFill>
                <a:latin typeface="Cambria" pitchFamily="34" charset="0"/>
                <a:ea typeface="Cambria" pitchFamily="34" charset="-122"/>
                <a:cs typeface="Cambria" pitchFamily="34" charset="-120"/>
              </a:rPr>
              <a:t>22,9 KB</a:t>
            </a:r>
            <a:endParaRPr lang="en-US" sz="3600" dirty="0"/>
          </a:p>
        </p:txBody>
      </p:sp>
      <p:sp>
        <p:nvSpPr>
          <p:cNvPr id="10" name="texto-144"/>
          <p:cNvSpPr txBox="1"/>
          <p:nvPr/>
        </p:nvSpPr>
        <p:spPr>
          <a:xfrm>
            <a:off x="8915400" y="2194560"/>
            <a:ext cx="2651760" cy="365760"/>
          </a:xfrm>
          <a:prstGeom prst="rect">
            <a:avLst/>
          </a:prstGeom>
          <a:noFill/>
          <a:ln/>
        </p:spPr>
        <p:txBody>
          <a:bodyPr wrap="square" lIns="0" tIns="0" rIns="0" bIns="0" rtlCol="0" anchor="t"/>
          <a:lstStyle/>
          <a:p>
            <a:pPr marL="0" indent="0">
              <a:buNone/>
            </a:pPr>
            <a:r>
              <a:rPr lang="en-US" sz="1400" dirty="0">
                <a:solidFill>
                  <a:schemeClr val="accent4"/>
                </a:solidFill>
              </a:rPr>
              <a:t>por página (antes 1,2 MB)</a:t>
            </a:r>
            <a:endParaRPr lang="en-US" sz="1400" dirty="0"/>
          </a:p>
        </p:txBody>
      </p:sp>
      <p:sp>
        <p:nvSpPr>
          <p:cNvPr id="11" name="texto-145"/>
          <p:cNvSpPr txBox="1"/>
          <p:nvPr/>
        </p:nvSpPr>
        <p:spPr>
          <a:xfrm>
            <a:off x="548640" y="2971800"/>
            <a:ext cx="6858000" cy="365760"/>
          </a:xfrm>
          <a:prstGeom prst="rect">
            <a:avLst/>
          </a:prstGeom>
          <a:noFill/>
          <a:ln/>
        </p:spPr>
        <p:txBody>
          <a:bodyPr wrap="square" lIns="0" tIns="0" rIns="0" bIns="0" rtlCol="0" anchor="t"/>
          <a:lstStyle/>
          <a:p>
            <a:pPr marL="0" indent="0">
              <a:buNone/>
            </a:pPr>
            <a:r>
              <a:rPr lang="en-US" sz="1600" b="1" dirty="0">
                <a:solidFill>
                  <a:schemeClr val="tx2"/>
                </a:solidFill>
              </a:rPr>
              <a:t>Pruebas por tipo</a:t>
            </a:r>
            <a:endParaRPr lang="en-US" sz="1600" dirty="0"/>
          </a:p>
        </p:txBody>
      </p:sp>
      <p:graphicFrame>
        <p:nvGraphicFramePr>
          <p:cNvPr id="12" name="grafico-146"/>
          <p:cNvGraphicFramePr/>
          <p:nvPr/>
        </p:nvGraphicFramePr>
        <p:xfrm>
          <a:off x="548640" y="3337560"/>
          <a:ext cx="6766560" cy="2651760"/>
        </p:xfrm>
        <a:graphic>
          <a:graphicData uri="http://schemas.openxmlformats.org/drawingml/2006/chart">
            <c:chart xmlns:c="http://schemas.openxmlformats.org/drawingml/2006/chart" xmlns:r="http://schemas.openxmlformats.org/officeDocument/2006/relationships" r:id="rId3"/>
          </a:graphicData>
        </a:graphic>
      </p:graphicFrame>
      <p:sp>
        <p:nvSpPr>
          <p:cNvPr id="13" name="tarjeta-147"/>
          <p:cNvSpPr/>
          <p:nvPr/>
        </p:nvSpPr>
        <p:spPr>
          <a:xfrm>
            <a:off x="7818120" y="2971800"/>
            <a:ext cx="3822192" cy="3017520"/>
          </a:xfrm>
          <a:prstGeom prst="roundRect">
            <a:avLst>
              <a:gd name="adj" fmla="val 3636"/>
            </a:avLst>
          </a:prstGeom>
          <a:solidFill>
            <a:schemeClr val="bg2"/>
          </a:solidFill>
          <a:ln w="12700">
            <a:solidFill>
              <a:schemeClr val="bg2"/>
            </a:solidFill>
            <a:prstDash val="solid"/>
          </a:ln>
        </p:spPr>
        <p:txBody>
          <a:bodyPr/>
          <a:lstStyle/>
          <a:p>
            <a:endParaRPr/>
          </a:p>
        </p:txBody>
      </p:sp>
      <p:sp>
        <p:nvSpPr>
          <p:cNvPr id="14" name="texto-148"/>
          <p:cNvSpPr txBox="1"/>
          <p:nvPr/>
        </p:nvSpPr>
        <p:spPr>
          <a:xfrm>
            <a:off x="8092440" y="3154680"/>
            <a:ext cx="3291840" cy="411480"/>
          </a:xfrm>
          <a:prstGeom prst="rect">
            <a:avLst/>
          </a:prstGeom>
          <a:noFill/>
          <a:ln/>
        </p:spPr>
        <p:txBody>
          <a:bodyPr wrap="square" lIns="0" tIns="0" rIns="0" bIns="0" rtlCol="0" anchor="t"/>
          <a:lstStyle/>
          <a:p>
            <a:pPr marL="0" indent="0">
              <a:buNone/>
            </a:pPr>
            <a:r>
              <a:rPr lang="en-US" sz="1800" b="1" dirty="0">
                <a:solidFill>
                  <a:schemeClr val="tx2"/>
                </a:solidFill>
              </a:rPr>
              <a:t>Además</a:t>
            </a:r>
            <a:endParaRPr lang="en-US" sz="1800" dirty="0"/>
          </a:p>
        </p:txBody>
      </p:sp>
      <p:sp>
        <p:nvSpPr>
          <p:cNvPr id="15" name="texto-149"/>
          <p:cNvSpPr txBox="1"/>
          <p:nvPr/>
        </p:nvSpPr>
        <p:spPr>
          <a:xfrm>
            <a:off x="8092440" y="3611880"/>
            <a:ext cx="3337560" cy="22860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Cobertura: dominio 97,6 %, aplicación 99,3 %, API 98,0 %</a:t>
            </a:r>
            <a:endParaRPr lang="en-US" sz="1400" dirty="0"/>
          </a:p>
          <a:p>
            <a:pPr marL="342900" indent="-342900">
              <a:spcAft>
                <a:spcPts val="600"/>
              </a:spcAft>
              <a:buSzPct val="100000"/>
              <a:buChar char="•"/>
            </a:pPr>
            <a:r>
              <a:rPr lang="en-US" sz="1400" dirty="0">
                <a:solidFill>
                  <a:schemeClr val="tx1"/>
                </a:solidFill>
              </a:rPr>
              <a:t>Sin paquetes vulnerables</a:t>
            </a:r>
            <a:endParaRPr lang="en-US" sz="1400" dirty="0"/>
          </a:p>
          <a:p>
            <a:pPr marL="342900" indent="-342900">
              <a:spcAft>
                <a:spcPts val="600"/>
              </a:spcAft>
              <a:buSzPct val="100000"/>
              <a:buChar char="•"/>
            </a:pPr>
            <a:r>
              <a:rPr lang="en-US" sz="1400" dirty="0">
                <a:solidFill>
                  <a:schemeClr val="tx1"/>
                </a:solidFill>
              </a:rPr>
              <a:t>Sin secretos en todo el historial de git</a:t>
            </a:r>
            <a:endParaRPr lang="en-US" sz="1400" dirty="0"/>
          </a:p>
          <a:p>
            <a:pPr marL="342900" indent="-342900">
              <a:spcAft>
                <a:spcPts val="600"/>
              </a:spcAft>
              <a:buSzPct val="100000"/>
              <a:buChar char="•"/>
            </a:pPr>
            <a:r>
              <a:rPr lang="en-US" sz="1400" dirty="0">
                <a:solidFill>
                  <a:schemeClr val="tx1"/>
                </a:solidFill>
              </a:rPr>
              <a:t>Clon limpio: compila, prueba y arranca</a:t>
            </a:r>
            <a:endParaRPr lang="en-US" sz="1400" dirty="0"/>
          </a:p>
          <a:p>
            <a:pPr marL="342900" indent="-342900">
              <a:spcAft>
                <a:spcPts val="600"/>
              </a:spcAft>
              <a:buSzPct val="100000"/>
              <a:buChar char="•"/>
            </a:pPr>
            <a:r>
              <a:rPr lang="en-US" sz="1400" dirty="0">
                <a:solidFill>
                  <a:schemeClr val="tx1"/>
                </a:solidFill>
              </a:rPr>
              <a:t>Sin Docker: ejecución con SQL Server local o LocalDB (ADR-007)</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r"/>
            <a:fld id="{F7021451-1387-4CA6-816F-3879F97B5CBC}" type="slidenum">
              <a:rPr lang="en-US" b="0"/>
              <a:t>8</a:t>
            </a:fld>
            <a:endParaRPr lang="en-US"/>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4415" cy="822960"/>
          </a:xfrm>
          <a:prstGeom prst="rect">
            <a:avLst/>
          </a:prstGeom>
          <a:noFill/>
          <a:ln/>
        </p:spPr>
        <p:txBody>
          <a:bodyPr wrap="square" lIns="0" tIns="0" rIns="0" bIns="0" rtlCol="0" anchor="ctr"/>
          <a:lstStyle/>
          <a:p>
            <a:pPr marL="0" indent="0">
              <a:buNone/>
            </a:pPr>
            <a:r>
              <a:rPr lang="en-US" sz="3400" b="1" dirty="0" err="1" smtClean="0">
                <a:solidFill>
                  <a:schemeClr val="tx2"/>
                </a:solidFill>
                <a:latin typeface="Cambria" pitchFamily="34" charset="0"/>
                <a:ea typeface="Cambria" pitchFamily="34" charset="-122"/>
                <a:cs typeface="Cambria" pitchFamily="34" charset="-120"/>
              </a:rPr>
              <a:t>Uso</a:t>
            </a:r>
            <a:r>
              <a:rPr lang="en-US" sz="3400" b="1" dirty="0" smtClean="0">
                <a:solidFill>
                  <a:schemeClr val="tx2"/>
                </a:solidFill>
                <a:latin typeface="Cambria" pitchFamily="34" charset="0"/>
                <a:ea typeface="Cambria" pitchFamily="34" charset="-122"/>
                <a:cs typeface="Cambria" pitchFamily="34" charset="-120"/>
              </a:rPr>
              <a:t> de la IA</a:t>
            </a:r>
            <a:br>
              <a:rPr lang="en-US" sz="3400" b="1" dirty="0" smtClean="0">
                <a:solidFill>
                  <a:schemeClr val="tx2"/>
                </a:solidFill>
                <a:latin typeface="Cambria" pitchFamily="34" charset="0"/>
                <a:ea typeface="Cambria" pitchFamily="34" charset="-122"/>
                <a:cs typeface="Cambria" pitchFamily="34" charset="-120"/>
              </a:rPr>
            </a:br>
            <a:r>
              <a:rPr lang="en-US" sz="3400" b="1" dirty="0" smtClean="0">
                <a:solidFill>
                  <a:schemeClr val="tx2"/>
                </a:solidFill>
                <a:latin typeface="Cambria" pitchFamily="34" charset="0"/>
                <a:ea typeface="Cambria" pitchFamily="34" charset="-122"/>
                <a:cs typeface="Cambria" pitchFamily="34" charset="-120"/>
              </a:rPr>
              <a:t>La </a:t>
            </a:r>
            <a:r>
              <a:rPr lang="en-US" sz="3400" b="1" dirty="0">
                <a:solidFill>
                  <a:schemeClr val="tx2"/>
                </a:solidFill>
                <a:latin typeface="Cambria" pitchFamily="34" charset="0"/>
                <a:ea typeface="Cambria" pitchFamily="34" charset="-122"/>
                <a:cs typeface="Cambria" pitchFamily="34" charset="-120"/>
              </a:rPr>
              <a:t>IA propone; la revisión decide</a:t>
            </a:r>
            <a:endParaRPr lang="en-US" sz="3400" dirty="0"/>
          </a:p>
        </p:txBody>
      </p:sp>
      <p:sp>
        <p:nvSpPr>
          <p:cNvPr id="3" name="texto-150"/>
          <p:cNvSpPr txBox="1"/>
          <p:nvPr/>
        </p:nvSpPr>
        <p:spPr>
          <a:xfrm>
            <a:off x="548640" y="1463040"/>
            <a:ext cx="2011680" cy="1097280"/>
          </a:xfrm>
          <a:prstGeom prst="rect">
            <a:avLst/>
          </a:prstGeom>
          <a:noFill/>
          <a:ln/>
        </p:spPr>
        <p:txBody>
          <a:bodyPr wrap="square" lIns="0" tIns="0" rIns="0" bIns="0" rtlCol="0" anchor="t"/>
          <a:lstStyle/>
          <a:p>
            <a:pPr marL="0" indent="0">
              <a:buNone/>
            </a:pPr>
            <a:r>
              <a:rPr lang="en-US" sz="6600" b="1" dirty="0">
                <a:solidFill>
                  <a:schemeClr val="tx2"/>
                </a:solidFill>
                <a:latin typeface="Cambria" pitchFamily="34" charset="0"/>
                <a:ea typeface="Cambria" pitchFamily="34" charset="-122"/>
                <a:cs typeface="Cambria" pitchFamily="34" charset="-120"/>
              </a:rPr>
              <a:t>16</a:t>
            </a:r>
            <a:endParaRPr lang="en-US" sz="6600" dirty="0"/>
          </a:p>
        </p:txBody>
      </p:sp>
      <p:sp>
        <p:nvSpPr>
          <p:cNvPr id="4" name="texto-151"/>
          <p:cNvSpPr txBox="1"/>
          <p:nvPr/>
        </p:nvSpPr>
        <p:spPr>
          <a:xfrm>
            <a:off x="548640" y="2606040"/>
            <a:ext cx="2194560" cy="1097280"/>
          </a:xfrm>
          <a:prstGeom prst="rect">
            <a:avLst/>
          </a:prstGeom>
          <a:noFill/>
          <a:ln/>
        </p:spPr>
        <p:txBody>
          <a:bodyPr wrap="square" lIns="0" tIns="0" rIns="0" bIns="0" rtlCol="0" anchor="t"/>
          <a:lstStyle/>
          <a:p>
            <a:pPr marL="0" indent="0">
              <a:buNone/>
            </a:pPr>
            <a:r>
              <a:rPr lang="en-US" sz="1400" dirty="0">
                <a:solidFill>
                  <a:schemeClr val="accent4"/>
                </a:solidFill>
              </a:rPr>
              <a:t>evidencias registradas: prompt, respuesta, cambio y decisión</a:t>
            </a:r>
            <a:endParaRPr lang="en-US" sz="1400" dirty="0"/>
          </a:p>
        </p:txBody>
      </p:sp>
      <p:sp>
        <p:nvSpPr>
          <p:cNvPr id="5" name="tarjeta-152"/>
          <p:cNvSpPr/>
          <p:nvPr/>
        </p:nvSpPr>
        <p:spPr>
          <a:xfrm>
            <a:off x="3108960" y="1463040"/>
            <a:ext cx="4023360" cy="2011680"/>
          </a:xfrm>
          <a:prstGeom prst="roundRect">
            <a:avLst>
              <a:gd name="adj" fmla="val 5455"/>
            </a:avLst>
          </a:prstGeom>
          <a:solidFill>
            <a:schemeClr val="bg2"/>
          </a:solidFill>
          <a:ln w="12700">
            <a:solidFill>
              <a:schemeClr val="bg2"/>
            </a:solidFill>
            <a:prstDash val="solid"/>
          </a:ln>
        </p:spPr>
        <p:txBody>
          <a:bodyPr/>
          <a:p/>
        </p:txBody>
      </p:sp>
      <p:sp>
        <p:nvSpPr>
          <p:cNvPr id="6" name="circulo-153"/>
          <p:cNvSpPr/>
          <p:nvPr/>
        </p:nvSpPr>
        <p:spPr>
          <a:xfrm>
            <a:off x="3383280" y="1737360"/>
            <a:ext cx="411480" cy="411480"/>
          </a:xfrm>
          <a:prstGeom prst="ellipse">
            <a:avLst/>
          </a:prstGeom>
          <a:solidFill>
            <a:schemeClr val="accent1"/>
          </a:solidFill>
          <a:ln w="12700">
            <a:solidFill>
              <a:schemeClr val="accent1"/>
            </a:solidFill>
            <a:prstDash val="solid"/>
          </a:ln>
        </p:spPr>
        <p:txBody>
          <a:bodyPr/>
          <a:p/>
        </p:txBody>
      </p:sp>
      <p:sp>
        <p:nvSpPr>
          <p:cNvPr id="7" name="num-154"/>
          <p:cNvSpPr txBox="1"/>
          <p:nvPr/>
        </p:nvSpPr>
        <p:spPr>
          <a:xfrm>
            <a:off x="3383280" y="1737360"/>
            <a:ext cx="411480" cy="411480"/>
          </a:xfrm>
          <a:prstGeom prst="rect">
            <a:avLst/>
          </a:prstGeom>
          <a:noFill/>
          <a:ln/>
        </p:spPr>
        <p:txBody>
          <a:bodyPr wrap="square" lIns="0" tIns="0" rIns="0" bIns="0" rtlCol="0" anchor="ctr"/>
          <a:lstStyle/>
          <a:p>
            <a:pPr marL="0" indent="0" algn="ctr">
              <a:buNone/>
            </a:pPr>
            <a:endParaRPr lang="en-US" sz="1600" dirty="0"/>
          </a:p>
        </p:txBody>
      </p:sp>
      <p:sp>
        <p:nvSpPr>
          <p:cNvPr id="8" name="texto-155"/>
          <p:cNvSpPr txBox="1"/>
          <p:nvPr/>
        </p:nvSpPr>
        <p:spPr>
          <a:xfrm>
            <a:off x="3977640" y="1719072"/>
            <a:ext cx="2926080" cy="457200"/>
          </a:xfrm>
          <a:prstGeom prst="rect">
            <a:avLst/>
          </a:prstGeom>
          <a:noFill/>
          <a:ln/>
        </p:spPr>
        <p:txBody>
          <a:bodyPr wrap="square" lIns="0" tIns="0" rIns="0" bIns="0" rtlCol="0" anchor="ctr"/>
          <a:lstStyle/>
          <a:p>
            <a:pPr marL="0" indent="0">
              <a:buNone/>
            </a:pPr>
            <a:r>
              <a:rPr lang="en-US" sz="1800" b="1" dirty="0">
                <a:solidFill>
                  <a:schemeClr val="tx2"/>
                </a:solidFill>
              </a:rPr>
              <a:t>Corregido</a:t>
            </a:r>
            <a:endParaRPr lang="en-US" sz="1800" dirty="0"/>
          </a:p>
        </p:txBody>
      </p:sp>
      <p:sp>
        <p:nvSpPr>
          <p:cNvPr id="9" name="texto-156"/>
          <p:cNvSpPr txBox="1"/>
          <p:nvPr/>
        </p:nvSpPr>
        <p:spPr>
          <a:xfrm>
            <a:off x="3383280" y="2331720"/>
            <a:ext cx="3520440" cy="1051560"/>
          </a:xfrm>
          <a:prstGeom prst="rect">
            <a:avLst/>
          </a:prstGeom>
          <a:noFill/>
          <a:ln/>
        </p:spPr>
        <p:txBody>
          <a:bodyPr wrap="square" lIns="0" tIns="0" rIns="0" bIns="0" rtlCol="0" anchor="t"/>
          <a:lstStyle/>
          <a:p>
            <a:pPr marL="0" indent="0">
              <a:buNone/>
            </a:pPr>
            <a:r>
              <a:rPr lang="en-US" sz="1400" dirty="0">
                <a:solidFill>
                  <a:schemeClr val="tx1"/>
                </a:solidFill>
              </a:rPr>
              <a:t>La IA concluyó que los procedimientos ausentes eran código sin uso; al aprobar un MP, la pantalla decía éxito y la base no cambiaba (evidencia 002).</a:t>
            </a:r>
            <a:endParaRPr lang="en-US" sz="1400" dirty="0"/>
          </a:p>
        </p:txBody>
      </p:sp>
      <p:sp>
        <p:nvSpPr>
          <p:cNvPr id="10" name="tarjeta-157"/>
          <p:cNvSpPr/>
          <p:nvPr/>
        </p:nvSpPr>
        <p:spPr>
          <a:xfrm>
            <a:off x="7406640" y="1463040"/>
            <a:ext cx="4023360" cy="2011680"/>
          </a:xfrm>
          <a:prstGeom prst="roundRect">
            <a:avLst>
              <a:gd name="adj" fmla="val 5455"/>
            </a:avLst>
          </a:prstGeom>
          <a:solidFill>
            <a:schemeClr val="bg2"/>
          </a:solidFill>
          <a:ln w="12700">
            <a:solidFill>
              <a:schemeClr val="bg2"/>
            </a:solidFill>
            <a:prstDash val="solid"/>
          </a:ln>
        </p:spPr>
        <p:txBody>
          <a:bodyPr/>
          <a:p/>
        </p:txBody>
      </p:sp>
      <p:sp>
        <p:nvSpPr>
          <p:cNvPr id="11" name="circulo-158"/>
          <p:cNvSpPr/>
          <p:nvPr/>
        </p:nvSpPr>
        <p:spPr>
          <a:xfrm>
            <a:off x="7680960" y="1737360"/>
            <a:ext cx="411480" cy="411480"/>
          </a:xfrm>
          <a:prstGeom prst="ellipse">
            <a:avLst/>
          </a:prstGeom>
          <a:solidFill>
            <a:schemeClr val="accent5"/>
          </a:solidFill>
          <a:ln w="12700">
            <a:solidFill>
              <a:schemeClr val="accent5"/>
            </a:solidFill>
            <a:prstDash val="solid"/>
          </a:ln>
        </p:spPr>
        <p:txBody>
          <a:bodyPr/>
          <a:p/>
        </p:txBody>
      </p:sp>
      <p:sp>
        <p:nvSpPr>
          <p:cNvPr id="12" name="num-159"/>
          <p:cNvSpPr txBox="1"/>
          <p:nvPr/>
        </p:nvSpPr>
        <p:spPr>
          <a:xfrm>
            <a:off x="7680960" y="1737360"/>
            <a:ext cx="411480" cy="411480"/>
          </a:xfrm>
          <a:prstGeom prst="rect">
            <a:avLst/>
          </a:prstGeom>
          <a:noFill/>
          <a:ln/>
        </p:spPr>
        <p:txBody>
          <a:bodyPr wrap="square" lIns="0" tIns="0" rIns="0" bIns="0" rtlCol="0" anchor="ctr"/>
          <a:lstStyle/>
          <a:p>
            <a:pPr marL="0" indent="0" algn="ctr">
              <a:buNone/>
            </a:pPr>
            <a:endParaRPr lang="en-US" sz="1600" dirty="0"/>
          </a:p>
        </p:txBody>
      </p:sp>
      <p:sp>
        <p:nvSpPr>
          <p:cNvPr id="13" name="texto-160"/>
          <p:cNvSpPr txBox="1"/>
          <p:nvPr/>
        </p:nvSpPr>
        <p:spPr>
          <a:xfrm>
            <a:off x="8275320" y="1719072"/>
            <a:ext cx="2926080" cy="457200"/>
          </a:xfrm>
          <a:prstGeom prst="rect">
            <a:avLst/>
          </a:prstGeom>
          <a:noFill/>
          <a:ln/>
        </p:spPr>
        <p:txBody>
          <a:bodyPr wrap="square" lIns="0" tIns="0" rIns="0" bIns="0" rtlCol="0" anchor="ctr"/>
          <a:lstStyle/>
          <a:p>
            <a:pPr marL="0" indent="0">
              <a:buNone/>
            </a:pPr>
            <a:r>
              <a:rPr lang="en-US" sz="1800" b="1" dirty="0">
                <a:solidFill>
                  <a:schemeClr val="tx2"/>
                </a:solidFill>
              </a:rPr>
              <a:t>Detectado</a:t>
            </a:r>
            <a:endParaRPr lang="en-US" sz="1800" dirty="0"/>
          </a:p>
        </p:txBody>
      </p:sp>
      <p:sp>
        <p:nvSpPr>
          <p:cNvPr id="14" name="texto-161"/>
          <p:cNvSpPr txBox="1"/>
          <p:nvPr/>
        </p:nvSpPr>
        <p:spPr>
          <a:xfrm>
            <a:off x="7680960" y="2331720"/>
            <a:ext cx="3520440" cy="1051560"/>
          </a:xfrm>
          <a:prstGeom prst="rect">
            <a:avLst/>
          </a:prstGeom>
          <a:noFill/>
          <a:ln/>
        </p:spPr>
        <p:txBody>
          <a:bodyPr wrap="square" lIns="0" tIns="0" rIns="0" bIns="0" rtlCol="0" anchor="t"/>
          <a:lstStyle/>
          <a:p>
            <a:pPr marL="0" indent="0">
              <a:buNone/>
            </a:pPr>
            <a:r>
              <a:rPr lang="en-US" sz="1400" dirty="0">
                <a:solidFill>
                  <a:schemeClr val="tx1"/>
                </a:solidFill>
              </a:rPr>
              <a:t>Una prueba concurrente falló: el error era de la prueba (fecha repetida), no del sistema. Se leyó el detalle antes de tocar código.</a:t>
            </a:r>
            <a:endParaRPr lang="en-US" sz="1400" dirty="0"/>
          </a:p>
        </p:txBody>
      </p:sp>
      <p:sp>
        <p:nvSpPr>
          <p:cNvPr id="15" name="tarjeta-162"/>
          <p:cNvSpPr/>
          <p:nvPr/>
        </p:nvSpPr>
        <p:spPr>
          <a:xfrm>
            <a:off x="3108960" y="3703320"/>
            <a:ext cx="4023360" cy="2011680"/>
          </a:xfrm>
          <a:prstGeom prst="roundRect">
            <a:avLst>
              <a:gd name="adj" fmla="val 5455"/>
            </a:avLst>
          </a:prstGeom>
          <a:solidFill>
            <a:schemeClr val="bg2"/>
          </a:solidFill>
          <a:ln w="12700">
            <a:solidFill>
              <a:schemeClr val="bg2"/>
            </a:solidFill>
            <a:prstDash val="solid"/>
          </a:ln>
        </p:spPr>
        <p:txBody>
          <a:bodyPr/>
          <a:p/>
        </p:txBody>
      </p:sp>
      <p:sp>
        <p:nvSpPr>
          <p:cNvPr id="16" name="circulo-163"/>
          <p:cNvSpPr/>
          <p:nvPr/>
        </p:nvSpPr>
        <p:spPr>
          <a:xfrm>
            <a:off x="3383280" y="3977640"/>
            <a:ext cx="411480" cy="411480"/>
          </a:xfrm>
          <a:prstGeom prst="ellipse">
            <a:avLst/>
          </a:prstGeom>
          <a:solidFill>
            <a:schemeClr val="accent2"/>
          </a:solidFill>
          <a:ln w="12700">
            <a:solidFill>
              <a:schemeClr val="accent2"/>
            </a:solidFill>
            <a:prstDash val="solid"/>
          </a:ln>
        </p:spPr>
        <p:txBody>
          <a:bodyPr/>
          <a:p/>
        </p:txBody>
      </p:sp>
      <p:sp>
        <p:nvSpPr>
          <p:cNvPr id="17" name="num-164"/>
          <p:cNvSpPr txBox="1"/>
          <p:nvPr/>
        </p:nvSpPr>
        <p:spPr>
          <a:xfrm>
            <a:off x="3383280" y="3977640"/>
            <a:ext cx="411480" cy="411480"/>
          </a:xfrm>
          <a:prstGeom prst="rect">
            <a:avLst/>
          </a:prstGeom>
          <a:noFill/>
          <a:ln/>
        </p:spPr>
        <p:txBody>
          <a:bodyPr wrap="square" lIns="0" tIns="0" rIns="0" bIns="0" rtlCol="0" anchor="ctr"/>
          <a:lstStyle/>
          <a:p>
            <a:pPr marL="0" indent="0" algn="ctr">
              <a:buNone/>
            </a:pPr>
            <a:endParaRPr lang="en-US" sz="1600" dirty="0"/>
          </a:p>
        </p:txBody>
      </p:sp>
      <p:sp>
        <p:nvSpPr>
          <p:cNvPr id="18" name="texto-165"/>
          <p:cNvSpPr txBox="1"/>
          <p:nvPr/>
        </p:nvSpPr>
        <p:spPr>
          <a:xfrm>
            <a:off x="3977640" y="3959352"/>
            <a:ext cx="2926080" cy="457200"/>
          </a:xfrm>
          <a:prstGeom prst="rect">
            <a:avLst/>
          </a:prstGeom>
          <a:noFill/>
          <a:ln/>
        </p:spPr>
        <p:txBody>
          <a:bodyPr wrap="square" lIns="0" tIns="0" rIns="0" bIns="0" rtlCol="0" anchor="ctr"/>
          <a:lstStyle/>
          <a:p>
            <a:pPr marL="0" indent="0">
              <a:buNone/>
            </a:pPr>
            <a:r>
              <a:rPr lang="en-US" sz="1800" b="1" dirty="0">
                <a:solidFill>
                  <a:schemeClr val="tx2"/>
                </a:solidFill>
              </a:rPr>
              <a:t>Verificado</a:t>
            </a:r>
            <a:endParaRPr lang="en-US" sz="1800" dirty="0"/>
          </a:p>
        </p:txBody>
      </p:sp>
      <p:sp>
        <p:nvSpPr>
          <p:cNvPr id="19" name="texto-166"/>
          <p:cNvSpPr txBox="1"/>
          <p:nvPr/>
        </p:nvSpPr>
        <p:spPr>
          <a:xfrm>
            <a:off x="3383280" y="4572000"/>
            <a:ext cx="3520440" cy="1051560"/>
          </a:xfrm>
          <a:prstGeom prst="rect">
            <a:avLst/>
          </a:prstGeom>
          <a:noFill/>
          <a:ln/>
        </p:spPr>
        <p:txBody>
          <a:bodyPr wrap="square" lIns="0" tIns="0" rIns="0" bIns="0" rtlCol="0" anchor="t"/>
          <a:lstStyle/>
          <a:p>
            <a:pPr marL="0" indent="0">
              <a:buNone/>
            </a:pPr>
            <a:r>
              <a:rPr lang="en-US" sz="1400" dirty="0">
                <a:solidFill>
                  <a:schemeClr val="tx1"/>
                </a:solidFill>
              </a:rPr>
              <a:t>Prueba de mutación: con el algoritmo del original la prueba falla. Así se sabe que la prueba sirve.</a:t>
            </a:r>
            <a:endParaRPr lang="en-US" sz="1400" dirty="0"/>
          </a:p>
        </p:txBody>
      </p:sp>
      <p:sp>
        <p:nvSpPr>
          <p:cNvPr id="20" name="tarjeta-167"/>
          <p:cNvSpPr/>
          <p:nvPr/>
        </p:nvSpPr>
        <p:spPr>
          <a:xfrm>
            <a:off x="7406640" y="3703320"/>
            <a:ext cx="4023360" cy="2011680"/>
          </a:xfrm>
          <a:prstGeom prst="roundRect">
            <a:avLst>
              <a:gd name="adj" fmla="val 5455"/>
            </a:avLst>
          </a:prstGeom>
          <a:solidFill>
            <a:schemeClr val="bg2"/>
          </a:solidFill>
          <a:ln w="12700">
            <a:solidFill>
              <a:schemeClr val="bg2"/>
            </a:solidFill>
            <a:prstDash val="solid"/>
          </a:ln>
        </p:spPr>
        <p:txBody>
          <a:bodyPr/>
          <a:p/>
        </p:txBody>
      </p:sp>
      <p:sp>
        <p:nvSpPr>
          <p:cNvPr id="21" name="circulo-168"/>
          <p:cNvSpPr/>
          <p:nvPr/>
        </p:nvSpPr>
        <p:spPr>
          <a:xfrm>
            <a:off x="7680960" y="3977640"/>
            <a:ext cx="411480" cy="411480"/>
          </a:xfrm>
          <a:prstGeom prst="ellipse">
            <a:avLst/>
          </a:prstGeom>
          <a:solidFill>
            <a:schemeClr val="accent3"/>
          </a:solidFill>
          <a:ln w="12700">
            <a:solidFill>
              <a:schemeClr val="accent3"/>
            </a:solidFill>
            <a:prstDash val="solid"/>
          </a:ln>
        </p:spPr>
        <p:txBody>
          <a:bodyPr/>
          <a:p/>
        </p:txBody>
      </p:sp>
      <p:sp>
        <p:nvSpPr>
          <p:cNvPr id="22" name="num-169"/>
          <p:cNvSpPr txBox="1"/>
          <p:nvPr/>
        </p:nvSpPr>
        <p:spPr>
          <a:xfrm>
            <a:off x="7680960" y="3977640"/>
            <a:ext cx="411480" cy="411480"/>
          </a:xfrm>
          <a:prstGeom prst="rect">
            <a:avLst/>
          </a:prstGeom>
          <a:noFill/>
          <a:ln/>
        </p:spPr>
        <p:txBody>
          <a:bodyPr wrap="square" lIns="0" tIns="0" rIns="0" bIns="0" rtlCol="0" anchor="ctr"/>
          <a:lstStyle/>
          <a:p>
            <a:pPr marL="0" indent="0" algn="ctr">
              <a:buNone/>
            </a:pPr>
            <a:endParaRPr lang="en-US" sz="1600" dirty="0"/>
          </a:p>
        </p:txBody>
      </p:sp>
      <p:sp>
        <p:nvSpPr>
          <p:cNvPr id="23" name="texto-170"/>
          <p:cNvSpPr txBox="1"/>
          <p:nvPr/>
        </p:nvSpPr>
        <p:spPr>
          <a:xfrm>
            <a:off x="8275320" y="3959352"/>
            <a:ext cx="2926080" cy="457200"/>
          </a:xfrm>
          <a:prstGeom prst="rect">
            <a:avLst/>
          </a:prstGeom>
          <a:noFill/>
          <a:ln/>
        </p:spPr>
        <p:txBody>
          <a:bodyPr wrap="square" lIns="0" tIns="0" rIns="0" bIns="0" rtlCol="0" anchor="ctr"/>
          <a:lstStyle/>
          <a:p>
            <a:pPr marL="0" indent="0">
              <a:buNone/>
            </a:pPr>
            <a:r>
              <a:rPr lang="en-US" sz="1800" b="1" dirty="0">
                <a:solidFill>
                  <a:schemeClr val="tx2"/>
                </a:solidFill>
              </a:rPr>
              <a:t>Rechazado</a:t>
            </a:r>
            <a:endParaRPr lang="en-US" sz="1800" dirty="0"/>
          </a:p>
        </p:txBody>
      </p:sp>
      <p:sp>
        <p:nvSpPr>
          <p:cNvPr id="24" name="texto-171"/>
          <p:cNvSpPr txBox="1"/>
          <p:nvPr/>
        </p:nvSpPr>
        <p:spPr>
          <a:xfrm>
            <a:off x="7680960" y="4572000"/>
            <a:ext cx="3520440" cy="1051560"/>
          </a:xfrm>
          <a:prstGeom prst="rect">
            <a:avLst/>
          </a:prstGeom>
          <a:noFill/>
          <a:ln/>
        </p:spPr>
        <p:txBody>
          <a:bodyPr wrap="square" lIns="0" tIns="0" rIns="0" bIns="0" rtlCol="0" anchor="t"/>
          <a:lstStyle/>
          <a:p>
            <a:pPr marL="0" indent="0">
              <a:buNone/>
            </a:pPr>
            <a:r>
              <a:rPr lang="en-US" sz="1400" dirty="0">
                <a:solidFill>
                  <a:schemeClr val="tx1"/>
                </a:solidFill>
              </a:rPr>
              <a:t>La IA recomendó conservar docker/ sin ejecutarlo; elegí quitarlo: no se afirma lo que no se probó (evidencia 015).</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r"/>
            <a:fld id="{F7021451-1387-4CA6-816F-3879F97B5CBC}" type="slidenum">
              <a:rPr lang="en-US" b="0"/>
              <a:t>9</a:t>
            </a:fld>
            <a:endParaRPr lang="en-US"/>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4415" cy="822960"/>
          </a:xfrm>
          <a:prstGeom prst="rect">
            <a:avLst/>
          </a:prstGeom>
          <a:noFill/>
          <a:ln/>
        </p:spPr>
        <p:txBody>
          <a:bodyPr wrap="square" lIns="0" tIns="0" rIns="0" bIns="0" rtlCol="0" anchor="ctr"/>
          <a:lstStyle/>
          <a:p>
            <a:pPr marL="0" indent="0">
              <a:buNone/>
            </a:pPr>
            <a:r>
              <a:rPr lang="en-US" sz="3400" b="1" dirty="0" smtClean="0">
                <a:solidFill>
                  <a:schemeClr val="tx2"/>
                </a:solidFill>
                <a:latin typeface="Cambria" pitchFamily="34" charset="0"/>
                <a:ea typeface="Cambria" pitchFamily="34" charset="-122"/>
                <a:cs typeface="Cambria" pitchFamily="34" charset="-120"/>
              </a:rPr>
              <a:t>Prompt y Diff</a:t>
            </a:r>
            <a:br>
              <a:rPr lang="en-US" sz="3400" b="1" dirty="0" smtClean="0">
                <a:solidFill>
                  <a:schemeClr val="tx2"/>
                </a:solidFill>
                <a:latin typeface="Cambria" pitchFamily="34" charset="0"/>
                <a:ea typeface="Cambria" pitchFamily="34" charset="-122"/>
                <a:cs typeface="Cambria" pitchFamily="34" charset="-120"/>
              </a:rPr>
            </a:br>
            <a:r>
              <a:rPr lang="en-US" sz="3400" b="1" dirty="0" smtClean="0">
                <a:solidFill>
                  <a:schemeClr val="tx2"/>
                </a:solidFill>
                <a:latin typeface="Cambria" pitchFamily="34" charset="0"/>
                <a:ea typeface="Cambria" pitchFamily="34" charset="-122"/>
                <a:cs typeface="Cambria" pitchFamily="34" charset="-120"/>
              </a:rPr>
              <a:t>Un </a:t>
            </a:r>
            <a:r>
              <a:rPr lang="en-US" sz="3400" b="1" dirty="0">
                <a:solidFill>
                  <a:schemeClr val="tx2"/>
                </a:solidFill>
                <a:latin typeface="Cambria" pitchFamily="34" charset="0"/>
                <a:ea typeface="Cambria" pitchFamily="34" charset="-122"/>
                <a:cs typeface="Cambria" pitchFamily="34" charset="-120"/>
              </a:rPr>
              <a:t>prompt corto funciona cuando la spec es el contexto</a:t>
            </a:r>
            <a:endParaRPr lang="en-US" sz="3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r"/>
            <a:fld id="{F7021451-1387-4CA6-816F-3879F97B5CBC}" type="slidenum">
              <a:rPr lang="en-US" b="0"/>
              <a:t>10</a:t>
            </a:fld>
            <a:endParaRPr lang="en-US"/>
          </a:p>
        </p:txBody>
      </p:sp>
      <p:sp>
        <p:nvSpPr>
          <p:cNvPr id="5" name="tarjeta-310"/>
          <p:cNvSpPr/>
          <p:nvPr/>
        </p:nvSpPr>
        <p:spPr>
          <a:xfrm>
            <a:off x="548640" y="1463040"/>
            <a:ext cx="4206240" cy="2148840"/>
          </a:xfrm>
          <a:prstGeom prst="roundRect">
            <a:avLst>
              <a:gd name="adj" fmla="val 5455"/>
            </a:avLst>
          </a:prstGeom>
          <a:solidFill>
            <a:schemeClr val="bg2"/>
          </a:solidFill>
          <a:ln w="12700">
            <a:solidFill>
              <a:schemeClr val="bg2"/>
            </a:solidFill>
            <a:prstDash val="solid"/>
          </a:ln>
        </p:spPr>
        <p:txBody>
          <a:bodyPr/>
          <a:p/>
        </p:txBody>
      </p:sp>
      <p:sp>
        <p:nvSpPr>
          <p:cNvPr id="8" name="texto-311"/>
          <p:cNvSpPr txBox="1"/>
          <p:nvPr/>
        </p:nvSpPr>
        <p:spPr>
          <a:xfrm>
            <a:off x="822960" y="1645920"/>
            <a:ext cx="3657600" cy="457200"/>
          </a:xfrm>
          <a:prstGeom prst="rect">
            <a:avLst/>
          </a:prstGeom>
          <a:noFill/>
          <a:ln/>
        </p:spPr>
        <p:txBody>
          <a:bodyPr wrap="square" lIns="0" tIns="0" rIns="0" bIns="0" rtlCol="0" anchor="ctr"/>
          <a:lstStyle/>
          <a:p>
            <a:pPr marL="0" indent="0">
              <a:buNone/>
            </a:pPr>
            <a:r>
              <a:rPr lang="en-US" sz="1800" b="1" dirty="0">
                <a:solidFill>
                  <a:schemeClr val="tx2"/>
                </a:solidFill>
              </a:rPr>
              <a:t>Prompt</a:t>
            </a:r>
            <a:endParaRPr lang="en-US" sz="1800" dirty="0"/>
          </a:p>
        </p:txBody>
      </p:sp>
      <p:sp>
        <p:nvSpPr>
          <p:cNvPr id="3" name="texto-312"/>
          <p:cNvSpPr txBox="1"/>
          <p:nvPr/>
        </p:nvSpPr>
        <p:spPr>
          <a:xfrm>
            <a:off x="822960" y="2057400"/>
            <a:ext cx="3657600" cy="822960"/>
          </a:xfrm>
          <a:prstGeom prst="rect">
            <a:avLst/>
          </a:prstGeom>
          <a:noFill/>
          <a:ln/>
        </p:spPr>
        <p:txBody>
          <a:bodyPr wrap="square" lIns="0" tIns="0" rIns="0" bIns="0" rtlCol="0" anchor="t"/>
          <a:lstStyle/>
          <a:p>
            <a:pPr marL="0" indent="0">
              <a:buNone/>
            </a:pPr>
            <a:r>
              <a:rPr lang="en-US" sz="4000" b="1" dirty="0">
                <a:solidFill>
                  <a:schemeClr val="tx2"/>
                </a:solidFill>
                <a:latin typeface="Cambria" pitchFamily="34" charset="0"/>
                <a:ea typeface="Cambria" pitchFamily="34" charset="-122"/>
                <a:cs typeface="Cambria" pitchFamily="34" charset="-120"/>
              </a:rPr>
              <a:t>«si»</a:t>
            </a:r>
            <a:endParaRPr lang="en-US" sz="6600" dirty="0"/>
          </a:p>
        </p:txBody>
      </p:sp>
      <p:sp>
        <p:nvSpPr>
          <p:cNvPr id="9" name="texto-313"/>
          <p:cNvSpPr txBox="1"/>
          <p:nvPr/>
        </p:nvSpPr>
        <p:spPr>
          <a:xfrm>
            <a:off x="822960" y="2834640"/>
            <a:ext cx="3749039" cy="731520"/>
          </a:xfrm>
          <a:prstGeom prst="rect">
            <a:avLst/>
          </a:prstGeom>
          <a:noFill/>
          <a:ln/>
        </p:spPr>
        <p:txBody>
          <a:bodyPr wrap="square" lIns="0" tIns="0" rIns="0" bIns="0" rtlCol="0" anchor="t"/>
          <a:lstStyle/>
          <a:p>
            <a:pPr marL="0" indent="0">
              <a:buNone/>
            </a:pPr>
            <a:r>
              <a:rPr lang="en-US" sz="1400" dirty="0">
                <a:solidFill>
                  <a:schemeClr val="tx1"/>
                </a:solidFill>
              </a:rPr>
              <a:t>Seguir con RF-07. Nada más: el resto ya estaba escrito.</a:t>
            </a:r>
            <a:endParaRPr lang="en-US" sz="1400" dirty="0"/>
          </a:p>
        </p:txBody>
      </p:sp>
      <p:sp>
        <p:nvSpPr>
          <p:cNvPr id="4" name="tarjeta-314"/>
          <p:cNvSpPr/>
          <p:nvPr/>
        </p:nvSpPr>
        <p:spPr>
          <a:xfrm>
            <a:off x="548640" y="3794760"/>
            <a:ext cx="4206240" cy="2148840"/>
          </a:xfrm>
          <a:prstGeom prst="roundRect">
            <a:avLst>
              <a:gd name="adj" fmla="val 5455"/>
            </a:avLst>
          </a:prstGeom>
          <a:solidFill>
            <a:schemeClr val="bg2"/>
          </a:solidFill>
          <a:ln w="12700">
            <a:solidFill>
              <a:schemeClr val="bg2"/>
            </a:solidFill>
            <a:prstDash val="solid"/>
          </a:ln>
        </p:spPr>
        <p:txBody>
          <a:bodyPr/>
          <a:p/>
        </p:txBody>
      </p:sp>
      <p:sp>
        <p:nvSpPr>
          <p:cNvPr id="6" name="texto-315"/>
          <p:cNvSpPr txBox="1"/>
          <p:nvPr/>
        </p:nvSpPr>
        <p:spPr>
          <a:xfrm>
            <a:off x="822960" y="3977639"/>
            <a:ext cx="3657600" cy="457200"/>
          </a:xfrm>
          <a:prstGeom prst="rect">
            <a:avLst/>
          </a:prstGeom>
          <a:noFill/>
          <a:ln/>
        </p:spPr>
        <p:txBody>
          <a:bodyPr wrap="square" lIns="0" tIns="0" rIns="0" bIns="0" rtlCol="0" anchor="ctr"/>
          <a:lstStyle/>
          <a:p>
            <a:pPr marL="0" indent="0">
              <a:buNone/>
            </a:pPr>
            <a:r>
              <a:rPr lang="en-US" sz="1800" b="1" dirty="0">
                <a:solidFill>
                  <a:schemeClr val="tx2"/>
                </a:solidFill>
              </a:rPr>
              <a:t>Contexto que leyó</a:t>
            </a:r>
            <a:endParaRPr lang="en-US" sz="1800" dirty="0"/>
          </a:p>
        </p:txBody>
      </p:sp>
      <p:sp>
        <p:nvSpPr>
          <p:cNvPr id="7" name="texto-316"/>
          <p:cNvSpPr txBox="1"/>
          <p:nvPr/>
        </p:nvSpPr>
        <p:spPr>
          <a:xfrm>
            <a:off x="822960" y="4480560"/>
            <a:ext cx="3749039" cy="1371600"/>
          </a:xfrm>
          <a:prstGeom prst="rect">
            <a:avLst/>
          </a:prstGeom>
          <a:noFill/>
          <a:ln/>
        </p:spPr>
        <p:txBody>
          <a:bodyPr wrap="square" lIns="0" tIns="0" rIns="0" bIns="0" rtlCol="0" anchor="t"/>
          <a:lstStyle/>
          <a:p>
            <a:pPr marL="0" indent="0">
              <a:buNone/>
            </a:pPr>
            <a:r>
              <a:rPr lang="en-US" sz="1400" dirty="0">
                <a:solidFill>
                  <a:schemeClr val="tx1"/>
                </a:solidFill>
              </a:rPr>
              <a:t>modelo.md §4: correlativo con UPDLOCK</a:t>
            </a:r>
            <a:endParaRPr lang="en-US" sz="1400" dirty="0"/>
          </a:p>
          <a:p>
            <a:pPr marL="0" indent="0">
              <a:buNone/>
            </a:pPr>
            <a:r>
              <a:rPr lang="en-US" sz="1400" dirty="0">
                <a:solidFill>
                  <a:schemeClr val="tx1"/>
                </a:solidFill>
              </a:rPr>
              <a:t>ADR-001: EF Core y transacción</a:t>
            </a:r>
            <a:endParaRPr lang="en-US" sz="1400" dirty="0"/>
          </a:p>
          <a:p>
            <a:pPr marL="0" indent="0">
              <a:buNone/>
            </a:pPr>
            <a:r>
              <a:rPr lang="en-US" sz="1400" dirty="0">
                <a:solidFill>
                  <a:schemeClr val="tx1"/>
                </a:solidFill>
              </a:rPr>
              <a:t>RN-30 a RN-35 y RNF-02</a:t>
            </a:r>
            <a:endParaRPr lang="en-US" sz="1400" dirty="0"/>
          </a:p>
        </p:txBody>
      </p:sp>
      <p:sp>
        <p:nvSpPr>
          <p:cNvPr id="10" name="tarjeta-320"/>
          <p:cNvSpPr/>
          <p:nvPr/>
        </p:nvSpPr>
        <p:spPr>
          <a:xfrm>
            <a:off x="5029200" y="1463040"/>
            <a:ext cx="6611112" cy="2148840"/>
          </a:xfrm>
          <a:prstGeom prst="roundRect">
            <a:avLst>
              <a:gd name="adj" fmla="val 5455"/>
            </a:avLst>
          </a:prstGeom>
          <a:solidFill>
            <a:srgbClr val="143740"/>
          </a:solidFill>
          <a:ln w="12700">
            <a:solidFill>
              <a:schemeClr val="bg2"/>
            </a:solidFill>
            <a:prstDash val="solid"/>
          </a:ln>
        </p:spPr>
        <p:txBody>
          <a:bodyPr/>
          <a:p/>
        </p:txBody>
      </p:sp>
      <p:sp>
        <p:nvSpPr>
          <p:cNvPr id="11" name="texto-321"/>
          <p:cNvSpPr txBox="1"/>
          <p:nvPr/>
        </p:nvSpPr>
        <p:spPr>
          <a:xfrm>
            <a:off x="5303520" y="1600200"/>
            <a:ext cx="6035040" cy="411480"/>
          </a:xfrm>
          <a:prstGeom prst="rect">
            <a:avLst/>
          </a:prstGeom>
          <a:noFill/>
          <a:ln/>
        </p:spPr>
        <p:txBody>
          <a:bodyPr wrap="square" lIns="0" tIns="0" rIns="0" bIns="0" rtlCol="0" anchor="ctr"/>
          <a:lstStyle/>
          <a:p>
            <a:pPr marL="0" indent="0">
              <a:buNone/>
            </a:pPr>
            <a:r>
              <a:rPr lang="en-US" sz="1300" b="1" dirty="0">
                <a:solidFill>
                  <a:srgbClr val="F4A641"/>
                </a:solidFill>
              </a:rPr>
              <a:t>Código propuesto · Transacciones.cs (commit 1445bfe: 10 archivos, +407 −2)</a:t>
            </a:r>
            <a:endParaRPr lang="en-US" sz="1800" dirty="0"/>
          </a:p>
        </p:txBody>
      </p:sp>
      <p:sp>
        <p:nvSpPr>
          <p:cNvPr id="12" name="texto-322"/>
          <p:cNvSpPr txBox="1"/>
          <p:nvPr/>
        </p:nvSpPr>
        <p:spPr>
          <a:xfrm>
            <a:off x="5303520" y="2057400"/>
            <a:ext cx="6126480" cy="1463040"/>
          </a:xfrm>
          <a:prstGeom prst="rect">
            <a:avLst/>
          </a:prstGeom>
          <a:noFill/>
          <a:ln/>
        </p:spPr>
        <p:txBody>
          <a:bodyPr wrap="square" lIns="0" tIns="0" rIns="0" bIns="0" rtlCol="0" anchor="t"/>
          <a:lstStyle/>
          <a:p>
            <a:pPr marL="0" indent="0">
              <a:buNone/>
            </a:pPr>
            <a:r>
              <a:rPr lang="en-US" sz="1500" dirty="0">
                <a:solidFill>
                  <a:srgbClr val="FFFFFF"/>
                </a:solidFill>
                <a:latin typeface="Consolas"/>
              </a:rPr>
              <a:t>UPDATE [sisman].[Correlativo] WITH (UPDLOCK, ROWLOCK)</a:t>
            </a:r>
            <a:endParaRPr lang="en-US" sz="1400" dirty="0"/>
          </a:p>
          <a:p>
            <a:pPr marL="0" indent="0">
              <a:buNone/>
            </a:pPr>
            <a:r>
              <a:rPr lang="en-US" sz="1500" dirty="0">
                <a:solidFill>
                  <a:srgbClr val="FFFFFF"/>
                </a:solidFill>
                <a:latin typeface="Consolas"/>
              </a:rPr>
              <a:t>   SET [UltimoValor] = [UltimoValor] + 1</a:t>
            </a:r>
            <a:endParaRPr lang="en-US" sz="1400" dirty="0"/>
          </a:p>
          <a:p>
            <a:pPr marL="0" indent="0">
              <a:buNone/>
            </a:pPr>
            <a:r>
              <a:rPr lang="en-US" sz="1500" dirty="0">
                <a:solidFill>
                  <a:srgbClr val="FFFFFF"/>
                </a:solidFill>
                <a:latin typeface="Consolas"/>
              </a:rPr>
              <a:t>OUTPUT inserted.[UltimoValor]</a:t>
            </a:r>
            <a:endParaRPr lang="en-US" sz="1400" dirty="0"/>
          </a:p>
          <a:p>
            <a:pPr marL="0" indent="0">
              <a:buNone/>
            </a:pPr>
            <a:r>
              <a:rPr lang="en-US" sz="1500" dirty="0">
                <a:solidFill>
                  <a:srgbClr val="FFFFFF"/>
                </a:solidFill>
                <a:latin typeface="Consolas"/>
              </a:rPr>
              <a:t> WHERE [Nombre] = {correlativo}</a:t>
            </a:r>
            <a:endParaRPr lang="en-US" sz="1400" dirty="0"/>
          </a:p>
        </p:txBody>
      </p:sp>
      <p:sp>
        <p:nvSpPr>
          <p:cNvPr id="13" name="tarjeta-323"/>
          <p:cNvSpPr/>
          <p:nvPr/>
        </p:nvSpPr>
        <p:spPr>
          <a:xfrm>
            <a:off x="5029200" y="3794760"/>
            <a:ext cx="6611112" cy="2148840"/>
          </a:xfrm>
          <a:prstGeom prst="roundRect">
            <a:avLst>
              <a:gd name="adj" fmla="val 5455"/>
            </a:avLst>
          </a:prstGeom>
          <a:solidFill>
            <a:schemeClr val="bg2"/>
          </a:solidFill>
          <a:ln w="12700">
            <a:solidFill>
              <a:schemeClr val="bg2"/>
            </a:solidFill>
            <a:prstDash val="solid"/>
          </a:ln>
        </p:spPr>
        <p:txBody>
          <a:bodyPr/>
          <a:p/>
        </p:txBody>
      </p:sp>
      <p:sp>
        <p:nvSpPr>
          <p:cNvPr id="18" name="texto-324"/>
          <p:cNvSpPr txBox="1"/>
          <p:nvPr/>
        </p:nvSpPr>
        <p:spPr>
          <a:xfrm>
            <a:off x="5303520" y="3977639"/>
            <a:ext cx="6035040" cy="457200"/>
          </a:xfrm>
          <a:prstGeom prst="rect">
            <a:avLst/>
          </a:prstGeom>
          <a:noFill/>
          <a:ln/>
        </p:spPr>
        <p:txBody>
          <a:bodyPr wrap="square" lIns="0" tIns="0" rIns="0" bIns="0" rtlCol="0" anchor="ctr"/>
          <a:lstStyle/>
          <a:p>
            <a:pPr marL="0" indent="0">
              <a:buNone/>
            </a:pPr>
            <a:r>
              <a:rPr lang="en-US" sz="1800" b="1" dirty="0">
                <a:solidFill>
                  <a:schemeClr val="tx2"/>
                </a:solidFill>
              </a:rPr>
              <a:t>Revisión humana</a:t>
            </a:r>
            <a:endParaRPr lang="en-US" sz="1800" dirty="0"/>
          </a:p>
        </p:txBody>
      </p:sp>
      <p:sp>
        <p:nvSpPr>
          <p:cNvPr id="19" name="texto-325"/>
          <p:cNvSpPr txBox="1"/>
          <p:nvPr/>
        </p:nvSpPr>
        <p:spPr>
          <a:xfrm>
            <a:off x="5303520" y="4480560"/>
            <a:ext cx="6126480" cy="1280160"/>
          </a:xfrm>
          <a:prstGeom prst="rect">
            <a:avLst/>
          </a:prstGeom>
          <a:noFill/>
          <a:ln/>
        </p:spPr>
        <p:txBody>
          <a:bodyPr wrap="square" lIns="0" tIns="0" rIns="0" bIns="0" rtlCol="0" anchor="t"/>
          <a:lstStyle/>
          <a:p>
            <a:pPr marL="0" indent="0">
              <a:buNone/>
            </a:pPr>
            <a:r>
              <a:rPr lang="en-US" sz="1400" dirty="0">
                <a:solidFill>
                  <a:schemeClr val="tx1"/>
                </a:solidFill>
              </a:rPr>
              <a:t>Revisé el diff del commit 1445bfe. Prueba de mutación: con la forma del original (leer y luego actualizar), 19 de 20 solicitudes fallaron; restaurado, 20 de 20.</a:t>
            </a:r>
            <a:endParaRPr lang="en-US" sz="1400"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4415" cy="822960"/>
          </a:xfrm>
          <a:prstGeom prst="rect">
            <a:avLst/>
          </a:prstGeom>
          <a:noFill/>
          <a:ln/>
        </p:spPr>
        <p:txBody>
          <a:bodyPr wrap="square" lIns="0" tIns="0" rIns="0" bIns="0" rtlCol="0" anchor="ctr"/>
          <a:lstStyle/>
          <a:p>
            <a:pPr marL="0" indent="0">
              <a:buNone/>
            </a:pPr>
            <a:r>
              <a:rPr lang="en-US" sz="3400" b="1" dirty="0">
                <a:solidFill>
                  <a:schemeClr val="tx2"/>
                </a:solidFill>
                <a:latin typeface="Cambria" pitchFamily="34" charset="0"/>
                <a:ea typeface="Cambria" pitchFamily="34" charset="-122"/>
                <a:cs typeface="Cambria" pitchFamily="34" charset="-120"/>
              </a:rPr>
              <a:t>Demo: el flujo completo en 5 minutos</a:t>
            </a:r>
            <a:endParaRPr lang="en-US" sz="3400" dirty="0"/>
          </a:p>
        </p:txBody>
      </p:sp>
      <p:sp>
        <p:nvSpPr>
          <p:cNvPr id="3" name="circulo-172"/>
          <p:cNvSpPr/>
          <p:nvPr/>
        </p:nvSpPr>
        <p:spPr>
          <a:xfrm>
            <a:off x="548640" y="1554480"/>
            <a:ext cx="594360" cy="594360"/>
          </a:xfrm>
          <a:prstGeom prst="ellipse">
            <a:avLst/>
          </a:prstGeom>
          <a:solidFill>
            <a:schemeClr val="accent1"/>
          </a:solidFill>
          <a:ln w="12700">
            <a:solidFill>
              <a:schemeClr val="accent1"/>
            </a:solidFill>
            <a:prstDash val="solid"/>
          </a:ln>
        </p:spPr>
        <p:txBody>
          <a:bodyPr/>
          <a:p/>
        </p:txBody>
      </p:sp>
      <p:sp>
        <p:nvSpPr>
          <p:cNvPr id="4" name="num-173"/>
          <p:cNvSpPr txBox="1"/>
          <p:nvPr/>
        </p:nvSpPr>
        <p:spPr>
          <a:xfrm>
            <a:off x="548640" y="1554480"/>
            <a:ext cx="594360" cy="594360"/>
          </a:xfrm>
          <a:prstGeom prst="rect">
            <a:avLst/>
          </a:prstGeom>
          <a:noFill/>
          <a:ln/>
        </p:spPr>
        <p:txBody>
          <a:bodyPr wrap="square" lIns="0" tIns="0" rIns="0" bIns="0" rtlCol="0" anchor="ctr"/>
          <a:lstStyle/>
          <a:p>
            <a:pPr marL="0" indent="0" algn="ctr">
              <a:buNone/>
            </a:pPr>
            <a:r>
              <a:rPr lang="en-US" sz="1600" b="1" dirty="0">
                <a:solidFill>
                  <a:schemeClr val="tx2"/>
                </a:solidFill>
              </a:rPr>
              <a:t>1</a:t>
            </a:r>
            <a:endParaRPr lang="en-US" sz="1600" dirty="0"/>
          </a:p>
        </p:txBody>
      </p:sp>
      <p:sp>
        <p:nvSpPr>
          <p:cNvPr id="5" name="texto-174"/>
          <p:cNvSpPr txBox="1"/>
          <p:nvPr/>
        </p:nvSpPr>
        <p:spPr>
          <a:xfrm>
            <a:off x="1371600" y="1600200"/>
            <a:ext cx="4754880" cy="548640"/>
          </a:xfrm>
          <a:prstGeom prst="rect">
            <a:avLst/>
          </a:prstGeom>
          <a:noFill/>
          <a:ln/>
        </p:spPr>
        <p:txBody>
          <a:bodyPr wrap="square" lIns="0" tIns="0" rIns="0" bIns="0" rtlCol="0" anchor="ctr"/>
          <a:lstStyle/>
          <a:p>
            <a:pPr marL="0" indent="0">
              <a:buNone/>
            </a:pPr>
            <a:r>
              <a:rPr lang="en-US" sz="1600" dirty="0">
                <a:solidFill>
                  <a:schemeClr val="tx1"/>
                </a:solidFill>
              </a:rPr>
              <a:t>Swagger: las 16 operaciones de la API, protegidas con JWT</a:t>
            </a:r>
            <a:endParaRPr lang="en-US" sz="1600" dirty="0"/>
          </a:p>
        </p:txBody>
      </p:sp>
      <p:sp>
        <p:nvSpPr>
          <p:cNvPr id="6" name="circulo-175"/>
          <p:cNvSpPr/>
          <p:nvPr/>
        </p:nvSpPr>
        <p:spPr>
          <a:xfrm>
            <a:off x="548640" y="2560320"/>
            <a:ext cx="594360" cy="594360"/>
          </a:xfrm>
          <a:prstGeom prst="ellipse">
            <a:avLst/>
          </a:prstGeom>
          <a:solidFill>
            <a:schemeClr val="accent1"/>
          </a:solidFill>
          <a:ln w="12700">
            <a:solidFill>
              <a:schemeClr val="accent1"/>
            </a:solidFill>
            <a:prstDash val="solid"/>
          </a:ln>
        </p:spPr>
        <p:txBody>
          <a:bodyPr/>
          <a:p/>
        </p:txBody>
      </p:sp>
      <p:sp>
        <p:nvSpPr>
          <p:cNvPr id="7" name="num-176"/>
          <p:cNvSpPr txBox="1"/>
          <p:nvPr/>
        </p:nvSpPr>
        <p:spPr>
          <a:xfrm>
            <a:off x="548640" y="2560320"/>
            <a:ext cx="594360" cy="594360"/>
          </a:xfrm>
          <a:prstGeom prst="rect">
            <a:avLst/>
          </a:prstGeom>
          <a:noFill/>
          <a:ln/>
        </p:spPr>
        <p:txBody>
          <a:bodyPr wrap="square" lIns="0" tIns="0" rIns="0" bIns="0" rtlCol="0" anchor="ctr"/>
          <a:lstStyle/>
          <a:p>
            <a:pPr marL="0" indent="0" algn="ctr">
              <a:buNone/>
            </a:pPr>
            <a:r>
              <a:rPr lang="en-US" sz="1600" b="1" dirty="0">
                <a:solidFill>
                  <a:schemeClr val="tx2"/>
                </a:solidFill>
              </a:rPr>
              <a:t>2</a:t>
            </a:r>
            <a:endParaRPr lang="en-US" sz="1600" dirty="0"/>
          </a:p>
        </p:txBody>
      </p:sp>
      <p:sp>
        <p:nvSpPr>
          <p:cNvPr id="8" name="texto-177"/>
          <p:cNvSpPr txBox="1"/>
          <p:nvPr/>
        </p:nvSpPr>
        <p:spPr>
          <a:xfrm>
            <a:off x="1371600" y="2606040"/>
            <a:ext cx="4754880" cy="548640"/>
          </a:xfrm>
          <a:prstGeom prst="rect">
            <a:avLst/>
          </a:prstGeom>
          <a:noFill/>
          <a:ln/>
        </p:spPr>
        <p:txBody>
          <a:bodyPr wrap="square" lIns="0" tIns="0" rIns="0" bIns="0" rtlCol="0" anchor="ctr"/>
          <a:lstStyle/>
          <a:p>
            <a:pPr marL="0" indent="0">
              <a:buNone/>
            </a:pPr>
            <a:r>
              <a:rPr lang="en-US" sz="1600" dirty="0">
                <a:solidFill>
                  <a:schemeClr val="tx1"/>
                </a:solidFill>
              </a:rPr>
              <a:t>Iniciar sesión como planificador; registrar un MP mensual (error si falta el mes)</a:t>
            </a:r>
            <a:endParaRPr lang="en-US" sz="1600" dirty="0"/>
          </a:p>
        </p:txBody>
      </p:sp>
      <p:sp>
        <p:nvSpPr>
          <p:cNvPr id="9" name="circulo-178"/>
          <p:cNvSpPr/>
          <p:nvPr/>
        </p:nvSpPr>
        <p:spPr>
          <a:xfrm>
            <a:off x="548640" y="3566160"/>
            <a:ext cx="594360" cy="594360"/>
          </a:xfrm>
          <a:prstGeom prst="ellipse">
            <a:avLst/>
          </a:prstGeom>
          <a:solidFill>
            <a:schemeClr val="accent1"/>
          </a:solidFill>
          <a:ln w="12700">
            <a:solidFill>
              <a:schemeClr val="accent1"/>
            </a:solidFill>
            <a:prstDash val="solid"/>
          </a:ln>
        </p:spPr>
        <p:txBody>
          <a:bodyPr/>
          <a:p/>
        </p:txBody>
      </p:sp>
      <p:sp>
        <p:nvSpPr>
          <p:cNvPr id="10" name="num-179"/>
          <p:cNvSpPr txBox="1"/>
          <p:nvPr/>
        </p:nvSpPr>
        <p:spPr>
          <a:xfrm>
            <a:off x="548640" y="3566160"/>
            <a:ext cx="594360" cy="594360"/>
          </a:xfrm>
          <a:prstGeom prst="rect">
            <a:avLst/>
          </a:prstGeom>
          <a:noFill/>
          <a:ln/>
        </p:spPr>
        <p:txBody>
          <a:bodyPr wrap="square" lIns="0" tIns="0" rIns="0" bIns="0" rtlCol="0" anchor="ctr"/>
          <a:lstStyle/>
          <a:p>
            <a:pPr marL="0" indent="0" algn="ctr">
              <a:buNone/>
            </a:pPr>
            <a:r>
              <a:rPr lang="en-US" sz="1600" b="1" dirty="0">
                <a:solidFill>
                  <a:schemeClr val="tx2"/>
                </a:solidFill>
              </a:rPr>
              <a:t>3</a:t>
            </a:r>
            <a:endParaRPr lang="en-US" sz="1600" dirty="0"/>
          </a:p>
        </p:txBody>
      </p:sp>
      <p:sp>
        <p:nvSpPr>
          <p:cNvPr id="11" name="texto-180"/>
          <p:cNvSpPr txBox="1"/>
          <p:nvPr/>
        </p:nvSpPr>
        <p:spPr>
          <a:xfrm>
            <a:off x="1371600" y="3611880"/>
            <a:ext cx="4754880" cy="548640"/>
          </a:xfrm>
          <a:prstGeom prst="rect">
            <a:avLst/>
          </a:prstGeom>
          <a:noFill/>
          <a:ln/>
        </p:spPr>
        <p:txBody>
          <a:bodyPr wrap="square" lIns="0" tIns="0" rIns="0" bIns="0" rtlCol="0" anchor="ctr"/>
          <a:lstStyle/>
          <a:p>
            <a:pPr marL="0" indent="0">
              <a:buNone/>
            </a:pPr>
            <a:r>
              <a:rPr lang="en-US" sz="1600" dirty="0">
                <a:solidFill>
                  <a:schemeClr val="tx1"/>
                </a:solidFill>
              </a:rPr>
              <a:t>Editar el MP, aprobarlo y programar una fecha (una fecha de hoy se rechaza)</a:t>
            </a:r>
            <a:endParaRPr lang="en-US" sz="1600" dirty="0"/>
          </a:p>
        </p:txBody>
      </p:sp>
      <p:sp>
        <p:nvSpPr>
          <p:cNvPr id="12" name="circulo-181"/>
          <p:cNvSpPr/>
          <p:nvPr/>
        </p:nvSpPr>
        <p:spPr>
          <a:xfrm>
            <a:off x="548640" y="4572000"/>
            <a:ext cx="594360" cy="594360"/>
          </a:xfrm>
          <a:prstGeom prst="ellipse">
            <a:avLst/>
          </a:prstGeom>
          <a:solidFill>
            <a:schemeClr val="accent1"/>
          </a:solidFill>
          <a:ln w="12700">
            <a:solidFill>
              <a:schemeClr val="accent1"/>
            </a:solidFill>
            <a:prstDash val="solid"/>
          </a:ln>
        </p:spPr>
        <p:txBody>
          <a:bodyPr/>
          <a:p/>
        </p:txBody>
      </p:sp>
      <p:sp>
        <p:nvSpPr>
          <p:cNvPr id="13" name="num-182"/>
          <p:cNvSpPr txBox="1"/>
          <p:nvPr/>
        </p:nvSpPr>
        <p:spPr>
          <a:xfrm>
            <a:off x="548640" y="4572000"/>
            <a:ext cx="594360" cy="594360"/>
          </a:xfrm>
          <a:prstGeom prst="rect">
            <a:avLst/>
          </a:prstGeom>
          <a:noFill/>
          <a:ln/>
        </p:spPr>
        <p:txBody>
          <a:bodyPr wrap="square" lIns="0" tIns="0" rIns="0" bIns="0" rtlCol="0" anchor="ctr"/>
          <a:lstStyle/>
          <a:p>
            <a:pPr marL="0" indent="0" algn="ctr">
              <a:buNone/>
            </a:pPr>
            <a:r>
              <a:rPr lang="en-US" sz="1600" b="1" dirty="0">
                <a:solidFill>
                  <a:schemeClr val="tx2"/>
                </a:solidFill>
              </a:rPr>
              <a:t>4</a:t>
            </a:r>
            <a:endParaRPr lang="en-US" sz="1600" dirty="0"/>
          </a:p>
        </p:txBody>
      </p:sp>
      <p:sp>
        <p:nvSpPr>
          <p:cNvPr id="14" name="texto-183"/>
          <p:cNvSpPr txBox="1"/>
          <p:nvPr/>
        </p:nvSpPr>
        <p:spPr>
          <a:xfrm>
            <a:off x="1371600" y="4617720"/>
            <a:ext cx="4754880" cy="548640"/>
          </a:xfrm>
          <a:prstGeom prst="rect">
            <a:avLst/>
          </a:prstGeom>
          <a:noFill/>
          <a:ln/>
        </p:spPr>
        <p:txBody>
          <a:bodyPr wrap="square" lIns="0" tIns="0" rIns="0" bIns="0" rtlCol="0" anchor="ctr"/>
          <a:lstStyle/>
          <a:p>
            <a:pPr marL="0" indent="0">
              <a:buNone/>
            </a:pPr>
            <a:r>
              <a:rPr lang="en-US" sz="1600" dirty="0">
                <a:solidFill>
                  <a:schemeClr val="tx1"/>
                </a:solidFill>
              </a:rPr>
              <a:t>Generar la OT y ver su número único</a:t>
            </a:r>
            <a:endParaRPr lang="en-US" sz="1600" dirty="0"/>
          </a:p>
        </p:txBody>
      </p:sp>
      <p:sp>
        <p:nvSpPr>
          <p:cNvPr id="15" name="circulo-184"/>
          <p:cNvSpPr/>
          <p:nvPr/>
        </p:nvSpPr>
        <p:spPr>
          <a:xfrm>
            <a:off x="6309360" y="1554480"/>
            <a:ext cx="594360" cy="594360"/>
          </a:xfrm>
          <a:prstGeom prst="ellipse">
            <a:avLst/>
          </a:prstGeom>
          <a:solidFill>
            <a:schemeClr val="accent1"/>
          </a:solidFill>
          <a:ln w="12700">
            <a:solidFill>
              <a:schemeClr val="accent1"/>
            </a:solidFill>
            <a:prstDash val="solid"/>
          </a:ln>
        </p:spPr>
        <p:txBody>
          <a:bodyPr/>
          <a:p/>
        </p:txBody>
      </p:sp>
      <p:sp>
        <p:nvSpPr>
          <p:cNvPr id="16" name="num-185"/>
          <p:cNvSpPr txBox="1"/>
          <p:nvPr/>
        </p:nvSpPr>
        <p:spPr>
          <a:xfrm>
            <a:off x="6309360" y="1554480"/>
            <a:ext cx="594360" cy="594360"/>
          </a:xfrm>
          <a:prstGeom prst="rect">
            <a:avLst/>
          </a:prstGeom>
          <a:noFill/>
          <a:ln/>
        </p:spPr>
        <p:txBody>
          <a:bodyPr wrap="square" lIns="0" tIns="0" rIns="0" bIns="0" rtlCol="0" anchor="ctr"/>
          <a:lstStyle/>
          <a:p>
            <a:pPr marL="0" indent="0" algn="ctr">
              <a:buNone/>
            </a:pPr>
            <a:r>
              <a:rPr lang="en-US" sz="1600" b="1" dirty="0">
                <a:solidFill>
                  <a:schemeClr val="tx2"/>
                </a:solidFill>
              </a:rPr>
              <a:t>5</a:t>
            </a:r>
            <a:endParaRPr lang="en-US" sz="1600" dirty="0"/>
          </a:p>
        </p:txBody>
      </p:sp>
      <p:sp>
        <p:nvSpPr>
          <p:cNvPr id="17" name="texto-186"/>
          <p:cNvSpPr txBox="1"/>
          <p:nvPr/>
        </p:nvSpPr>
        <p:spPr>
          <a:xfrm>
            <a:off x="7132320" y="1600200"/>
            <a:ext cx="4754880" cy="548640"/>
          </a:xfrm>
          <a:prstGeom prst="rect">
            <a:avLst/>
          </a:prstGeom>
          <a:noFill/>
          <a:ln/>
        </p:spPr>
        <p:txBody>
          <a:bodyPr wrap="square" lIns="0" tIns="0" rIns="0" bIns="0" rtlCol="0" anchor="ctr"/>
          <a:lstStyle/>
          <a:p>
            <a:pPr marL="0" indent="0">
              <a:buNone/>
            </a:pPr>
            <a:r>
              <a:rPr lang="en-US" sz="1600" dirty="0">
                <a:solidFill>
                  <a:schemeClr val="tx1"/>
                </a:solidFill>
              </a:rPr>
              <a:t>Concluir la OT y ver el historial de estados</a:t>
            </a:r>
            <a:endParaRPr lang="en-US" sz="1600" dirty="0"/>
          </a:p>
        </p:txBody>
      </p:sp>
      <p:sp>
        <p:nvSpPr>
          <p:cNvPr id="18" name="circulo-187"/>
          <p:cNvSpPr/>
          <p:nvPr/>
        </p:nvSpPr>
        <p:spPr>
          <a:xfrm>
            <a:off x="6309360" y="2560320"/>
            <a:ext cx="594360" cy="594360"/>
          </a:xfrm>
          <a:prstGeom prst="ellipse">
            <a:avLst/>
          </a:prstGeom>
          <a:solidFill>
            <a:schemeClr val="accent1"/>
          </a:solidFill>
          <a:ln w="12700">
            <a:solidFill>
              <a:schemeClr val="accent1"/>
            </a:solidFill>
            <a:prstDash val="solid"/>
          </a:ln>
        </p:spPr>
        <p:txBody>
          <a:bodyPr/>
          <a:p/>
        </p:txBody>
      </p:sp>
      <p:sp>
        <p:nvSpPr>
          <p:cNvPr id="19" name="num-188"/>
          <p:cNvSpPr txBox="1"/>
          <p:nvPr/>
        </p:nvSpPr>
        <p:spPr>
          <a:xfrm>
            <a:off x="6309360" y="2560320"/>
            <a:ext cx="594360" cy="594360"/>
          </a:xfrm>
          <a:prstGeom prst="rect">
            <a:avLst/>
          </a:prstGeom>
          <a:noFill/>
          <a:ln/>
        </p:spPr>
        <p:txBody>
          <a:bodyPr wrap="square" lIns="0" tIns="0" rIns="0" bIns="0" rtlCol="0" anchor="ctr"/>
          <a:lstStyle/>
          <a:p>
            <a:pPr marL="0" indent="0" algn="ctr">
              <a:buNone/>
            </a:pPr>
            <a:r>
              <a:rPr lang="en-US" sz="1600" b="1" dirty="0">
                <a:solidFill>
                  <a:schemeClr val="tx2"/>
                </a:solidFill>
              </a:rPr>
              <a:t>6</a:t>
            </a:r>
            <a:endParaRPr lang="en-US" sz="1600" dirty="0"/>
          </a:p>
        </p:txBody>
      </p:sp>
      <p:sp>
        <p:nvSpPr>
          <p:cNvPr id="20" name="texto-189"/>
          <p:cNvSpPr txBox="1"/>
          <p:nvPr/>
        </p:nvSpPr>
        <p:spPr>
          <a:xfrm>
            <a:off x="7132320" y="2606040"/>
            <a:ext cx="4754880" cy="548640"/>
          </a:xfrm>
          <a:prstGeom prst="rect">
            <a:avLst/>
          </a:prstGeom>
          <a:noFill/>
          <a:ln/>
        </p:spPr>
        <p:txBody>
          <a:bodyPr wrap="square" lIns="0" tIns="0" rIns="0" bIns="0" rtlCol="0" anchor="ctr"/>
          <a:lstStyle/>
          <a:p>
            <a:pPr marL="0" indent="0">
              <a:buNone/>
            </a:pPr>
            <a:r>
              <a:rPr lang="en-US" sz="1600" dirty="0">
                <a:solidFill>
                  <a:schemeClr val="tx1"/>
                </a:solidFill>
              </a:rPr>
              <a:t>Planning del mes y exportación de OT a Excel</a:t>
            </a:r>
            <a:endParaRPr lang="en-US" sz="1600" dirty="0"/>
          </a:p>
        </p:txBody>
      </p:sp>
      <p:sp>
        <p:nvSpPr>
          <p:cNvPr id="21" name="circulo-190"/>
          <p:cNvSpPr/>
          <p:nvPr/>
        </p:nvSpPr>
        <p:spPr>
          <a:xfrm>
            <a:off x="6309360" y="3566160"/>
            <a:ext cx="594360" cy="594360"/>
          </a:xfrm>
          <a:prstGeom prst="ellipse">
            <a:avLst/>
          </a:prstGeom>
          <a:solidFill>
            <a:schemeClr val="accent1"/>
          </a:solidFill>
          <a:ln w="12700">
            <a:solidFill>
              <a:schemeClr val="accent1"/>
            </a:solidFill>
            <a:prstDash val="solid"/>
          </a:ln>
        </p:spPr>
        <p:txBody>
          <a:bodyPr/>
          <a:p/>
        </p:txBody>
      </p:sp>
      <p:sp>
        <p:nvSpPr>
          <p:cNvPr id="22" name="num-191"/>
          <p:cNvSpPr txBox="1"/>
          <p:nvPr/>
        </p:nvSpPr>
        <p:spPr>
          <a:xfrm>
            <a:off x="6309360" y="3566160"/>
            <a:ext cx="594360" cy="594360"/>
          </a:xfrm>
          <a:prstGeom prst="rect">
            <a:avLst/>
          </a:prstGeom>
          <a:noFill/>
          <a:ln/>
        </p:spPr>
        <p:txBody>
          <a:bodyPr wrap="square" lIns="0" tIns="0" rIns="0" bIns="0" rtlCol="0" anchor="ctr"/>
          <a:lstStyle/>
          <a:p>
            <a:pPr marL="0" indent="0" algn="ctr">
              <a:buNone/>
            </a:pPr>
            <a:r>
              <a:rPr lang="en-US" sz="1600" b="1" dirty="0">
                <a:solidFill>
                  <a:schemeClr val="tx2"/>
                </a:solidFill>
              </a:rPr>
              <a:t>7</a:t>
            </a:r>
            <a:endParaRPr lang="en-US" sz="1600" dirty="0"/>
          </a:p>
        </p:txBody>
      </p:sp>
      <p:sp>
        <p:nvSpPr>
          <p:cNvPr id="23" name="texto-192"/>
          <p:cNvSpPr txBox="1"/>
          <p:nvPr/>
        </p:nvSpPr>
        <p:spPr>
          <a:xfrm>
            <a:off x="7132320" y="3611880"/>
            <a:ext cx="4754880" cy="548640"/>
          </a:xfrm>
          <a:prstGeom prst="rect">
            <a:avLst/>
          </a:prstGeom>
          <a:noFill/>
          <a:ln/>
        </p:spPr>
        <p:txBody>
          <a:bodyPr wrap="square" lIns="0" tIns="0" rIns="0" bIns="0" rtlCol="0" anchor="ctr"/>
          <a:lstStyle/>
          <a:p>
            <a:pPr marL="0" indent="0">
              <a:buNone/>
            </a:pPr>
            <a:r>
              <a:rPr lang="en-US" sz="1600" dirty="0">
                <a:solidFill>
                  <a:schemeClr val="tx1"/>
                </a:solidFill>
              </a:rPr>
              <a:t>Entrar como especialista: solo consulta, sin botones de escritura ni planning</a:t>
            </a:r>
            <a:endParaRPr lang="en-US" sz="1600" dirty="0"/>
          </a:p>
        </p:txBody>
      </p:sp>
      <p:sp>
        <p:nvSpPr>
          <p:cNvPr id="24" name="tarjeta-193"/>
          <p:cNvSpPr/>
          <p:nvPr/>
        </p:nvSpPr>
        <p:spPr>
          <a:xfrm>
            <a:off x="6309360" y="4617720"/>
            <a:ext cx="5330952" cy="1325880"/>
          </a:xfrm>
          <a:prstGeom prst="roundRect">
            <a:avLst>
              <a:gd name="adj" fmla="val 8276"/>
            </a:avLst>
          </a:prstGeom>
          <a:solidFill>
            <a:schemeClr val="bg2"/>
          </a:solidFill>
          <a:ln w="12700">
            <a:solidFill>
              <a:schemeClr val="bg2"/>
            </a:solidFill>
            <a:prstDash val="solid"/>
          </a:ln>
        </p:spPr>
        <p:txBody>
          <a:bodyPr/>
          <a:p/>
        </p:txBody>
      </p:sp>
      <p:sp>
        <p:nvSpPr>
          <p:cNvPr id="25" name="texto-194"/>
          <p:cNvSpPr txBox="1"/>
          <p:nvPr/>
        </p:nvSpPr>
        <p:spPr>
          <a:xfrm>
            <a:off x="6583680" y="4754880"/>
            <a:ext cx="4846320" cy="365760"/>
          </a:xfrm>
          <a:prstGeom prst="rect">
            <a:avLst/>
          </a:prstGeom>
          <a:noFill/>
          <a:ln/>
        </p:spPr>
        <p:txBody>
          <a:bodyPr wrap="square" lIns="0" tIns="0" rIns="0" bIns="0" rtlCol="0" anchor="t"/>
          <a:lstStyle/>
          <a:p>
            <a:pPr marL="0" indent="0">
              <a:buNone/>
            </a:pPr>
            <a:r>
              <a:rPr lang="en-US" sz="1600" b="1" dirty="0">
                <a:solidFill>
                  <a:schemeClr val="accent3"/>
                </a:solidFill>
              </a:rPr>
              <a:t>Plan B</a:t>
            </a:r>
            <a:endParaRPr lang="en-US" sz="1600" dirty="0"/>
          </a:p>
        </p:txBody>
      </p:sp>
      <p:sp>
        <p:nvSpPr>
          <p:cNvPr id="26" name="texto-195"/>
          <p:cNvSpPr txBox="1"/>
          <p:nvPr/>
        </p:nvSpPr>
        <p:spPr>
          <a:xfrm>
            <a:off x="6583680" y="5120640"/>
            <a:ext cx="4846320" cy="731520"/>
          </a:xfrm>
          <a:prstGeom prst="rect">
            <a:avLst/>
          </a:prstGeom>
          <a:noFill/>
          <a:ln/>
        </p:spPr>
        <p:txBody>
          <a:bodyPr wrap="square" lIns="0" tIns="0" rIns="0" bIns="0" rtlCol="0" anchor="t"/>
          <a:lstStyle/>
          <a:p>
            <a:pPr marL="0" indent="0">
              <a:buNone/>
            </a:pPr>
            <a:r>
              <a:rPr lang="en-US" sz="1400" dirty="0">
                <a:solidFill>
                  <a:schemeClr val="tx1"/>
                </a:solidFill>
              </a:rPr>
              <a:t>Si la web falla: el mismo flujo en Swagger (http://localhost:5300/swagger) o con docs/api/sisman.http. Último recurso: capturas 03 a 07.</a:t>
            </a:r>
            <a:endParaRPr lang="en-US" sz="1400" dirty="0"/>
          </a:p>
        </p:txBody>
      </p:sp>
      <p:sp>
        <p:nvSpPr>
          <p:cNvPr id="27"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r"/>
            <a:fld id="{F7021451-1387-4CA6-816F-3879F97B5CBC}" type="slidenum">
              <a:rPr lang="en-US" b="0"/>
              <a:t>11</a:t>
            </a:fld>
            <a:endParaRPr lang="en-US"/>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4415" cy="822960"/>
          </a:xfrm>
          <a:prstGeom prst="rect">
            <a:avLst/>
          </a:prstGeom>
          <a:noFill/>
          <a:ln/>
        </p:spPr>
        <p:txBody>
          <a:bodyPr wrap="square" lIns="0" tIns="0" rIns="0" bIns="0" rtlCol="0" anchor="ctr"/>
          <a:lstStyle/>
          <a:p>
            <a:pPr marL="0" indent="0">
              <a:buNone/>
            </a:pPr>
            <a:r>
              <a:rPr lang="en-US" sz="3400" b="1" dirty="0">
                <a:solidFill>
                  <a:schemeClr val="tx2"/>
                </a:solidFill>
                <a:latin typeface="Cambria" pitchFamily="34" charset="0"/>
                <a:ea typeface="Cambria" pitchFamily="34" charset="-122"/>
                <a:cs typeface="Cambria" pitchFamily="34" charset="-120"/>
              </a:rPr>
              <a:t>Aprendizajes y mejoras pendientes</a:t>
            </a:r>
            <a:endParaRPr lang="en-US" sz="3400" dirty="0"/>
          </a:p>
        </p:txBody>
      </p:sp>
      <p:sp>
        <p:nvSpPr>
          <p:cNvPr id="3" name="tarjeta-196"/>
          <p:cNvSpPr/>
          <p:nvPr/>
        </p:nvSpPr>
        <p:spPr>
          <a:xfrm>
            <a:off x="548640" y="1508760"/>
            <a:ext cx="5394960" cy="3566160"/>
          </a:xfrm>
          <a:prstGeom prst="roundRect">
            <a:avLst>
              <a:gd name="adj" fmla="val 3077"/>
            </a:avLst>
          </a:prstGeom>
          <a:solidFill>
            <a:schemeClr val="bg2"/>
          </a:solidFill>
          <a:ln w="12700">
            <a:solidFill>
              <a:schemeClr val="bg2"/>
            </a:solidFill>
            <a:prstDash val="solid"/>
          </a:ln>
        </p:spPr>
        <p:txBody>
          <a:bodyPr/>
          <a:p/>
        </p:txBody>
      </p:sp>
      <p:sp>
        <p:nvSpPr>
          <p:cNvPr id="4" name="texto-197"/>
          <p:cNvSpPr txBox="1"/>
          <p:nvPr/>
        </p:nvSpPr>
        <p:spPr>
          <a:xfrm>
            <a:off x="822960" y="1737360"/>
            <a:ext cx="4846320" cy="411480"/>
          </a:xfrm>
          <a:prstGeom prst="rect">
            <a:avLst/>
          </a:prstGeom>
          <a:noFill/>
          <a:ln/>
        </p:spPr>
        <p:txBody>
          <a:bodyPr wrap="square" lIns="0" tIns="0" rIns="0" bIns="0" rtlCol="0" anchor="t"/>
          <a:lstStyle/>
          <a:p>
            <a:pPr marL="0" indent="0">
              <a:buNone/>
            </a:pPr>
            <a:r>
              <a:rPr lang="en-US" sz="2000" b="1" dirty="0">
                <a:solidFill>
                  <a:schemeClr val="accent2"/>
                </a:solidFill>
              </a:rPr>
              <a:t>Lo que aprendí</a:t>
            </a:r>
            <a:endParaRPr lang="en-US" sz="2000" dirty="0"/>
          </a:p>
        </p:txBody>
      </p:sp>
      <p:sp>
        <p:nvSpPr>
          <p:cNvPr id="5" name="texto-198"/>
          <p:cNvSpPr txBox="1"/>
          <p:nvPr/>
        </p:nvSpPr>
        <p:spPr>
          <a:xfrm>
            <a:off x="822960" y="2286000"/>
            <a:ext cx="4846320" cy="265176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chemeClr val="tx1"/>
                </a:solidFill>
              </a:rPr>
              <a:t>Una prueba que solo compara «igual que antes» no prueba que funcione</a:t>
            </a:r>
            <a:endParaRPr lang="en-US" sz="1500" dirty="0"/>
          </a:p>
          <a:p>
            <a:pPr marL="342900" indent="-342900">
              <a:spcAft>
                <a:spcPts val="1000"/>
              </a:spcAft>
              <a:buSzPct val="100000"/>
              <a:buChar char="•"/>
            </a:pPr>
            <a:r>
              <a:rPr lang="en-US" sz="1500" dirty="0">
                <a:solidFill>
                  <a:schemeClr val="tx1"/>
                </a:solidFill>
              </a:rPr>
              <a:t>Un «éxito» en pantalla no es una prueba: hay que mirar la base</a:t>
            </a:r>
            <a:endParaRPr lang="en-US" sz="1500" dirty="0"/>
          </a:p>
          <a:p>
            <a:pPr marL="342900" indent="-342900">
              <a:spcAft>
                <a:spcPts val="1000"/>
              </a:spcAft>
              <a:buSzPct val="100000"/>
              <a:buChar char="•"/>
            </a:pPr>
            <a:r>
              <a:rPr lang="en-US" sz="1500" dirty="0">
                <a:solidFill>
                  <a:schemeClr val="tx1"/>
                </a:solidFill>
              </a:rPr>
              <a:t>Ante un fallo, leer el detalle antes de cambiar el código</a:t>
            </a:r>
            <a:endParaRPr lang="en-US" sz="1500" dirty="0"/>
          </a:p>
          <a:p>
            <a:pPr marL="342900" indent="-342900">
              <a:spcAft>
                <a:spcPts val="1000"/>
              </a:spcAft>
              <a:buSzPct val="100000"/>
              <a:buChar char="•"/>
            </a:pPr>
            <a:r>
              <a:rPr lang="en-US" sz="1500" dirty="0">
                <a:solidFill>
                  <a:schemeClr val="tx1"/>
                </a:solidFill>
              </a:rPr>
              <a:t>Con la spec como contexto, la IA acelera; sin ella, inventa</a:t>
            </a:r>
            <a:endParaRPr lang="en-US" sz="1500" dirty="0"/>
          </a:p>
          <a:p>
            <a:pPr marL="342900" indent="-342900">
              <a:spcAft>
                <a:spcPts val="1000"/>
              </a:spcAft>
              <a:buSzPct val="100000"/>
              <a:buChar char="•"/>
            </a:pPr>
            <a:r>
              <a:rPr lang="en-US" sz="1500" dirty="0">
                <a:solidFill>
                  <a:schemeClr val="tx1"/>
                </a:solidFill>
              </a:rPr>
              <a:t>El entorno se decide el primer día: Docker cambió tres veces</a:t>
            </a:r>
            <a:endParaRPr lang="en-US" sz="1500" dirty="0"/>
          </a:p>
        </p:txBody>
      </p:sp>
      <p:sp>
        <p:nvSpPr>
          <p:cNvPr id="6" name="tarjeta-199"/>
          <p:cNvSpPr/>
          <p:nvPr/>
        </p:nvSpPr>
        <p:spPr>
          <a:xfrm>
            <a:off x="6245352" y="1508760"/>
            <a:ext cx="5394960" cy="3566160"/>
          </a:xfrm>
          <a:prstGeom prst="roundRect">
            <a:avLst>
              <a:gd name="adj" fmla="val 3077"/>
            </a:avLst>
          </a:prstGeom>
          <a:solidFill>
            <a:schemeClr val="bg2"/>
          </a:solidFill>
          <a:ln w="12700">
            <a:solidFill>
              <a:schemeClr val="bg2"/>
            </a:solidFill>
            <a:prstDash val="solid"/>
          </a:ln>
        </p:spPr>
        <p:txBody>
          <a:bodyPr/>
          <a:p/>
        </p:txBody>
      </p:sp>
      <p:sp>
        <p:nvSpPr>
          <p:cNvPr id="7" name="texto-200"/>
          <p:cNvSpPr txBox="1"/>
          <p:nvPr/>
        </p:nvSpPr>
        <p:spPr>
          <a:xfrm>
            <a:off x="6519672" y="1737360"/>
            <a:ext cx="4846320" cy="411480"/>
          </a:xfrm>
          <a:prstGeom prst="rect">
            <a:avLst/>
          </a:prstGeom>
          <a:noFill/>
          <a:ln/>
        </p:spPr>
        <p:txBody>
          <a:bodyPr wrap="square" lIns="0" tIns="0" rIns="0" bIns="0" rtlCol="0" anchor="t"/>
          <a:lstStyle/>
          <a:p>
            <a:pPr marL="0" indent="0">
              <a:buNone/>
            </a:pPr>
            <a:r>
              <a:rPr lang="en-US" sz="2000" b="1" dirty="0">
                <a:solidFill>
                  <a:schemeClr val="accent5"/>
                </a:solidFill>
              </a:rPr>
              <a:t>Mejoras pendientes</a:t>
            </a:r>
            <a:endParaRPr lang="en-US" sz="2000" dirty="0"/>
          </a:p>
        </p:txBody>
      </p:sp>
      <p:sp>
        <p:nvSpPr>
          <p:cNvPr id="8" name="texto-201"/>
          <p:cNvSpPr txBox="1"/>
          <p:nvPr/>
        </p:nvSpPr>
        <p:spPr>
          <a:xfrm>
            <a:off x="6519672" y="2286000"/>
            <a:ext cx="4846320" cy="265176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chemeClr val="tx1"/>
                </a:solidFill>
              </a:rPr>
              <a:t>Validar con usuarios de planta las reglas que decidí como responsable (RN-15, RN-16, RN-22, RN-23, RN-37)</a:t>
            </a:r>
            <a:endParaRPr lang="en-US" sz="1500" dirty="0"/>
          </a:p>
          <a:p>
            <a:pPr marL="342900" indent="-342900">
              <a:spcAft>
                <a:spcPts val="1000"/>
              </a:spcAft>
              <a:buSzPct val="100000"/>
              <a:buChar char="•"/>
            </a:pPr>
            <a:r>
              <a:rPr lang="en-US" sz="1500" dirty="0">
                <a:solidFill>
                  <a:schemeClr val="tx1"/>
                </a:solidFill>
              </a:rPr>
              <a:t>Docker para levantar base, API y web con un comando (hoy: LocalDB, ADR-007)</a:t>
            </a:r>
            <a:endParaRPr lang="en-US" sz="1500" dirty="0"/>
          </a:p>
          <a:p>
            <a:pPr marL="342900" indent="-342900">
              <a:spcAft>
                <a:spcPts val="1000"/>
              </a:spcAft>
              <a:buSzPct val="100000"/>
              <a:buChar char="•"/>
            </a:pPr>
            <a:r>
              <a:rPr lang="en-US" sz="1500" dirty="0">
                <a:solidFill>
                  <a:schemeClr val="tx1"/>
                </a:solidFill>
              </a:rPr>
              <a:t>Token de versión en la edición y refresh token</a:t>
            </a:r>
            <a:endParaRPr lang="en-US" sz="1500" dirty="0"/>
          </a:p>
          <a:p>
            <a:pPr marL="342900" indent="-342900">
              <a:spcAft>
                <a:spcPts val="1000"/>
              </a:spcAft>
              <a:buSzPct val="100000"/>
              <a:buChar char="•"/>
            </a:pPr>
            <a:r>
              <a:rPr lang="en-US" sz="1500" dirty="0">
                <a:solidFill>
                  <a:schemeClr val="tx1"/>
                </a:solidFill>
              </a:rPr>
              <a:t>Llevar el módulo al SISMAN de la empresa</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r"/>
            <a:fld id="{F7021451-1387-4CA6-816F-3879F97B5CBC}" type="slidenum">
              <a:rPr lang="en-US" b="0"/>
              <a:t>12</a:t>
            </a:fld>
            <a:endParaRPr lang="en-US"/>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011680"/>
            <a:ext cx="10515600" cy="1463040"/>
          </a:xfrm>
          <a:prstGeom prst="rect">
            <a:avLst/>
          </a:prstGeom>
          <a:noFill/>
          <a:ln/>
        </p:spPr>
        <p:txBody>
          <a:bodyPr wrap="square" lIns="0" tIns="0" rIns="0" bIns="0" rtlCol="0" anchor="b"/>
          <a:lstStyle/>
          <a:p>
            <a:pPr marL="0" indent="0" algn="l">
              <a:buNone/>
            </a:pPr>
            <a:r>
              <a:rPr lang="en-US" sz="4800" b="1" dirty="0">
                <a:solidFill>
                  <a:schemeClr val="bg1"/>
                </a:solidFill>
                <a:latin typeface="Cambria" pitchFamily="34" charset="0"/>
                <a:ea typeface="Cambria" pitchFamily="34" charset="-122"/>
                <a:cs typeface="Cambria" pitchFamily="34" charset="-120"/>
              </a:rPr>
              <a:t>Gracias</a:t>
            </a:r>
            <a:endParaRPr lang="en-US" sz="4800" dirty="0"/>
          </a:p>
        </p:txBody>
      </p:sp>
      <p:sp>
        <p:nvSpPr>
          <p:cNvPr id="3" name="Text 0"/>
          <p:cNvSpPr>
            <a:spLocks noGrp="1"/>
          </p:cNvSpPr>
          <p:nvPr>
            <p:ph type="body" idx="101" hasCustomPrompt="1"/>
          </p:nvPr>
        </p:nvSpPr>
        <p:spPr>
          <a:xfrm>
            <a:off x="548640" y="3657600"/>
            <a:ext cx="10058400" cy="1280160"/>
          </a:xfrm>
          <a:prstGeom prst="rect">
            <a:avLst/>
          </a:prstGeom>
          <a:noFill/>
          <a:ln/>
        </p:spPr>
        <p:txBody>
          <a:bodyPr wrap="square" lIns="0" tIns="0" rIns="0" bIns="0" rtlCol="0" anchor="t"/>
          <a:lstStyle/>
          <a:p>
            <a:pPr marL="0" indent="0">
              <a:buNone/>
            </a:pPr>
            <a:r>
              <a:rPr lang="en-US" sz="2000" dirty="0">
                <a:solidFill>
                  <a:schemeClr val="accent6"/>
                </a:solidFill>
              </a:rPr>
              <a:t>¿Preguntas?</a:t>
            </a:r>
            <a:endParaRPr lang="en-US" sz="2000" dirty="0"/>
          </a:p>
          <a:p>
            <a:pPr marL="0" indent="0">
              <a:buNone/>
            </a:pPr>
            <a:r>
              <a:rPr lang="en-US" sz="1400" dirty="0">
                <a:solidFill>
                  <a:schemeClr val="accent1"/>
                </a:solidFill>
              </a:rPr>
              <a:t>github.com/AngelHermozaSalasEDP/sisman-mantenimiento · README, specs/, docs/ (ADR, trazabilidad, calidad, evidencias de IA)</a:t>
            </a:r>
            <a:endParaRPr lang="en-US" sz="2000"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SISMAN Planta">
  <a:themeElements>
    <a:clrScheme name="SISMAN Planta">
      <a:dk1>
        <a:srgbClr val="1B2A30"/>
      </a:dk1>
      <a:lt1>
        <a:srgbClr val="FFFFFF"/>
      </a:lt1>
      <a:dk2>
        <a:srgbClr val="12343B"/>
      </a:dk2>
      <a:lt2>
        <a:srgbClr val="EEF3F4"/>
      </a:lt2>
      <a:accent1>
        <a:srgbClr val="F2A541"/>
      </a:accent1>
      <a:accent2>
        <a:srgbClr val="2E7D6B"/>
      </a:accent2>
      <a:accent3>
        <a:srgbClr val="C0392B"/>
      </a:accent3>
      <a:accent4>
        <a:srgbClr val="5B7C85"/>
      </a:accent4>
      <a:accent5>
        <a:srgbClr val="1F6F8B"/>
      </a:accent5>
      <a:accent6>
        <a:srgbClr val="D9E4E7"/>
      </a:accent6>
      <a:hlink>
        <a:srgbClr val="1F6F8B"/>
      </a:hlink>
      <a:folHlink>
        <a:srgbClr val="5B7C85"/>
      </a:folHlink>
    </a:clrScheme>
    <a:fontScheme name="SISMAN Planta">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41</TotalTime>
  <Words>2087</Words>
  <Application>Microsoft Office PowerPoint</Application>
  <PresentationFormat>Panorámica</PresentationFormat>
  <Paragraphs>219</Paragraphs>
  <Slides>13</Slides>
  <Notes>13</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13</vt:i4>
      </vt:variant>
    </vt:vector>
  </HeadingPairs>
  <TitlesOfParts>
    <vt:vector size="18" baseType="lpstr">
      <vt:lpstr>Arial</vt:lpstr>
      <vt:lpstr>Calibri</vt:lpstr>
      <vt:lpstr>Cambria</vt:lpstr>
      <vt:lpstr>Consolas</vt:lpstr>
      <vt:lpstr>SISMAN Planta</vt:lpstr>
      <vt:lpstr>SISMAN Mantenimiento Diario Oficial El Peruano</vt:lpstr>
      <vt:lpstr>El Problema El sistema original fallaba donde más duele</vt:lpstr>
      <vt:lpstr>La Solución Un módulo acotado, de punta a punta</vt:lpstr>
      <vt:lpstr>Especificaciones primero, código después</vt:lpstr>
      <vt:lpstr>Una regla, de su origen a su prueba</vt:lpstr>
      <vt:lpstr>Arquitectura Clean Architecture: las reglas no dependen de nada</vt:lpstr>
      <vt:lpstr>Siete ADR (Arquitecture Decision Record) Siete decisiones registradas como ADR</vt:lpstr>
      <vt:lpstr>Calidad 121 pruebas en verde y medidas que se pueden repetir</vt:lpstr>
      <vt:lpstr>Uso de la IA La IA propone; la revisión decide</vt:lpstr>
      <vt:lpstr>Prompt y Diff Un prompt corto funciona cuando la spec es el contexto</vt:lpstr>
      <vt:lpstr>Demo: el flujo completo en 5 minutos</vt:lpstr>
      <vt:lpstr>Aprendizajes y mejoras pendientes</vt:lpstr>
      <vt:lpstr>Gracias</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SISMAN Mantenimiento: proyecto integrador</dc:title>
  <dc:subject>Agentic Software Development (.NET 10)</dc:subject>
  <dc:creator>Angel Hermoza</dc:creator>
  <cp:lastModifiedBy>Editora Perú SA</cp:lastModifiedBy>
  <cp:revision>5</cp:revision>
  <dcterms:created xsi:type="dcterms:W3CDTF">2026-10-23T21:12:56Z</dcterms:created>
  <dcterms:modified xsi:type="dcterms:W3CDTF">2026-10-30T15:51:22Z</dcterms:modified>
</cp:coreProperties>
</file>