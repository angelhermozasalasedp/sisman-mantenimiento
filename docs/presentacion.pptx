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54b47167-1380-303e-ee0b-42559e965d05}">
          <p14:sldIdLst>
            <p14:sldId id="256"/>
          </p14:sldIdLst>
        </p14:section>
        <p14:section name="Problema" id="{67ae27da-768b-b3a0-b913-0ec96971f6ca}">
          <p14:sldIdLst>
            <p14:sldId id="257"/>
            <p14:sldId id="258"/>
          </p14:sldIdLst>
        </p14:section>
        <p14:section name="Especificaciones" id="{871a627d-2f89-8710-bab5-23ae5f2f135f}">
          <p14:sldIdLst>
            <p14:sldId id="259"/>
            <p14:sldId id="260"/>
          </p14:sldIdLst>
        </p14:section>
        <p14:section name="Arquitectura" id="{d317749d-4645-6601-e575-f02f1a80edf2}">
          <p14:sldIdLst>
            <p14:sldId id="261"/>
            <p14:sldId id="262"/>
          </p14:sldIdLst>
        </p14:section>
        <p14:section name="Calidad" id="{398922cf-4b19-c445-ff13-4c5e96d7274a}">
          <p14:sldIdLst>
            <p14:sldId id="263"/>
          </p14:sldIdLst>
        </p14:section>
        <p14:section name="Uso de IA" id="{4125b0ad-d417-3c98-6b99-a8a5b371cc9b}">
          <p14:sldIdLst>
            <p14:sldId id="264"/>
          </p14:sldIdLst>
        </p14:section>
        <p14:section name="Demo" id="{19770a89-5e04-6efd-f746-aec147bb289e}">
          <p14:sldIdLst>
            <p14:sldId id="265"/>
          </p14:sldIdLst>
        </p14:section>
        <p14:section name="Cierre" id="{7f1e390f-33c0-724f-87d1-6d3e8b3bcc4d}">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Pruebas</c:v>
                </c:pt>
              </c:strCache>
            </c:strRef>
          </c:tx>
          <c:spPr>
            <a:solidFill>
              <a:srgbClr val="12343B"/>
            </a:solidFill>
            <a:effectLst/>
          </c:spPr>
          <c:invertIfNegative val="0"/>
          <c:dLbls>
            <c:numFmt formatCode="#,##0" sourceLinked="0"/>
            <c:txPr>
              <a:bodyPr/>
              <a:lstStyle/>
              <a:p>
                <a:pPr>
                  <a:defRPr b="0" i="0" strike="noStrike" sz="1200" u="none">
                    <a:solidFill>
                      <a:srgbClr val="1B2A30"/>
                    </a:solidFill>
                    <a:latin typeface="+mn-lt"/>
                  </a:defRPr>
                </a:pPr>
              </a:p>
            </c:txPr>
            <c:showLegendKey val="0"/>
            <c:showVal val="1"/>
            <c:showCatName val="0"/>
            <c:showSerName val="0"/>
            <c:showPercent val="0"/>
            <c:showBubbleSize val="0"/>
            <c:showLeaderLines val="0"/>
          </c:dLbls>
          <c:cat>
            <c:multiLvlStrRef>
              <c:f>Sheet1!$A$2:$A$4</c:f>
              <c:multiLvlStrCache>
                <c:ptCount val="3"/>
                <c:lvl>
                  <c:pt idx="0">
                    <c:v>Integración (API + SQL Server)</c:v>
                  </c:pt>
                  <c:pt idx="1">
                    <c:v>Dominio</c:v>
                  </c:pt>
                  <c:pt idx="2">
                    <c:v>Web</c:v>
                  </c:pt>
                </c:lvl>
              </c:multiLvlStrCache>
            </c:multiLvlStrRef>
          </c:cat>
          <c:val>
            <c:numRef>
              <c:f>Sheet1!$B$2:$B$4</c:f>
              <c:numCache>
                <c:formatCode>General</c:formatCode>
                <c:ptCount val="3"/>
                <c:pt idx="0">
                  <c:v>84</c:v>
                </c:pt>
                <c:pt idx="1">
                  <c:v>25</c:v>
                </c:pt>
                <c:pt idx="2">
                  <c:v>10</c:v>
                </c:pt>
              </c:numCache>
            </c:numRef>
          </c:val>
        </c:ser>
        <c:dLbls>
          <c:numFmt formatCode="#,##0" sourceLinked="0"/>
          <c:txPr>
            <a:bodyPr/>
            <a:lstStyle/>
            <a:p>
              <a:pPr>
                <a:defRPr b="0" i="0" strike="noStrike" sz="1200" u="none">
                  <a:solidFill>
                    <a:srgbClr val="1B2A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A3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(30 s). Soy Angel Hermoza. El proyecto toma el flujo central de SISMAN, el sistema de mantenimiento de una editora: mantenimiento preventivo, fecha programada y orden de trabajo. Lo reconstruí especificando primero y probando todo, con Claude Code como asistente.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Problema (1 min). Cuatro hallazgos del análisis. El más grave: el número de OT se tomaba en cuatro pasos sin transacción. Además, muchos botones decían éxito aunque el procedimiento almacenado no existiera. Esto define qué tenía que garantizar el sistema nuevo.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Solución (1 min). Elegí un solo flujo, el más usado, y lo cerré de punta a punta: API, web, pruebas y documentación. Dos actores: el planificador, que hace todo, y el especialista, que solo consulta.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Specs y trazabilidad (1 min). Antes de escribir código escribí 12 requisitos, 12 historias con criterios Dado/Cuando/Entonces, 9 casos de uso y 34 reglas. La matriz enlaza cada requisito con su endpoint, su clase y su prueba. Ninguna regla está inventada: cada una cita su origen.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 de trazabilidad (1 min). Esta es la regla más importante. Nace de un hallazgo, se convierte en RN-34, se diseña con un bloqueo de fila dentro de la transacción y se prueba con 20 solicitudes simultáneas. Para comprobar que la prueba sirve, puse a propósito el algoritmo del sistema original: la prueba falló en 19 de 20 solicitudes.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Arquitectura (1 min). Cuatro capas más la web. El dominio no depende de nada: ahí viven aprobar, programar fecha, generar OT y cambiar estado. Los controladores solo traducen HTTP. La web no repite reglas: le pregunta a la API qué transiciones están permitidas.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Decisiones (1 min). Cada decisión tiene contexto, alternativas descartadas y consecuencias. Por ejemplo, EF Core con esquema propio, porque a la base original le faltan 33 procedimientos y no se puede compartir. Estoy listo para defender cualquiera.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Pruebas y calidad (1 min). 119 pruebas: 84 de integración contra un SQL Server real, con una base propia que se crea y se borra; 25 de dominio y 10 de la web. Rendimiento medido con 26 000 OT: 47 milisegundos y 23 KB por página. Digo también lo que no verifiqué: Docker no lo pude ejecutar.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Uso de IA (2 min). Toda la implementación se hizo con Claude Code, siempre con la especificación como contexto. Registré 14 evidencias. Lo importante no es que la IA escribiera código, sino cómo se revisó: hubo conclusiones corregidas, errores de prueba que no eran del sistema, una prueba de mutación para comprobar que las pruebas detectan el defecto, y errores de herramienta que cambiaron la forma de trabajar.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min). Antes de la presentación: levantar la API en 5300 y la web en 5400 con la base de ejemplo, e iniciar sesión recién (el token dura 30 minutos). Seguir los siete pasos. Si algo falla, pasar a Swagger con la misma secuencia.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Aprendizajes (1 min). Tres aprendizajes sobre pruebas y uno sobre la IA: con la especificación como contexto acelera; sin ella, inventa. Y las mejoras que quedan, empezando por validar cuatro reglas con un usuario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(15 s). Preguntas esperadas: por qué esta arquitectura, cómo funciona el correlativo, qué hizo la IA y qué corregí yo, por qué no microservicios. Tener abiertos el ADR-003, OtServicio.GenerarAsync y la evidencia 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0515600" cy="1463040"/>
          </a:xfrm>
          <a:prstGeom prst="rect">
            <a:avLst/>
          </a:prstGeom>
          <a:noFill/>
          <a:ln/>
        </p:spPr>
        <p:txBody>
          <a:bodyPr wrap="square" rtlCol="0"/>
          <a:lstStyle>
            <a:lvl1pPr algn="l" indent="0" marL="0">
              <a:buNone/>
              <a:defRPr lang="en-US" sz="4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800" dirty="0"/>
          </a:p>
        </p:txBody>
      </p:sp>
      <p:sp>
        <p:nvSpPr>
          <p:cNvPr id="3" name="Text 0"/>
          <p:cNvSpPr/>
          <p:nvPr>
            <p:ph idx="101" type="body" hasCustomPrompt="1"/>
          </p:nvPr>
        </p:nvSpPr>
        <p:spPr>
          <a:xfrm>
            <a:off x="548640" y="3657600"/>
            <a:ext cx="10058400" cy="1280160"/>
          </a:xfrm>
          <a:prstGeom prst="rect">
            <a:avLst/>
          </a:prstGeom>
          <a:noFill/>
          <a:ln/>
        </p:spPr>
        <p:txBody>
          <a:bodyPr wrap="square" rtlCol="0"/>
          <a:lstStyle>
            <a:lvl1pPr indent="0" marL="0">
              <a:buNone/>
              <a:defRPr lang="en-US" sz="2000" dirty="0">
                <a:solidFill>
                  <a:schemeClr val="accent6"/>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indent="0" marL="0">
              <a:buNone/>
              <a:defRPr lang="en-US" sz="3400" b="1" dirty="0">
                <a:solidFill>
                  <a:schemeClr val="tx2"/>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SISMAN Mantenimiento · Proyecto integrador</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0515600" cy="1463040"/>
          </a:xfrm>
          <a:prstGeom prst="rect">
            <a:avLst/>
          </a:prstGeom>
          <a:noFill/>
          <a:ln/>
        </p:spPr>
        <p:txBody>
          <a:bodyPr wrap="square" lIns="0" tIns="0" rIns="0" bIns="0" rtlCol="0" anchor="b"/>
          <a:lstStyle/>
          <a:p>
            <a:pPr algn="l" indent="0" marL="0">
              <a:buNone/>
            </a:pPr>
            <a:r>
              <a:rPr lang="en-US" sz="4800" b="1" dirty="0">
                <a:solidFill>
                  <a:schemeClr val="bg1"/>
                </a:solidFill>
                <a:latin typeface="Cambria" pitchFamily="34" charset="0"/>
                <a:ea typeface="Cambria" pitchFamily="34" charset="-122"/>
                <a:cs typeface="Cambria" pitchFamily="34" charset="-120"/>
              </a:rPr>
              <a:t>SISMAN Mantenimiento</a:t>
            </a:r>
            <a:endParaRPr lang="en-US" sz="4800" dirty="0"/>
          </a:p>
        </p:txBody>
      </p:sp>
      <p:sp>
        <p:nvSpPr>
          <p:cNvPr id="3" name="Text 0"/>
          <p:cNvSpPr/>
          <p:nvPr>
            <p:ph idx="101" type="body" hasCustomPrompt="1"/>
          </p:nvPr>
        </p:nvSpPr>
        <p:spPr>
          <a:xfrm>
            <a:off x="548640" y="3657600"/>
            <a:ext cx="10058400" cy="1280160"/>
          </a:xfrm>
          <a:prstGeom prst="rect">
            <a:avLst/>
          </a:prstGeom>
          <a:noFill/>
          <a:ln/>
        </p:spPr>
        <p:txBody>
          <a:bodyPr wrap="square" lIns="0" tIns="0" rIns="0" bIns="0" rtlCol="0" anchor="t"/>
          <a:lstStyle/>
          <a:p>
            <a:pPr indent="0" marL="0">
              <a:buNone/>
            </a:pPr>
            <a:r>
              <a:rPr lang="en-US" sz="2000" dirty="0">
                <a:solidFill>
                  <a:schemeClr val="accent6"/>
                </a:solidFill>
              </a:rPr>
              <a:t>Del sistema que decía «éxito» sin grabar, a un módulo especificado, probado y trazable</a:t>
            </a:r>
            <a:endParaRPr lang="en-US" sz="2000" dirty="0"/>
          </a:p>
          <a:p>
            <a:pPr indent="0" marL="0">
              <a:buNone/>
            </a:pPr>
            <a:r>
              <a:rPr lang="en-US" sz="1400" dirty="0">
                <a:solidFill>
                  <a:schemeClr val="accent1"/>
                </a:solidFill>
              </a:rPr>
              <a:t>Proyecto integrador · Agentic Software Development (.NET 10) · Angel Hermoza · 31/10/2026</a:t>
            </a:r>
            <a:endParaRPr lang="en-US" sz="2000" dirty="0"/>
          </a:p>
        </p:txBody>
      </p:sp>
      <p:sp>
        <p:nvSpPr>
          <p:cNvPr id="4" name="circulo-1"/>
          <p:cNvSpPr/>
          <p:nvPr/>
        </p:nvSpPr>
        <p:spPr>
          <a:xfrm>
            <a:off x="7863840" y="822960"/>
            <a:ext cx="914400" cy="914400"/>
          </a:xfrm>
          <a:prstGeom prst="ellipse">
            <a:avLst/>
          </a:prstGeom>
          <a:solidFill>
            <a:schemeClr val="accent5"/>
          </a:solidFill>
          <a:ln w="12700">
            <a:solidFill>
              <a:schemeClr val="accent5"/>
            </a:solidFill>
            <a:prstDash val="solid"/>
          </a:ln>
        </p:spPr>
      </p:sp>
      <p:sp>
        <p:nvSpPr>
          <p:cNvPr id="5" name="num-2"/>
          <p:cNvSpPr txBox="1"/>
          <p:nvPr/>
        </p:nvSpPr>
        <p:spPr>
          <a:xfrm>
            <a:off x="7863840" y="822960"/>
            <a:ext cx="914400" cy="914400"/>
          </a:xfrm>
          <a:prstGeom prst="rect">
            <a:avLst/>
          </a:prstGeom>
          <a:noFill/>
          <a:ln/>
        </p:spPr>
        <p:txBody>
          <a:bodyPr wrap="square" lIns="0" tIns="0" rIns="0" bIns="0" rtlCol="0" anchor="ctr"/>
          <a:lstStyle/>
          <a:p>
            <a:pPr algn="ctr" indent="0" marL="0">
              <a:buNone/>
            </a:pPr>
            <a:r>
              <a:rPr lang="en-US" sz="1500" b="1" dirty="0">
                <a:solidFill>
                  <a:schemeClr val="bg1"/>
                </a:solidFill>
              </a:rPr>
              <a:t>MP</a:t>
            </a:r>
            <a:endParaRPr lang="en-US" sz="1500" dirty="0"/>
          </a:p>
        </p:txBody>
      </p:sp>
      <p:sp>
        <p:nvSpPr>
          <p:cNvPr id="6" name="flecha-3"/>
          <p:cNvSpPr/>
          <p:nvPr/>
        </p:nvSpPr>
        <p:spPr>
          <a:xfrm>
            <a:off x="8796528" y="1280160"/>
            <a:ext cx="365760" cy="0"/>
          </a:xfrm>
          <a:prstGeom prst="line">
            <a:avLst/>
          </a:prstGeom>
          <a:noFill/>
          <a:ln w="25400">
            <a:solidFill>
              <a:schemeClr val="accent6"/>
            </a:solidFill>
            <a:prstDash val="solid"/>
            <a:tailEnd type="triangle"/>
          </a:ln>
        </p:spPr>
      </p:sp>
      <p:sp>
        <p:nvSpPr>
          <p:cNvPr id="7" name="circulo-4"/>
          <p:cNvSpPr/>
          <p:nvPr/>
        </p:nvSpPr>
        <p:spPr>
          <a:xfrm>
            <a:off x="9189720" y="822960"/>
            <a:ext cx="914400" cy="914400"/>
          </a:xfrm>
          <a:prstGeom prst="ellipse">
            <a:avLst/>
          </a:prstGeom>
          <a:solidFill>
            <a:schemeClr val="accent5"/>
          </a:solidFill>
          <a:ln w="12700">
            <a:solidFill>
              <a:schemeClr val="accent5"/>
            </a:solidFill>
            <a:prstDash val="solid"/>
          </a:ln>
        </p:spPr>
      </p:sp>
      <p:sp>
        <p:nvSpPr>
          <p:cNvPr id="8" name="num-5"/>
          <p:cNvSpPr txBox="1"/>
          <p:nvPr/>
        </p:nvSpPr>
        <p:spPr>
          <a:xfrm>
            <a:off x="9189720" y="822960"/>
            <a:ext cx="914400" cy="914400"/>
          </a:xfrm>
          <a:prstGeom prst="rect">
            <a:avLst/>
          </a:prstGeom>
          <a:noFill/>
          <a:ln/>
        </p:spPr>
        <p:txBody>
          <a:bodyPr wrap="square" lIns="0" tIns="0" rIns="0" bIns="0" rtlCol="0" anchor="ctr"/>
          <a:lstStyle/>
          <a:p>
            <a:pPr algn="ctr" indent="0" marL="0">
              <a:buNone/>
            </a:pPr>
            <a:r>
              <a:rPr lang="en-US" sz="1500" b="1" dirty="0">
                <a:solidFill>
                  <a:schemeClr val="bg1"/>
                </a:solidFill>
              </a:rPr>
              <a:t>Fecha</a:t>
            </a:r>
            <a:endParaRPr lang="en-US" sz="1500" dirty="0"/>
          </a:p>
        </p:txBody>
      </p:sp>
      <p:sp>
        <p:nvSpPr>
          <p:cNvPr id="9" name="flecha-6"/>
          <p:cNvSpPr/>
          <p:nvPr/>
        </p:nvSpPr>
        <p:spPr>
          <a:xfrm>
            <a:off x="10122408" y="1280160"/>
            <a:ext cx="365760" cy="0"/>
          </a:xfrm>
          <a:prstGeom prst="line">
            <a:avLst/>
          </a:prstGeom>
          <a:noFill/>
          <a:ln w="25400">
            <a:solidFill>
              <a:schemeClr val="accent6"/>
            </a:solidFill>
            <a:prstDash val="solid"/>
            <a:tailEnd type="triangle"/>
          </a:ln>
        </p:spPr>
      </p:sp>
      <p:sp>
        <p:nvSpPr>
          <p:cNvPr id="10" name="circulo-7"/>
          <p:cNvSpPr/>
          <p:nvPr/>
        </p:nvSpPr>
        <p:spPr>
          <a:xfrm>
            <a:off x="10515600" y="822960"/>
            <a:ext cx="914400" cy="914400"/>
          </a:xfrm>
          <a:prstGeom prst="ellipse">
            <a:avLst/>
          </a:prstGeom>
          <a:solidFill>
            <a:schemeClr val="accent1"/>
          </a:solidFill>
          <a:ln w="12700">
            <a:solidFill>
              <a:schemeClr val="accent1"/>
            </a:solidFill>
            <a:prstDash val="solid"/>
          </a:ln>
        </p:spPr>
      </p:sp>
      <p:sp>
        <p:nvSpPr>
          <p:cNvPr id="11" name="num-8"/>
          <p:cNvSpPr txBox="1"/>
          <p:nvPr/>
        </p:nvSpPr>
        <p:spPr>
          <a:xfrm>
            <a:off x="10515600" y="822960"/>
            <a:ext cx="914400" cy="914400"/>
          </a:xfrm>
          <a:prstGeom prst="rect">
            <a:avLst/>
          </a:prstGeom>
          <a:noFill/>
          <a:ln/>
        </p:spPr>
        <p:txBody>
          <a:bodyPr wrap="square" lIns="0" tIns="0" rIns="0" bIns="0" rtlCol="0" anchor="ctr"/>
          <a:lstStyle/>
          <a:p>
            <a:pPr algn="ctr" indent="0" marL="0">
              <a:buNone/>
            </a:pPr>
            <a:r>
              <a:rPr lang="en-US" sz="1500" b="1" dirty="0">
                <a:solidFill>
                  <a:schemeClr val="tx2"/>
                </a:solidFill>
              </a:rPr>
              <a:t>OT</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El sistema original fallaba donde más duele</a:t>
            </a:r>
            <a:endParaRPr lang="en-US" sz="3400" dirty="0"/>
          </a:p>
        </p:txBody>
      </p:sp>
      <p:sp>
        <p:nvSpPr>
          <p:cNvPr id="3" name="tarjeta-9"/>
          <p:cNvSpPr/>
          <p:nvPr/>
        </p:nvSpPr>
        <p:spPr>
          <a:xfrm>
            <a:off x="548640" y="1554480"/>
            <a:ext cx="2606040" cy="3200400"/>
          </a:xfrm>
          <a:prstGeom prst="roundRect">
            <a:avLst>
              <a:gd name="adj" fmla="val 4211"/>
            </a:avLst>
          </a:prstGeom>
          <a:solidFill>
            <a:schemeClr val="bg2"/>
          </a:solidFill>
          <a:ln w="12700">
            <a:solidFill>
              <a:schemeClr val="bg2"/>
            </a:solidFill>
            <a:prstDash val="solid"/>
          </a:ln>
        </p:spPr>
      </p:sp>
      <p:sp>
        <p:nvSpPr>
          <p:cNvPr id="4" name="texto-10"/>
          <p:cNvSpPr txBox="1"/>
          <p:nvPr/>
        </p:nvSpPr>
        <p:spPr>
          <a:xfrm>
            <a:off x="822960" y="1920240"/>
            <a:ext cx="2103120" cy="91440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4 pasos</a:t>
            </a:r>
            <a:endParaRPr lang="en-US" sz="3600" dirty="0"/>
          </a:p>
        </p:txBody>
      </p:sp>
      <p:sp>
        <p:nvSpPr>
          <p:cNvPr id="5" name="texto-11"/>
          <p:cNvSpPr txBox="1"/>
          <p:nvPr/>
        </p:nvSpPr>
        <p:spPr>
          <a:xfrm>
            <a:off x="822960" y="3017520"/>
            <a:ext cx="2103120" cy="2377440"/>
          </a:xfrm>
          <a:prstGeom prst="rect">
            <a:avLst/>
          </a:prstGeom>
          <a:noFill/>
          <a:ln/>
        </p:spPr>
        <p:txBody>
          <a:bodyPr wrap="square" lIns="0" tIns="0" rIns="0" bIns="0" rtlCol="0" anchor="t"/>
          <a:lstStyle/>
          <a:p>
            <a:pPr indent="0" marL="0">
              <a:buNone/>
            </a:pPr>
            <a:r>
              <a:rPr lang="en-US" sz="1500" dirty="0">
                <a:solidFill>
                  <a:schemeClr val="tx1"/>
                </a:solidFill>
              </a:rPr>
              <a:t>para tomar el número de OT, sin transacción: dos usuarios podían recibir el mismo número</a:t>
            </a:r>
            <a:endParaRPr lang="en-US" sz="1500" dirty="0"/>
          </a:p>
        </p:txBody>
      </p:sp>
      <p:sp>
        <p:nvSpPr>
          <p:cNvPr id="6" name="tarjeta-12"/>
          <p:cNvSpPr/>
          <p:nvPr/>
        </p:nvSpPr>
        <p:spPr>
          <a:xfrm>
            <a:off x="3346704" y="1554480"/>
            <a:ext cx="2606040" cy="3200400"/>
          </a:xfrm>
          <a:prstGeom prst="roundRect">
            <a:avLst>
              <a:gd name="adj" fmla="val 4211"/>
            </a:avLst>
          </a:prstGeom>
          <a:solidFill>
            <a:schemeClr val="bg2"/>
          </a:solidFill>
          <a:ln w="12700">
            <a:solidFill>
              <a:schemeClr val="bg2"/>
            </a:solidFill>
            <a:prstDash val="solid"/>
          </a:ln>
        </p:spPr>
      </p:sp>
      <p:sp>
        <p:nvSpPr>
          <p:cNvPr id="7" name="texto-13"/>
          <p:cNvSpPr txBox="1"/>
          <p:nvPr/>
        </p:nvSpPr>
        <p:spPr>
          <a:xfrm>
            <a:off x="3621024" y="1920240"/>
            <a:ext cx="2103120" cy="91440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«Éxito»</a:t>
            </a:r>
            <a:endParaRPr lang="en-US" sz="3600" dirty="0"/>
          </a:p>
        </p:txBody>
      </p:sp>
      <p:sp>
        <p:nvSpPr>
          <p:cNvPr id="8" name="texto-14"/>
          <p:cNvSpPr txBox="1"/>
          <p:nvPr/>
        </p:nvSpPr>
        <p:spPr>
          <a:xfrm>
            <a:off x="3621024" y="3017520"/>
            <a:ext cx="2103120" cy="2377440"/>
          </a:xfrm>
          <a:prstGeom prst="rect">
            <a:avLst/>
          </a:prstGeom>
          <a:noFill/>
          <a:ln/>
        </p:spPr>
        <p:txBody>
          <a:bodyPr wrap="square" lIns="0" tIns="0" rIns="0" bIns="0" rtlCol="0" anchor="t"/>
          <a:lstStyle/>
          <a:p>
            <a:pPr indent="0" marL="0">
              <a:buNone/>
            </a:pPr>
            <a:r>
              <a:rPr lang="en-US" sz="1500" dirty="0">
                <a:solidFill>
                  <a:schemeClr val="tx1"/>
                </a:solidFill>
              </a:rPr>
              <a:t>en pantalla aunque el procedimiento fallara: 36 de 49 procedimientos no existen en la base de prueba</a:t>
            </a:r>
            <a:endParaRPr lang="en-US" sz="1500" dirty="0"/>
          </a:p>
        </p:txBody>
      </p:sp>
      <p:sp>
        <p:nvSpPr>
          <p:cNvPr id="9" name="tarjeta-15"/>
          <p:cNvSpPr/>
          <p:nvPr/>
        </p:nvSpPr>
        <p:spPr>
          <a:xfrm>
            <a:off x="6144768" y="1554480"/>
            <a:ext cx="2606040" cy="3200400"/>
          </a:xfrm>
          <a:prstGeom prst="roundRect">
            <a:avLst>
              <a:gd name="adj" fmla="val 4211"/>
            </a:avLst>
          </a:prstGeom>
          <a:solidFill>
            <a:schemeClr val="bg2"/>
          </a:solidFill>
          <a:ln w="12700">
            <a:solidFill>
              <a:schemeClr val="bg2"/>
            </a:solidFill>
            <a:prstDash val="solid"/>
          </a:ln>
        </p:spPr>
      </p:sp>
      <p:sp>
        <p:nvSpPr>
          <p:cNvPr id="10" name="texto-16"/>
          <p:cNvSpPr txBox="1"/>
          <p:nvPr/>
        </p:nvSpPr>
        <p:spPr>
          <a:xfrm>
            <a:off x="6419088" y="1920240"/>
            <a:ext cx="2103120" cy="91440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1,2 MB</a:t>
            </a:r>
            <a:endParaRPr lang="en-US" sz="3600" dirty="0"/>
          </a:p>
        </p:txBody>
      </p:sp>
      <p:sp>
        <p:nvSpPr>
          <p:cNvPr id="11" name="texto-17"/>
          <p:cNvSpPr txBox="1"/>
          <p:nvPr/>
        </p:nvSpPr>
        <p:spPr>
          <a:xfrm>
            <a:off x="6419088" y="3017520"/>
            <a:ext cx="2103120" cy="2377440"/>
          </a:xfrm>
          <a:prstGeom prst="rect">
            <a:avLst/>
          </a:prstGeom>
          <a:noFill/>
          <a:ln/>
        </p:spPr>
        <p:txBody>
          <a:bodyPr wrap="square" lIns="0" tIns="0" rIns="0" bIns="0" rtlCol="0" anchor="t"/>
          <a:lstStyle/>
          <a:p>
            <a:pPr indent="0" marL="0">
              <a:buNone/>
            </a:pPr>
            <a:r>
              <a:rPr lang="en-US" sz="1500" dirty="0">
                <a:solidFill>
                  <a:schemeClr val="tx1"/>
                </a:solidFill>
              </a:rPr>
              <a:t>pesaba la lista de OT, con 26 000 filas; la queja principal de los usuarios era la lentitud</a:t>
            </a:r>
            <a:endParaRPr lang="en-US" sz="1500" dirty="0"/>
          </a:p>
        </p:txBody>
      </p:sp>
      <p:sp>
        <p:nvSpPr>
          <p:cNvPr id="12" name="tarjeta-18"/>
          <p:cNvSpPr/>
          <p:nvPr/>
        </p:nvSpPr>
        <p:spPr>
          <a:xfrm>
            <a:off x="8942832" y="1554480"/>
            <a:ext cx="2606040" cy="3200400"/>
          </a:xfrm>
          <a:prstGeom prst="roundRect">
            <a:avLst>
              <a:gd name="adj" fmla="val 4211"/>
            </a:avLst>
          </a:prstGeom>
          <a:solidFill>
            <a:schemeClr val="bg2"/>
          </a:solidFill>
          <a:ln w="12700">
            <a:solidFill>
              <a:schemeClr val="bg2"/>
            </a:solidFill>
            <a:prstDash val="solid"/>
          </a:ln>
        </p:spPr>
      </p:sp>
      <p:sp>
        <p:nvSpPr>
          <p:cNvPr id="13" name="texto-19"/>
          <p:cNvSpPr txBox="1"/>
          <p:nvPr/>
        </p:nvSpPr>
        <p:spPr>
          <a:xfrm>
            <a:off x="9217152" y="1920240"/>
            <a:ext cx="2103120" cy="91440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9 de 11</a:t>
            </a:r>
            <a:endParaRPr lang="en-US" sz="3600" dirty="0"/>
          </a:p>
        </p:txBody>
      </p:sp>
      <p:sp>
        <p:nvSpPr>
          <p:cNvPr id="14" name="texto-20"/>
          <p:cNvSpPr txBox="1"/>
          <p:nvPr/>
        </p:nvSpPr>
        <p:spPr>
          <a:xfrm>
            <a:off x="9217152" y="3017520"/>
            <a:ext cx="2103120" cy="2377440"/>
          </a:xfrm>
          <a:prstGeom prst="rect">
            <a:avLst/>
          </a:prstGeom>
          <a:noFill/>
          <a:ln/>
        </p:spPr>
        <p:txBody>
          <a:bodyPr wrap="square" lIns="0" tIns="0" rIns="0" bIns="0" rtlCol="0" anchor="t"/>
          <a:lstStyle/>
          <a:p>
            <a:pPr indent="0" marL="0">
              <a:buNone/>
            </a:pPr>
            <a:r>
              <a:rPr lang="en-US" sz="1500" dirty="0">
                <a:solidFill>
                  <a:schemeClr val="tx1"/>
                </a:solidFill>
              </a:rPr>
              <a:t>pantallas se abrían sin iniciar sesión, y cualquier usuario veía todo</a:t>
            </a:r>
            <a:endParaRPr lang="en-US" sz="1500" dirty="0"/>
          </a:p>
        </p:txBody>
      </p:sp>
      <p:sp>
        <p:nvSpPr>
          <p:cNvPr id="15" name="texto-21"/>
          <p:cNvSpPr txBox="1"/>
          <p:nvPr/>
        </p:nvSpPr>
        <p:spPr>
          <a:xfrm>
            <a:off x="548640" y="5029200"/>
            <a:ext cx="10972800" cy="365760"/>
          </a:xfrm>
          <a:prstGeom prst="rect">
            <a:avLst/>
          </a:prstGeom>
          <a:noFill/>
          <a:ln/>
        </p:spPr>
        <p:txBody>
          <a:bodyPr wrap="square" lIns="0" tIns="0" rIns="0" bIns="0" rtlCol="0" anchor="t"/>
          <a:lstStyle/>
          <a:p>
            <a:pPr indent="0" marL="0">
              <a:buNone/>
            </a:pPr>
            <a:r>
              <a:rPr lang="en-US" sz="1200" i="1" dirty="0">
                <a:solidFill>
                  <a:schemeClr val="accent4"/>
                </a:solidFill>
              </a:rPr>
              <a:t>Hallazgos del análisis del sistema original (código, base de datos y validación con un usuario).</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Un módulo acotado, de punta a punta</a:t>
            </a:r>
            <a:endParaRPr lang="en-US" sz="3400" dirty="0"/>
          </a:p>
        </p:txBody>
      </p:sp>
      <p:sp>
        <p:nvSpPr>
          <p:cNvPr id="3" name="tarjeta-22"/>
          <p:cNvSpPr/>
          <p:nvPr/>
        </p:nvSpPr>
        <p:spPr>
          <a:xfrm>
            <a:off x="548640" y="1645920"/>
            <a:ext cx="3383280" cy="2377440"/>
          </a:xfrm>
          <a:prstGeom prst="roundRect">
            <a:avLst>
              <a:gd name="adj" fmla="val 4615"/>
            </a:avLst>
          </a:prstGeom>
          <a:solidFill>
            <a:schemeClr val="bg2"/>
          </a:solidFill>
          <a:ln w="12700">
            <a:solidFill>
              <a:schemeClr val="bg2"/>
            </a:solidFill>
            <a:prstDash val="solid"/>
          </a:ln>
        </p:spPr>
      </p:sp>
      <p:sp>
        <p:nvSpPr>
          <p:cNvPr id="4" name="circulo-23"/>
          <p:cNvSpPr/>
          <p:nvPr/>
        </p:nvSpPr>
        <p:spPr>
          <a:xfrm>
            <a:off x="822960" y="1920240"/>
            <a:ext cx="640080" cy="640080"/>
          </a:xfrm>
          <a:prstGeom prst="ellipse">
            <a:avLst/>
          </a:prstGeom>
          <a:solidFill>
            <a:schemeClr val="accent1"/>
          </a:solidFill>
          <a:ln w="12700">
            <a:solidFill>
              <a:schemeClr val="accent1"/>
            </a:solidFill>
            <a:prstDash val="solid"/>
          </a:ln>
        </p:spPr>
      </p:sp>
      <p:sp>
        <p:nvSpPr>
          <p:cNvPr id="5" name="num-24"/>
          <p:cNvSpPr txBox="1"/>
          <p:nvPr/>
        </p:nvSpPr>
        <p:spPr>
          <a:xfrm>
            <a:off x="822960" y="1920240"/>
            <a:ext cx="640080" cy="640080"/>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6" name="texto-25"/>
          <p:cNvSpPr txBox="1"/>
          <p:nvPr/>
        </p:nvSpPr>
        <p:spPr>
          <a:xfrm>
            <a:off x="1645920" y="1965960"/>
            <a:ext cx="2194560" cy="640080"/>
          </a:xfrm>
          <a:prstGeom prst="rect">
            <a:avLst/>
          </a:prstGeom>
          <a:noFill/>
          <a:ln/>
        </p:spPr>
        <p:txBody>
          <a:bodyPr wrap="square" lIns="0" tIns="0" rIns="0" bIns="0" rtlCol="0" anchor="t"/>
          <a:lstStyle/>
          <a:p>
            <a:pPr indent="0" marL="0">
              <a:buNone/>
            </a:pPr>
            <a:r>
              <a:rPr lang="en-US" sz="2000" b="1" dirty="0">
                <a:solidFill>
                  <a:schemeClr val="tx2"/>
                </a:solidFill>
              </a:rPr>
              <a:t>Mantenimiento preventivo</a:t>
            </a:r>
            <a:endParaRPr lang="en-US" sz="2000" dirty="0"/>
          </a:p>
        </p:txBody>
      </p:sp>
      <p:sp>
        <p:nvSpPr>
          <p:cNvPr id="7" name="texto-26"/>
          <p:cNvSpPr txBox="1"/>
          <p:nvPr/>
        </p:nvSpPr>
        <p:spPr>
          <a:xfrm>
            <a:off x="822960" y="2834640"/>
            <a:ext cx="2834640" cy="1005840"/>
          </a:xfrm>
          <a:prstGeom prst="rect">
            <a:avLst/>
          </a:prstGeom>
          <a:noFill/>
          <a:ln/>
        </p:spPr>
        <p:txBody>
          <a:bodyPr wrap="square" lIns="0" tIns="0" rIns="0" bIns="0" rtlCol="0" anchor="t"/>
          <a:lstStyle/>
          <a:p>
            <a:pPr indent="0" marL="0">
              <a:buNone/>
            </a:pPr>
            <a:r>
              <a:rPr lang="en-US" sz="1500" dirty="0">
                <a:solidFill>
                  <a:schemeClr val="tx1"/>
                </a:solidFill>
              </a:rPr>
              <a:t>Se registra, se edita y se aprueba</a:t>
            </a:r>
            <a:endParaRPr lang="en-US" sz="1500" dirty="0"/>
          </a:p>
        </p:txBody>
      </p:sp>
      <p:sp>
        <p:nvSpPr>
          <p:cNvPr id="8" name="flecha-27"/>
          <p:cNvSpPr/>
          <p:nvPr/>
        </p:nvSpPr>
        <p:spPr>
          <a:xfrm>
            <a:off x="3977640" y="2834640"/>
            <a:ext cx="274320" cy="0"/>
          </a:xfrm>
          <a:prstGeom prst="line">
            <a:avLst/>
          </a:prstGeom>
          <a:noFill/>
          <a:ln w="38100">
            <a:solidFill>
              <a:schemeClr val="accent1"/>
            </a:solidFill>
            <a:prstDash val="solid"/>
            <a:tailEnd type="triangle"/>
          </a:ln>
        </p:spPr>
      </p:sp>
      <p:sp>
        <p:nvSpPr>
          <p:cNvPr id="9" name="tarjeta-28"/>
          <p:cNvSpPr/>
          <p:nvPr/>
        </p:nvSpPr>
        <p:spPr>
          <a:xfrm>
            <a:off x="4297680" y="1645920"/>
            <a:ext cx="3383280" cy="2377440"/>
          </a:xfrm>
          <a:prstGeom prst="roundRect">
            <a:avLst>
              <a:gd name="adj" fmla="val 4615"/>
            </a:avLst>
          </a:prstGeom>
          <a:solidFill>
            <a:schemeClr val="bg2"/>
          </a:solidFill>
          <a:ln w="12700">
            <a:solidFill>
              <a:schemeClr val="bg2"/>
            </a:solidFill>
            <a:prstDash val="solid"/>
          </a:ln>
        </p:spPr>
      </p:sp>
      <p:sp>
        <p:nvSpPr>
          <p:cNvPr id="10" name="circulo-29"/>
          <p:cNvSpPr/>
          <p:nvPr/>
        </p:nvSpPr>
        <p:spPr>
          <a:xfrm>
            <a:off x="4572000" y="1920240"/>
            <a:ext cx="640080" cy="640080"/>
          </a:xfrm>
          <a:prstGeom prst="ellipse">
            <a:avLst/>
          </a:prstGeom>
          <a:solidFill>
            <a:schemeClr val="accent1"/>
          </a:solidFill>
          <a:ln w="12700">
            <a:solidFill>
              <a:schemeClr val="accent1"/>
            </a:solidFill>
            <a:prstDash val="solid"/>
          </a:ln>
        </p:spPr>
      </p:sp>
      <p:sp>
        <p:nvSpPr>
          <p:cNvPr id="11" name="num-30"/>
          <p:cNvSpPr txBox="1"/>
          <p:nvPr/>
        </p:nvSpPr>
        <p:spPr>
          <a:xfrm>
            <a:off x="4572000" y="1920240"/>
            <a:ext cx="640080" cy="640080"/>
          </a:xfrm>
          <a:prstGeom prst="rect">
            <a:avLst/>
          </a:prstGeom>
          <a:no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12" name="texto-31"/>
          <p:cNvSpPr txBox="1"/>
          <p:nvPr/>
        </p:nvSpPr>
        <p:spPr>
          <a:xfrm>
            <a:off x="5394960" y="1965960"/>
            <a:ext cx="2194560" cy="640080"/>
          </a:xfrm>
          <a:prstGeom prst="rect">
            <a:avLst/>
          </a:prstGeom>
          <a:noFill/>
          <a:ln/>
        </p:spPr>
        <p:txBody>
          <a:bodyPr wrap="square" lIns="0" tIns="0" rIns="0" bIns="0" rtlCol="0" anchor="t"/>
          <a:lstStyle/>
          <a:p>
            <a:pPr indent="0" marL="0">
              <a:buNone/>
            </a:pPr>
            <a:r>
              <a:rPr lang="en-US" sz="2000" b="1" dirty="0">
                <a:solidFill>
                  <a:schemeClr val="tx2"/>
                </a:solidFill>
              </a:rPr>
              <a:t>Fecha programada</a:t>
            </a:r>
            <a:endParaRPr lang="en-US" sz="2000" dirty="0"/>
          </a:p>
        </p:txBody>
      </p:sp>
      <p:sp>
        <p:nvSpPr>
          <p:cNvPr id="13" name="texto-32"/>
          <p:cNvSpPr txBox="1"/>
          <p:nvPr/>
        </p:nvSpPr>
        <p:spPr>
          <a:xfrm>
            <a:off x="4572000" y="2834640"/>
            <a:ext cx="2834640" cy="1005840"/>
          </a:xfrm>
          <a:prstGeom prst="rect">
            <a:avLst/>
          </a:prstGeom>
          <a:noFill/>
          <a:ln/>
        </p:spPr>
        <p:txBody>
          <a:bodyPr wrap="square" lIns="0" tIns="0" rIns="0" bIns="0" rtlCol="0" anchor="t"/>
          <a:lstStyle/>
          <a:p>
            <a:pPr indent="0" marL="0">
              <a:buNone/>
            </a:pPr>
            <a:r>
              <a:rPr lang="en-US" sz="1500" dirty="0">
                <a:solidFill>
                  <a:schemeClr val="tx1"/>
                </a:solidFill>
              </a:rPr>
              <a:t>Solo para un MP aprobado; inicio posterior a hoy</a:t>
            </a:r>
            <a:endParaRPr lang="en-US" sz="1500" dirty="0"/>
          </a:p>
        </p:txBody>
      </p:sp>
      <p:sp>
        <p:nvSpPr>
          <p:cNvPr id="14" name="flecha-33"/>
          <p:cNvSpPr/>
          <p:nvPr/>
        </p:nvSpPr>
        <p:spPr>
          <a:xfrm>
            <a:off x="7726680" y="2834640"/>
            <a:ext cx="274320" cy="0"/>
          </a:xfrm>
          <a:prstGeom prst="line">
            <a:avLst/>
          </a:prstGeom>
          <a:noFill/>
          <a:ln w="38100">
            <a:solidFill>
              <a:schemeClr val="accent1"/>
            </a:solidFill>
            <a:prstDash val="solid"/>
            <a:tailEnd type="triangle"/>
          </a:ln>
        </p:spPr>
      </p:sp>
      <p:sp>
        <p:nvSpPr>
          <p:cNvPr id="15" name="tarjeta-34"/>
          <p:cNvSpPr/>
          <p:nvPr/>
        </p:nvSpPr>
        <p:spPr>
          <a:xfrm>
            <a:off x="8046720" y="1645920"/>
            <a:ext cx="3383280" cy="2377440"/>
          </a:xfrm>
          <a:prstGeom prst="roundRect">
            <a:avLst>
              <a:gd name="adj" fmla="val 4615"/>
            </a:avLst>
          </a:prstGeom>
          <a:solidFill>
            <a:schemeClr val="bg2"/>
          </a:solidFill>
          <a:ln w="12700">
            <a:solidFill>
              <a:schemeClr val="bg2"/>
            </a:solidFill>
            <a:prstDash val="solid"/>
          </a:ln>
        </p:spPr>
      </p:sp>
      <p:sp>
        <p:nvSpPr>
          <p:cNvPr id="16" name="circulo-35"/>
          <p:cNvSpPr/>
          <p:nvPr/>
        </p:nvSpPr>
        <p:spPr>
          <a:xfrm>
            <a:off x="8321040" y="1920240"/>
            <a:ext cx="640080" cy="640080"/>
          </a:xfrm>
          <a:prstGeom prst="ellipse">
            <a:avLst/>
          </a:prstGeom>
          <a:solidFill>
            <a:schemeClr val="accent1"/>
          </a:solidFill>
          <a:ln w="12700">
            <a:solidFill>
              <a:schemeClr val="accent1"/>
            </a:solidFill>
            <a:prstDash val="solid"/>
          </a:ln>
        </p:spPr>
      </p:sp>
      <p:sp>
        <p:nvSpPr>
          <p:cNvPr id="17" name="num-36"/>
          <p:cNvSpPr txBox="1"/>
          <p:nvPr/>
        </p:nvSpPr>
        <p:spPr>
          <a:xfrm>
            <a:off x="8321040" y="1920240"/>
            <a:ext cx="640080" cy="640080"/>
          </a:xfrm>
          <a:prstGeom prst="rect">
            <a:avLst/>
          </a:prstGeom>
          <a:no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18" name="texto-37"/>
          <p:cNvSpPr txBox="1"/>
          <p:nvPr/>
        </p:nvSpPr>
        <p:spPr>
          <a:xfrm>
            <a:off x="9144000" y="1965960"/>
            <a:ext cx="2194560" cy="640080"/>
          </a:xfrm>
          <a:prstGeom prst="rect">
            <a:avLst/>
          </a:prstGeom>
          <a:noFill/>
          <a:ln/>
        </p:spPr>
        <p:txBody>
          <a:bodyPr wrap="square" lIns="0" tIns="0" rIns="0" bIns="0" rtlCol="0" anchor="t"/>
          <a:lstStyle/>
          <a:p>
            <a:pPr indent="0" marL="0">
              <a:buNone/>
            </a:pPr>
            <a:r>
              <a:rPr lang="en-US" sz="2000" b="1" dirty="0">
                <a:solidFill>
                  <a:schemeClr val="tx2"/>
                </a:solidFill>
              </a:rPr>
              <a:t>Orden de trabajo</a:t>
            </a:r>
            <a:endParaRPr lang="en-US" sz="2000" dirty="0"/>
          </a:p>
        </p:txBody>
      </p:sp>
      <p:sp>
        <p:nvSpPr>
          <p:cNvPr id="19" name="texto-38"/>
          <p:cNvSpPr txBox="1"/>
          <p:nvPr/>
        </p:nvSpPr>
        <p:spPr>
          <a:xfrm>
            <a:off x="8321040" y="2834640"/>
            <a:ext cx="2834640" cy="1005840"/>
          </a:xfrm>
          <a:prstGeom prst="rect">
            <a:avLst/>
          </a:prstGeom>
          <a:noFill/>
          <a:ln/>
        </p:spPr>
        <p:txBody>
          <a:bodyPr wrap="square" lIns="0" tIns="0" rIns="0" bIns="0" rtlCol="0" anchor="t"/>
          <a:lstStyle/>
          <a:p>
            <a:pPr indent="0" marL="0">
              <a:buNone/>
            </a:pPr>
            <a:r>
              <a:rPr lang="en-US" sz="1500" dirty="0">
                <a:solidFill>
                  <a:schemeClr val="tx1"/>
                </a:solidFill>
              </a:rPr>
              <a:t>Número único garantizado; estados con historial</a:t>
            </a:r>
            <a:endParaRPr lang="en-US" sz="1500" dirty="0"/>
          </a:p>
        </p:txBody>
      </p:sp>
      <p:sp>
        <p:nvSpPr>
          <p:cNvPr id="20" name="texto-39"/>
          <p:cNvSpPr txBox="1"/>
          <p:nvPr/>
        </p:nvSpPr>
        <p:spPr>
          <a:xfrm>
            <a:off x="548640" y="4434840"/>
            <a:ext cx="3383280" cy="411480"/>
          </a:xfrm>
          <a:prstGeom prst="rect">
            <a:avLst/>
          </a:prstGeom>
          <a:noFill/>
          <a:ln/>
        </p:spPr>
        <p:txBody>
          <a:bodyPr wrap="square" lIns="0" tIns="0" rIns="0" bIns="0" rtlCol="0" anchor="t"/>
          <a:lstStyle/>
          <a:p>
            <a:pPr indent="0" marL="0">
              <a:buNone/>
            </a:pPr>
            <a:r>
              <a:rPr lang="en-US" sz="1800" b="1" dirty="0">
                <a:solidFill>
                  <a:schemeClr val="accent5"/>
                </a:solidFill>
              </a:rPr>
              <a:t>API REST</a:t>
            </a:r>
            <a:endParaRPr lang="en-US" sz="1800" dirty="0"/>
          </a:p>
        </p:txBody>
      </p:sp>
      <p:sp>
        <p:nvSpPr>
          <p:cNvPr id="21" name="texto-40"/>
          <p:cNvSpPr txBox="1"/>
          <p:nvPr/>
        </p:nvSpPr>
        <p:spPr>
          <a:xfrm>
            <a:off x="548640" y="4846320"/>
            <a:ext cx="3383280" cy="731520"/>
          </a:xfrm>
          <a:prstGeom prst="rect">
            <a:avLst/>
          </a:prstGeom>
          <a:noFill/>
          <a:ln/>
        </p:spPr>
        <p:txBody>
          <a:bodyPr wrap="square" lIns="0" tIns="0" rIns="0" bIns="0" rtlCol="0" anchor="t"/>
          <a:lstStyle/>
          <a:p>
            <a:pPr indent="0" marL="0">
              <a:buNone/>
            </a:pPr>
            <a:r>
              <a:rPr lang="en-US" sz="1500" dirty="0">
                <a:solidFill>
                  <a:schemeClr val="tx1"/>
                </a:solidFill>
              </a:rPr>
              <a:t>16 operaciones, JWT y OpenAPI</a:t>
            </a:r>
            <a:endParaRPr lang="en-US" sz="1500" dirty="0"/>
          </a:p>
        </p:txBody>
      </p:sp>
      <p:sp>
        <p:nvSpPr>
          <p:cNvPr id="22" name="texto-41"/>
          <p:cNvSpPr txBox="1"/>
          <p:nvPr/>
        </p:nvSpPr>
        <p:spPr>
          <a:xfrm>
            <a:off x="4297680" y="4434840"/>
            <a:ext cx="3383280" cy="411480"/>
          </a:xfrm>
          <a:prstGeom prst="rect">
            <a:avLst/>
          </a:prstGeom>
          <a:noFill/>
          <a:ln/>
        </p:spPr>
        <p:txBody>
          <a:bodyPr wrap="square" lIns="0" tIns="0" rIns="0" bIns="0" rtlCol="0" anchor="t"/>
          <a:lstStyle/>
          <a:p>
            <a:pPr indent="0" marL="0">
              <a:buNone/>
            </a:pPr>
            <a:r>
              <a:rPr lang="en-US" sz="1800" b="1" dirty="0">
                <a:solidFill>
                  <a:schemeClr val="accent5"/>
                </a:solidFill>
              </a:rPr>
              <a:t>Web</a:t>
            </a:r>
            <a:endParaRPr lang="en-US" sz="1800" dirty="0"/>
          </a:p>
        </p:txBody>
      </p:sp>
      <p:sp>
        <p:nvSpPr>
          <p:cNvPr id="23" name="texto-42"/>
          <p:cNvSpPr txBox="1"/>
          <p:nvPr/>
        </p:nvSpPr>
        <p:spPr>
          <a:xfrm>
            <a:off x="4297680" y="4846320"/>
            <a:ext cx="3383280" cy="731520"/>
          </a:xfrm>
          <a:prstGeom prst="rect">
            <a:avLst/>
          </a:prstGeom>
          <a:noFill/>
          <a:ln/>
        </p:spPr>
        <p:txBody>
          <a:bodyPr wrap="square" lIns="0" tIns="0" rIns="0" bIns="0" rtlCol="0" anchor="t"/>
          <a:lstStyle/>
          <a:p>
            <a:pPr indent="0" marL="0">
              <a:buNone/>
            </a:pPr>
            <a:r>
              <a:rPr lang="en-US" sz="1500" dirty="0">
                <a:solidFill>
                  <a:schemeClr val="tx1"/>
                </a:solidFill>
              </a:rPr>
              <a:t>Razor Pages para el planificador y el especialista</a:t>
            </a:r>
            <a:endParaRPr lang="en-US" sz="1500" dirty="0"/>
          </a:p>
        </p:txBody>
      </p:sp>
      <p:sp>
        <p:nvSpPr>
          <p:cNvPr id="24" name="texto-43"/>
          <p:cNvSpPr txBox="1"/>
          <p:nvPr/>
        </p:nvSpPr>
        <p:spPr>
          <a:xfrm>
            <a:off x="8046720" y="4434840"/>
            <a:ext cx="3383280" cy="411480"/>
          </a:xfrm>
          <a:prstGeom prst="rect">
            <a:avLst/>
          </a:prstGeom>
          <a:noFill/>
          <a:ln/>
        </p:spPr>
        <p:txBody>
          <a:bodyPr wrap="square" lIns="0" tIns="0" rIns="0" bIns="0" rtlCol="0" anchor="t"/>
          <a:lstStyle/>
          <a:p>
            <a:pPr indent="0" marL="0">
              <a:buNone/>
            </a:pPr>
            <a:r>
              <a:rPr lang="en-US" sz="1800" b="1" dirty="0">
                <a:solidFill>
                  <a:schemeClr val="accent5"/>
                </a:solidFill>
              </a:rPr>
              <a:t>Extras</a:t>
            </a:r>
            <a:endParaRPr lang="en-US" sz="1800" dirty="0"/>
          </a:p>
        </p:txBody>
      </p:sp>
      <p:sp>
        <p:nvSpPr>
          <p:cNvPr id="25" name="texto-44"/>
          <p:cNvSpPr txBox="1"/>
          <p:nvPr/>
        </p:nvSpPr>
        <p:spPr>
          <a:xfrm>
            <a:off x="8046720" y="4846320"/>
            <a:ext cx="3383280" cy="731520"/>
          </a:xfrm>
          <a:prstGeom prst="rect">
            <a:avLst/>
          </a:prstGeom>
          <a:noFill/>
          <a:ln/>
        </p:spPr>
        <p:txBody>
          <a:bodyPr wrap="square" lIns="0" tIns="0" rIns="0" bIns="0" rtlCol="0" anchor="t"/>
          <a:lstStyle/>
          <a:p>
            <a:pPr indent="0" marL="0">
              <a:buNone/>
            </a:pPr>
            <a:r>
              <a:rPr lang="en-US" sz="1500" dirty="0">
                <a:solidFill>
                  <a:schemeClr val="tx1"/>
                </a:solidFill>
              </a:rPr>
              <a:t>Planning mensual y exportación a Excel</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Especificaciones primero, código después</a:t>
            </a:r>
            <a:endParaRPr lang="en-US" sz="3400" dirty="0"/>
          </a:p>
        </p:txBody>
      </p:sp>
      <p:sp>
        <p:nvSpPr>
          <p:cNvPr id="3" name="texto-45"/>
          <p:cNvSpPr txBox="1"/>
          <p:nvPr/>
        </p:nvSpPr>
        <p:spPr>
          <a:xfrm>
            <a:off x="548640" y="1508760"/>
            <a:ext cx="2011680" cy="914400"/>
          </a:xfrm>
          <a:prstGeom prst="rect">
            <a:avLst/>
          </a:prstGeom>
          <a:noFill/>
          <a:ln/>
        </p:spPr>
        <p:txBody>
          <a:bodyPr wrap="square" lIns="0" tIns="0" rIns="0" bIns="0" rtlCol="0" anchor="t"/>
          <a:lstStyle/>
          <a:p>
            <a:pPr indent="0" marL="0">
              <a:buNone/>
            </a:pPr>
            <a:r>
              <a:rPr lang="en-US" sz="4800" b="1" dirty="0">
                <a:solidFill>
                  <a:schemeClr val="tx2"/>
                </a:solidFill>
                <a:latin typeface="Cambria" pitchFamily="34" charset="0"/>
                <a:ea typeface="Cambria" pitchFamily="34" charset="-122"/>
                <a:cs typeface="Cambria" pitchFamily="34" charset="-120"/>
              </a:rPr>
              <a:t>12</a:t>
            </a:r>
            <a:endParaRPr lang="en-US" sz="4800" dirty="0"/>
          </a:p>
        </p:txBody>
      </p:sp>
      <p:sp>
        <p:nvSpPr>
          <p:cNvPr id="4" name="texto-46"/>
          <p:cNvSpPr txBox="1"/>
          <p:nvPr/>
        </p:nvSpPr>
        <p:spPr>
          <a:xfrm>
            <a:off x="548640" y="2423160"/>
            <a:ext cx="2011680" cy="640080"/>
          </a:xfrm>
          <a:prstGeom prst="rect">
            <a:avLst/>
          </a:prstGeom>
          <a:noFill/>
          <a:ln/>
        </p:spPr>
        <p:txBody>
          <a:bodyPr wrap="square" lIns="0" tIns="0" rIns="0" bIns="0" rtlCol="0" anchor="t"/>
          <a:lstStyle/>
          <a:p>
            <a:pPr indent="0" marL="0">
              <a:buNone/>
            </a:pPr>
            <a:r>
              <a:rPr lang="en-US" sz="1400" dirty="0">
                <a:solidFill>
                  <a:schemeClr val="accent4"/>
                </a:solidFill>
              </a:rPr>
              <a:t>requisitos funcionales</a:t>
            </a:r>
            <a:endParaRPr lang="en-US" sz="1400" dirty="0"/>
          </a:p>
        </p:txBody>
      </p:sp>
      <p:sp>
        <p:nvSpPr>
          <p:cNvPr id="5" name="texto-47"/>
          <p:cNvSpPr txBox="1"/>
          <p:nvPr/>
        </p:nvSpPr>
        <p:spPr>
          <a:xfrm>
            <a:off x="2788920" y="1508760"/>
            <a:ext cx="2011680" cy="914400"/>
          </a:xfrm>
          <a:prstGeom prst="rect">
            <a:avLst/>
          </a:prstGeom>
          <a:noFill/>
          <a:ln/>
        </p:spPr>
        <p:txBody>
          <a:bodyPr wrap="square" lIns="0" tIns="0" rIns="0" bIns="0" rtlCol="0" anchor="t"/>
          <a:lstStyle/>
          <a:p>
            <a:pPr indent="0" marL="0">
              <a:buNone/>
            </a:pPr>
            <a:r>
              <a:rPr lang="en-US" sz="4800" b="1" dirty="0">
                <a:solidFill>
                  <a:schemeClr val="tx2"/>
                </a:solidFill>
                <a:latin typeface="Cambria" pitchFamily="34" charset="0"/>
                <a:ea typeface="Cambria" pitchFamily="34" charset="-122"/>
                <a:cs typeface="Cambria" pitchFamily="34" charset="-120"/>
              </a:rPr>
              <a:t>6</a:t>
            </a:r>
            <a:endParaRPr lang="en-US" sz="4800" dirty="0"/>
          </a:p>
        </p:txBody>
      </p:sp>
      <p:sp>
        <p:nvSpPr>
          <p:cNvPr id="6" name="texto-48"/>
          <p:cNvSpPr txBox="1"/>
          <p:nvPr/>
        </p:nvSpPr>
        <p:spPr>
          <a:xfrm>
            <a:off x="2788920" y="2423160"/>
            <a:ext cx="2011680" cy="640080"/>
          </a:xfrm>
          <a:prstGeom prst="rect">
            <a:avLst/>
          </a:prstGeom>
          <a:noFill/>
          <a:ln/>
        </p:spPr>
        <p:txBody>
          <a:bodyPr wrap="square" lIns="0" tIns="0" rIns="0" bIns="0" rtlCol="0" anchor="t"/>
          <a:lstStyle/>
          <a:p>
            <a:pPr indent="0" marL="0">
              <a:buNone/>
            </a:pPr>
            <a:r>
              <a:rPr lang="en-US" sz="1400" dirty="0">
                <a:solidFill>
                  <a:schemeClr val="accent4"/>
                </a:solidFill>
              </a:rPr>
              <a:t>no funcionales medibles</a:t>
            </a:r>
            <a:endParaRPr lang="en-US" sz="1400" dirty="0"/>
          </a:p>
        </p:txBody>
      </p:sp>
      <p:sp>
        <p:nvSpPr>
          <p:cNvPr id="7" name="texto-49"/>
          <p:cNvSpPr txBox="1"/>
          <p:nvPr/>
        </p:nvSpPr>
        <p:spPr>
          <a:xfrm>
            <a:off x="5029200" y="1508760"/>
            <a:ext cx="2011680" cy="914400"/>
          </a:xfrm>
          <a:prstGeom prst="rect">
            <a:avLst/>
          </a:prstGeom>
          <a:noFill/>
          <a:ln/>
        </p:spPr>
        <p:txBody>
          <a:bodyPr wrap="square" lIns="0" tIns="0" rIns="0" bIns="0" rtlCol="0" anchor="t"/>
          <a:lstStyle/>
          <a:p>
            <a:pPr indent="0" marL="0">
              <a:buNone/>
            </a:pPr>
            <a:r>
              <a:rPr lang="en-US" sz="4800" b="1" dirty="0">
                <a:solidFill>
                  <a:schemeClr val="tx2"/>
                </a:solidFill>
                <a:latin typeface="Cambria" pitchFamily="34" charset="0"/>
                <a:ea typeface="Cambria" pitchFamily="34" charset="-122"/>
                <a:cs typeface="Cambria" pitchFamily="34" charset="-120"/>
              </a:rPr>
              <a:t>12</a:t>
            </a:r>
            <a:endParaRPr lang="en-US" sz="4800" dirty="0"/>
          </a:p>
        </p:txBody>
      </p:sp>
      <p:sp>
        <p:nvSpPr>
          <p:cNvPr id="8" name="texto-50"/>
          <p:cNvSpPr txBox="1"/>
          <p:nvPr/>
        </p:nvSpPr>
        <p:spPr>
          <a:xfrm>
            <a:off x="5029200" y="2423160"/>
            <a:ext cx="2011680" cy="640080"/>
          </a:xfrm>
          <a:prstGeom prst="rect">
            <a:avLst/>
          </a:prstGeom>
          <a:noFill/>
          <a:ln/>
        </p:spPr>
        <p:txBody>
          <a:bodyPr wrap="square" lIns="0" tIns="0" rIns="0" bIns="0" rtlCol="0" anchor="t"/>
          <a:lstStyle/>
          <a:p>
            <a:pPr indent="0" marL="0">
              <a:buNone/>
            </a:pPr>
            <a:r>
              <a:rPr lang="en-US" sz="1400" dirty="0">
                <a:solidFill>
                  <a:schemeClr val="accent4"/>
                </a:solidFill>
              </a:rPr>
              <a:t>historias Dado/Cuando/Entonces</a:t>
            </a:r>
            <a:endParaRPr lang="en-US" sz="1400" dirty="0"/>
          </a:p>
        </p:txBody>
      </p:sp>
      <p:sp>
        <p:nvSpPr>
          <p:cNvPr id="9" name="texto-51"/>
          <p:cNvSpPr txBox="1"/>
          <p:nvPr/>
        </p:nvSpPr>
        <p:spPr>
          <a:xfrm>
            <a:off x="7269480" y="1508760"/>
            <a:ext cx="2011680" cy="914400"/>
          </a:xfrm>
          <a:prstGeom prst="rect">
            <a:avLst/>
          </a:prstGeom>
          <a:noFill/>
          <a:ln/>
        </p:spPr>
        <p:txBody>
          <a:bodyPr wrap="square" lIns="0" tIns="0" rIns="0" bIns="0" rtlCol="0" anchor="t"/>
          <a:lstStyle/>
          <a:p>
            <a:pPr indent="0" marL="0">
              <a:buNone/>
            </a:pPr>
            <a:r>
              <a:rPr lang="en-US" sz="4800" b="1" dirty="0">
                <a:solidFill>
                  <a:schemeClr val="tx2"/>
                </a:solidFill>
                <a:latin typeface="Cambria" pitchFamily="34" charset="0"/>
                <a:ea typeface="Cambria" pitchFamily="34" charset="-122"/>
                <a:cs typeface="Cambria" pitchFamily="34" charset="-120"/>
              </a:rPr>
              <a:t>9</a:t>
            </a:r>
            <a:endParaRPr lang="en-US" sz="4800" dirty="0"/>
          </a:p>
        </p:txBody>
      </p:sp>
      <p:sp>
        <p:nvSpPr>
          <p:cNvPr id="10" name="texto-52"/>
          <p:cNvSpPr txBox="1"/>
          <p:nvPr/>
        </p:nvSpPr>
        <p:spPr>
          <a:xfrm>
            <a:off x="7269480" y="2423160"/>
            <a:ext cx="2011680" cy="640080"/>
          </a:xfrm>
          <a:prstGeom prst="rect">
            <a:avLst/>
          </a:prstGeom>
          <a:noFill/>
          <a:ln/>
        </p:spPr>
        <p:txBody>
          <a:bodyPr wrap="square" lIns="0" tIns="0" rIns="0" bIns="0" rtlCol="0" anchor="t"/>
          <a:lstStyle/>
          <a:p>
            <a:pPr indent="0" marL="0">
              <a:buNone/>
            </a:pPr>
            <a:r>
              <a:rPr lang="en-US" sz="1400" dirty="0">
                <a:solidFill>
                  <a:schemeClr val="accent4"/>
                </a:solidFill>
              </a:rPr>
              <a:t>casos de uso</a:t>
            </a:r>
            <a:endParaRPr lang="en-US" sz="1400" dirty="0"/>
          </a:p>
        </p:txBody>
      </p:sp>
      <p:sp>
        <p:nvSpPr>
          <p:cNvPr id="11" name="texto-53"/>
          <p:cNvSpPr txBox="1"/>
          <p:nvPr/>
        </p:nvSpPr>
        <p:spPr>
          <a:xfrm>
            <a:off x="9509760" y="1508760"/>
            <a:ext cx="2011680" cy="914400"/>
          </a:xfrm>
          <a:prstGeom prst="rect">
            <a:avLst/>
          </a:prstGeom>
          <a:noFill/>
          <a:ln/>
        </p:spPr>
        <p:txBody>
          <a:bodyPr wrap="square" lIns="0" tIns="0" rIns="0" bIns="0" rtlCol="0" anchor="t"/>
          <a:lstStyle/>
          <a:p>
            <a:pPr indent="0" marL="0">
              <a:buNone/>
            </a:pPr>
            <a:r>
              <a:rPr lang="en-US" sz="4800" b="1" dirty="0">
                <a:solidFill>
                  <a:schemeClr val="tx2"/>
                </a:solidFill>
                <a:latin typeface="Cambria" pitchFamily="34" charset="0"/>
                <a:ea typeface="Cambria" pitchFamily="34" charset="-122"/>
                <a:cs typeface="Cambria" pitchFamily="34" charset="-120"/>
              </a:rPr>
              <a:t>34</a:t>
            </a:r>
            <a:endParaRPr lang="en-US" sz="4800" dirty="0"/>
          </a:p>
        </p:txBody>
      </p:sp>
      <p:sp>
        <p:nvSpPr>
          <p:cNvPr id="12" name="texto-54"/>
          <p:cNvSpPr txBox="1"/>
          <p:nvPr/>
        </p:nvSpPr>
        <p:spPr>
          <a:xfrm>
            <a:off x="9509760" y="2423160"/>
            <a:ext cx="2011680" cy="640080"/>
          </a:xfrm>
          <a:prstGeom prst="rect">
            <a:avLst/>
          </a:prstGeom>
          <a:noFill/>
          <a:ln/>
        </p:spPr>
        <p:txBody>
          <a:bodyPr wrap="square" lIns="0" tIns="0" rIns="0" bIns="0" rtlCol="0" anchor="t"/>
          <a:lstStyle/>
          <a:p>
            <a:pPr indent="0" marL="0">
              <a:buNone/>
            </a:pPr>
            <a:r>
              <a:rPr lang="en-US" sz="1400" dirty="0">
                <a:solidFill>
                  <a:schemeClr val="accent4"/>
                </a:solidFill>
              </a:rPr>
              <a:t>reglas RN-xx con su origen</a:t>
            </a:r>
            <a:endParaRPr lang="en-US" sz="1400" dirty="0"/>
          </a:p>
        </p:txBody>
      </p:sp>
      <p:sp>
        <p:nvSpPr>
          <p:cNvPr id="13" name="texto-55"/>
          <p:cNvSpPr txBox="1"/>
          <p:nvPr/>
        </p:nvSpPr>
        <p:spPr>
          <a:xfrm>
            <a:off x="548640" y="3429000"/>
            <a:ext cx="10972800" cy="411480"/>
          </a:xfrm>
          <a:prstGeom prst="rect">
            <a:avLst/>
          </a:prstGeom>
          <a:noFill/>
          <a:ln/>
        </p:spPr>
        <p:txBody>
          <a:bodyPr wrap="square" lIns="0" tIns="0" rIns="0" bIns="0" rtlCol="0" anchor="t"/>
          <a:lstStyle/>
          <a:p>
            <a:pPr indent="0" marL="0">
              <a:buNone/>
            </a:pPr>
            <a:r>
              <a:rPr lang="en-US" sz="1800" b="1" dirty="0">
                <a:solidFill>
                  <a:schemeClr val="tx2"/>
                </a:solidFill>
              </a:rPr>
              <a:t>Matriz de trazabilidad: cada requisito llega hasta su prueba</a:t>
            </a:r>
            <a:endParaRPr lang="en-US" sz="1800" dirty="0"/>
          </a:p>
        </p:txBody>
      </p:sp>
      <p:sp>
        <p:nvSpPr>
          <p:cNvPr id="14" name="eslabon-56"/>
          <p:cNvSpPr/>
          <p:nvPr/>
        </p:nvSpPr>
        <p:spPr>
          <a:xfrm>
            <a:off x="548640" y="4023360"/>
            <a:ext cx="1371600" cy="640080"/>
          </a:xfrm>
          <a:prstGeom prst="roundRect">
            <a:avLst>
              <a:gd name="adj" fmla="val 14286"/>
            </a:avLst>
          </a:prstGeom>
          <a:solidFill>
            <a:schemeClr val="tx2"/>
          </a:solidFill>
          <a:ln w="12700">
            <a:solidFill>
              <a:schemeClr val="tx2"/>
            </a:solidFill>
            <a:prstDash val="solid"/>
          </a:ln>
        </p:spPr>
      </p:sp>
      <p:sp>
        <p:nvSpPr>
          <p:cNvPr id="15" name="texto-57"/>
          <p:cNvSpPr txBox="1"/>
          <p:nvPr/>
        </p:nvSpPr>
        <p:spPr>
          <a:xfrm>
            <a:off x="548640" y="4023360"/>
            <a:ext cx="1371600" cy="640080"/>
          </a:xfrm>
          <a:prstGeom prst="rect">
            <a:avLst/>
          </a:prstGeom>
          <a:noFill/>
          <a:ln/>
        </p:spPr>
        <p:txBody>
          <a:bodyPr wrap="square" lIns="0" tIns="0" rIns="0" bIns="0" rtlCol="0" anchor="ctr"/>
          <a:lstStyle/>
          <a:p>
            <a:pPr algn="ctr" indent="0" marL="0">
              <a:buNone/>
            </a:pPr>
            <a:r>
              <a:rPr lang="en-US" sz="1400" b="1" dirty="0">
                <a:solidFill>
                  <a:schemeClr val="bg1"/>
                </a:solidFill>
              </a:rPr>
              <a:t>Requisito</a:t>
            </a:r>
            <a:endParaRPr lang="en-US" sz="1400" dirty="0"/>
          </a:p>
        </p:txBody>
      </p:sp>
      <p:sp>
        <p:nvSpPr>
          <p:cNvPr id="16" name="flecha-58"/>
          <p:cNvSpPr/>
          <p:nvPr/>
        </p:nvSpPr>
        <p:spPr>
          <a:xfrm>
            <a:off x="1938528" y="4343400"/>
            <a:ext cx="192024" cy="0"/>
          </a:xfrm>
          <a:prstGeom prst="line">
            <a:avLst/>
          </a:prstGeom>
          <a:noFill/>
          <a:ln w="25400">
            <a:solidFill>
              <a:schemeClr val="accent1"/>
            </a:solidFill>
            <a:prstDash val="solid"/>
            <a:tailEnd type="triangle"/>
          </a:ln>
        </p:spPr>
      </p:sp>
      <p:sp>
        <p:nvSpPr>
          <p:cNvPr id="17" name="eslabon-59"/>
          <p:cNvSpPr/>
          <p:nvPr/>
        </p:nvSpPr>
        <p:spPr>
          <a:xfrm>
            <a:off x="2148840" y="4023360"/>
            <a:ext cx="1371600" cy="640080"/>
          </a:xfrm>
          <a:prstGeom prst="roundRect">
            <a:avLst>
              <a:gd name="adj" fmla="val 14286"/>
            </a:avLst>
          </a:prstGeom>
          <a:solidFill>
            <a:schemeClr val="tx2"/>
          </a:solidFill>
          <a:ln w="12700">
            <a:solidFill>
              <a:schemeClr val="tx2"/>
            </a:solidFill>
            <a:prstDash val="solid"/>
          </a:ln>
        </p:spPr>
      </p:sp>
      <p:sp>
        <p:nvSpPr>
          <p:cNvPr id="18" name="texto-60"/>
          <p:cNvSpPr txBox="1"/>
          <p:nvPr/>
        </p:nvSpPr>
        <p:spPr>
          <a:xfrm>
            <a:off x="2148840" y="4023360"/>
            <a:ext cx="1371600" cy="640080"/>
          </a:xfrm>
          <a:prstGeom prst="rect">
            <a:avLst/>
          </a:prstGeom>
          <a:noFill/>
          <a:ln/>
        </p:spPr>
        <p:txBody>
          <a:bodyPr wrap="square" lIns="0" tIns="0" rIns="0" bIns="0" rtlCol="0" anchor="ctr"/>
          <a:lstStyle/>
          <a:p>
            <a:pPr algn="ctr" indent="0" marL="0">
              <a:buNone/>
            </a:pPr>
            <a:r>
              <a:rPr lang="en-US" sz="1400" b="1" dirty="0">
                <a:solidFill>
                  <a:schemeClr val="bg1"/>
                </a:solidFill>
              </a:rPr>
              <a:t>Historia</a:t>
            </a:r>
            <a:endParaRPr lang="en-US" sz="1400" dirty="0"/>
          </a:p>
        </p:txBody>
      </p:sp>
      <p:sp>
        <p:nvSpPr>
          <p:cNvPr id="19" name="flecha-61"/>
          <p:cNvSpPr/>
          <p:nvPr/>
        </p:nvSpPr>
        <p:spPr>
          <a:xfrm>
            <a:off x="3538728" y="4343400"/>
            <a:ext cx="192024" cy="0"/>
          </a:xfrm>
          <a:prstGeom prst="line">
            <a:avLst/>
          </a:prstGeom>
          <a:noFill/>
          <a:ln w="25400">
            <a:solidFill>
              <a:schemeClr val="accent1"/>
            </a:solidFill>
            <a:prstDash val="solid"/>
            <a:tailEnd type="triangle"/>
          </a:ln>
        </p:spPr>
      </p:sp>
      <p:sp>
        <p:nvSpPr>
          <p:cNvPr id="20" name="eslabon-62"/>
          <p:cNvSpPr/>
          <p:nvPr/>
        </p:nvSpPr>
        <p:spPr>
          <a:xfrm>
            <a:off x="3749040" y="4023360"/>
            <a:ext cx="1371600" cy="640080"/>
          </a:xfrm>
          <a:prstGeom prst="roundRect">
            <a:avLst>
              <a:gd name="adj" fmla="val 14286"/>
            </a:avLst>
          </a:prstGeom>
          <a:solidFill>
            <a:schemeClr val="tx2"/>
          </a:solidFill>
          <a:ln w="12700">
            <a:solidFill>
              <a:schemeClr val="tx2"/>
            </a:solidFill>
            <a:prstDash val="solid"/>
          </a:ln>
        </p:spPr>
      </p:sp>
      <p:sp>
        <p:nvSpPr>
          <p:cNvPr id="21" name="texto-63"/>
          <p:cNvSpPr txBox="1"/>
          <p:nvPr/>
        </p:nvSpPr>
        <p:spPr>
          <a:xfrm>
            <a:off x="3749040" y="4023360"/>
            <a:ext cx="1371600" cy="640080"/>
          </a:xfrm>
          <a:prstGeom prst="rect">
            <a:avLst/>
          </a:prstGeom>
          <a:noFill/>
          <a:ln/>
        </p:spPr>
        <p:txBody>
          <a:bodyPr wrap="square" lIns="0" tIns="0" rIns="0" bIns="0" rtlCol="0" anchor="ctr"/>
          <a:lstStyle/>
          <a:p>
            <a:pPr algn="ctr" indent="0" marL="0">
              <a:buNone/>
            </a:pPr>
            <a:r>
              <a:rPr lang="en-US" sz="1400" b="1" dirty="0">
                <a:solidFill>
                  <a:schemeClr val="bg1"/>
                </a:solidFill>
              </a:rPr>
              <a:t>Caso de uso</a:t>
            </a:r>
            <a:endParaRPr lang="en-US" sz="1400" dirty="0"/>
          </a:p>
        </p:txBody>
      </p:sp>
      <p:sp>
        <p:nvSpPr>
          <p:cNvPr id="22" name="flecha-64"/>
          <p:cNvSpPr/>
          <p:nvPr/>
        </p:nvSpPr>
        <p:spPr>
          <a:xfrm>
            <a:off x="5138928" y="4343400"/>
            <a:ext cx="192024" cy="0"/>
          </a:xfrm>
          <a:prstGeom prst="line">
            <a:avLst/>
          </a:prstGeom>
          <a:noFill/>
          <a:ln w="25400">
            <a:solidFill>
              <a:schemeClr val="accent1"/>
            </a:solidFill>
            <a:prstDash val="solid"/>
            <a:tailEnd type="triangle"/>
          </a:ln>
        </p:spPr>
      </p:sp>
      <p:sp>
        <p:nvSpPr>
          <p:cNvPr id="23" name="eslabon-65"/>
          <p:cNvSpPr/>
          <p:nvPr/>
        </p:nvSpPr>
        <p:spPr>
          <a:xfrm>
            <a:off x="5349240" y="4023360"/>
            <a:ext cx="1371600" cy="640080"/>
          </a:xfrm>
          <a:prstGeom prst="roundRect">
            <a:avLst>
              <a:gd name="adj" fmla="val 14286"/>
            </a:avLst>
          </a:prstGeom>
          <a:solidFill>
            <a:schemeClr val="tx2"/>
          </a:solidFill>
          <a:ln w="12700">
            <a:solidFill>
              <a:schemeClr val="tx2"/>
            </a:solidFill>
            <a:prstDash val="solid"/>
          </a:ln>
        </p:spPr>
      </p:sp>
      <p:sp>
        <p:nvSpPr>
          <p:cNvPr id="24" name="texto-66"/>
          <p:cNvSpPr txBox="1"/>
          <p:nvPr/>
        </p:nvSpPr>
        <p:spPr>
          <a:xfrm>
            <a:off x="5349240" y="4023360"/>
            <a:ext cx="1371600" cy="640080"/>
          </a:xfrm>
          <a:prstGeom prst="rect">
            <a:avLst/>
          </a:prstGeom>
          <a:noFill/>
          <a:ln/>
        </p:spPr>
        <p:txBody>
          <a:bodyPr wrap="square" lIns="0" tIns="0" rIns="0" bIns="0" rtlCol="0" anchor="ctr"/>
          <a:lstStyle/>
          <a:p>
            <a:pPr algn="ctr" indent="0" marL="0">
              <a:buNone/>
            </a:pPr>
            <a:r>
              <a:rPr lang="en-US" sz="1400" b="1" dirty="0">
                <a:solidFill>
                  <a:schemeClr val="bg1"/>
                </a:solidFill>
              </a:rPr>
              <a:t>Regla</a:t>
            </a:r>
            <a:endParaRPr lang="en-US" sz="1400" dirty="0"/>
          </a:p>
        </p:txBody>
      </p:sp>
      <p:sp>
        <p:nvSpPr>
          <p:cNvPr id="25" name="flecha-67"/>
          <p:cNvSpPr/>
          <p:nvPr/>
        </p:nvSpPr>
        <p:spPr>
          <a:xfrm>
            <a:off x="6739128" y="4343400"/>
            <a:ext cx="192024" cy="0"/>
          </a:xfrm>
          <a:prstGeom prst="line">
            <a:avLst/>
          </a:prstGeom>
          <a:noFill/>
          <a:ln w="25400">
            <a:solidFill>
              <a:schemeClr val="accent1"/>
            </a:solidFill>
            <a:prstDash val="solid"/>
            <a:tailEnd type="triangle"/>
          </a:ln>
        </p:spPr>
      </p:sp>
      <p:sp>
        <p:nvSpPr>
          <p:cNvPr id="26" name="eslabon-68"/>
          <p:cNvSpPr/>
          <p:nvPr/>
        </p:nvSpPr>
        <p:spPr>
          <a:xfrm>
            <a:off x="6949440" y="4023360"/>
            <a:ext cx="1371600" cy="640080"/>
          </a:xfrm>
          <a:prstGeom prst="roundRect">
            <a:avLst>
              <a:gd name="adj" fmla="val 14286"/>
            </a:avLst>
          </a:prstGeom>
          <a:solidFill>
            <a:schemeClr val="tx2"/>
          </a:solidFill>
          <a:ln w="12700">
            <a:solidFill>
              <a:schemeClr val="tx2"/>
            </a:solidFill>
            <a:prstDash val="solid"/>
          </a:ln>
        </p:spPr>
      </p:sp>
      <p:sp>
        <p:nvSpPr>
          <p:cNvPr id="27" name="texto-69"/>
          <p:cNvSpPr txBox="1"/>
          <p:nvPr/>
        </p:nvSpPr>
        <p:spPr>
          <a:xfrm>
            <a:off x="6949440" y="4023360"/>
            <a:ext cx="1371600" cy="640080"/>
          </a:xfrm>
          <a:prstGeom prst="rect">
            <a:avLst/>
          </a:prstGeom>
          <a:noFill/>
          <a:ln/>
        </p:spPr>
        <p:txBody>
          <a:bodyPr wrap="square" lIns="0" tIns="0" rIns="0" bIns="0" rtlCol="0" anchor="ctr"/>
          <a:lstStyle/>
          <a:p>
            <a:pPr algn="ctr" indent="0" marL="0">
              <a:buNone/>
            </a:pPr>
            <a:r>
              <a:rPr lang="en-US" sz="1400" b="1" dirty="0">
                <a:solidFill>
                  <a:schemeClr val="bg1"/>
                </a:solidFill>
              </a:rPr>
              <a:t>Endpoint</a:t>
            </a:r>
            <a:endParaRPr lang="en-US" sz="1400" dirty="0"/>
          </a:p>
        </p:txBody>
      </p:sp>
      <p:sp>
        <p:nvSpPr>
          <p:cNvPr id="28" name="flecha-70"/>
          <p:cNvSpPr/>
          <p:nvPr/>
        </p:nvSpPr>
        <p:spPr>
          <a:xfrm>
            <a:off x="8339328" y="4343400"/>
            <a:ext cx="192024" cy="0"/>
          </a:xfrm>
          <a:prstGeom prst="line">
            <a:avLst/>
          </a:prstGeom>
          <a:noFill/>
          <a:ln w="25400">
            <a:solidFill>
              <a:schemeClr val="accent1"/>
            </a:solidFill>
            <a:prstDash val="solid"/>
            <a:tailEnd type="triangle"/>
          </a:ln>
        </p:spPr>
      </p:sp>
      <p:sp>
        <p:nvSpPr>
          <p:cNvPr id="29" name="eslabon-71"/>
          <p:cNvSpPr/>
          <p:nvPr/>
        </p:nvSpPr>
        <p:spPr>
          <a:xfrm>
            <a:off x="8549640" y="4023360"/>
            <a:ext cx="1371600" cy="640080"/>
          </a:xfrm>
          <a:prstGeom prst="roundRect">
            <a:avLst>
              <a:gd name="adj" fmla="val 14286"/>
            </a:avLst>
          </a:prstGeom>
          <a:solidFill>
            <a:schemeClr val="tx2"/>
          </a:solidFill>
          <a:ln w="12700">
            <a:solidFill>
              <a:schemeClr val="tx2"/>
            </a:solidFill>
            <a:prstDash val="solid"/>
          </a:ln>
        </p:spPr>
      </p:sp>
      <p:sp>
        <p:nvSpPr>
          <p:cNvPr id="30" name="texto-72"/>
          <p:cNvSpPr txBox="1"/>
          <p:nvPr/>
        </p:nvSpPr>
        <p:spPr>
          <a:xfrm>
            <a:off x="8549640" y="4023360"/>
            <a:ext cx="1371600" cy="640080"/>
          </a:xfrm>
          <a:prstGeom prst="rect">
            <a:avLst/>
          </a:prstGeom>
          <a:noFill/>
          <a:ln/>
        </p:spPr>
        <p:txBody>
          <a:bodyPr wrap="square" lIns="0" tIns="0" rIns="0" bIns="0" rtlCol="0" anchor="ctr"/>
          <a:lstStyle/>
          <a:p>
            <a:pPr algn="ctr" indent="0" marL="0">
              <a:buNone/>
            </a:pPr>
            <a:r>
              <a:rPr lang="en-US" sz="1400" b="1" dirty="0">
                <a:solidFill>
                  <a:schemeClr val="bg1"/>
                </a:solidFill>
              </a:rPr>
              <a:t>Clase</a:t>
            </a:r>
            <a:endParaRPr lang="en-US" sz="1400" dirty="0"/>
          </a:p>
        </p:txBody>
      </p:sp>
      <p:sp>
        <p:nvSpPr>
          <p:cNvPr id="31" name="flecha-73"/>
          <p:cNvSpPr/>
          <p:nvPr/>
        </p:nvSpPr>
        <p:spPr>
          <a:xfrm>
            <a:off x="9939528" y="4343400"/>
            <a:ext cx="192024" cy="0"/>
          </a:xfrm>
          <a:prstGeom prst="line">
            <a:avLst/>
          </a:prstGeom>
          <a:noFill/>
          <a:ln w="25400">
            <a:solidFill>
              <a:schemeClr val="accent1"/>
            </a:solidFill>
            <a:prstDash val="solid"/>
            <a:tailEnd type="triangle"/>
          </a:ln>
        </p:spPr>
      </p:sp>
      <p:sp>
        <p:nvSpPr>
          <p:cNvPr id="32" name="eslabon-74"/>
          <p:cNvSpPr/>
          <p:nvPr/>
        </p:nvSpPr>
        <p:spPr>
          <a:xfrm>
            <a:off x="10149840" y="4023360"/>
            <a:ext cx="1371600" cy="640080"/>
          </a:xfrm>
          <a:prstGeom prst="roundRect">
            <a:avLst>
              <a:gd name="adj" fmla="val 14286"/>
            </a:avLst>
          </a:prstGeom>
          <a:solidFill>
            <a:schemeClr val="accent2"/>
          </a:solidFill>
          <a:ln w="12700">
            <a:solidFill>
              <a:schemeClr val="tx2"/>
            </a:solidFill>
            <a:prstDash val="solid"/>
          </a:ln>
        </p:spPr>
      </p:sp>
      <p:sp>
        <p:nvSpPr>
          <p:cNvPr id="33" name="texto-75"/>
          <p:cNvSpPr txBox="1"/>
          <p:nvPr/>
        </p:nvSpPr>
        <p:spPr>
          <a:xfrm>
            <a:off x="10149840" y="4023360"/>
            <a:ext cx="1371600" cy="640080"/>
          </a:xfrm>
          <a:prstGeom prst="rect">
            <a:avLst/>
          </a:prstGeom>
          <a:noFill/>
          <a:ln/>
        </p:spPr>
        <p:txBody>
          <a:bodyPr wrap="square" lIns="0" tIns="0" rIns="0" bIns="0" rtlCol="0" anchor="ctr"/>
          <a:lstStyle/>
          <a:p>
            <a:pPr algn="ctr" indent="0" marL="0">
              <a:buNone/>
            </a:pPr>
            <a:r>
              <a:rPr lang="en-US" sz="1400" b="1" dirty="0">
                <a:solidFill>
                  <a:schemeClr val="bg1"/>
                </a:solidFill>
              </a:rPr>
              <a:t>Prueba</a:t>
            </a:r>
            <a:endParaRPr lang="en-US" sz="1400" dirty="0"/>
          </a:p>
        </p:txBody>
      </p:sp>
      <p:sp>
        <p:nvSpPr>
          <p:cNvPr id="34" name="texto-76"/>
          <p:cNvSpPr txBox="1"/>
          <p:nvPr/>
        </p:nvSpPr>
        <p:spPr>
          <a:xfrm>
            <a:off x="548640" y="5029200"/>
            <a:ext cx="10972800" cy="548640"/>
          </a:xfrm>
          <a:prstGeom prst="rect">
            <a:avLst/>
          </a:prstGeom>
          <a:noFill/>
          <a:ln/>
        </p:spPr>
        <p:txBody>
          <a:bodyPr wrap="square" lIns="0" tIns="0" rIns="0" bIns="0" rtlCol="0" anchor="t"/>
          <a:lstStyle/>
          <a:p>
            <a:pPr indent="0" marL="0">
              <a:buNone/>
            </a:pPr>
            <a:r>
              <a:rPr lang="en-US" sz="1500" dirty="0">
                <a:solidFill>
                  <a:schemeClr val="tx1"/>
                </a:solidFill>
              </a:rPr>
              <a:t>Cada regla indica si se hereda del original, corrige un defecto, es nueva o está «a validar» con un usuario.</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Una regla, de su origen a su prueba</a:t>
            </a:r>
            <a:endParaRPr lang="en-US" sz="3400" dirty="0"/>
          </a:p>
        </p:txBody>
      </p:sp>
      <p:sp>
        <p:nvSpPr>
          <p:cNvPr id="3" name="linea-77"/>
          <p:cNvSpPr/>
          <p:nvPr/>
        </p:nvSpPr>
        <p:spPr>
          <a:xfrm>
            <a:off x="868680" y="1828800"/>
            <a:ext cx="0" cy="3931920"/>
          </a:xfrm>
          <a:prstGeom prst="line">
            <a:avLst/>
          </a:prstGeom>
          <a:noFill/>
          <a:ln w="38100">
            <a:solidFill>
              <a:schemeClr val="accent6"/>
            </a:solidFill>
            <a:prstDash val="solid"/>
          </a:ln>
        </p:spPr>
      </p:sp>
      <p:sp>
        <p:nvSpPr>
          <p:cNvPr id="4" name="circulo-78"/>
          <p:cNvSpPr/>
          <p:nvPr/>
        </p:nvSpPr>
        <p:spPr>
          <a:xfrm>
            <a:off x="548640" y="1554480"/>
            <a:ext cx="640080" cy="640080"/>
          </a:xfrm>
          <a:prstGeom prst="ellipse">
            <a:avLst/>
          </a:prstGeom>
          <a:solidFill>
            <a:schemeClr val="accent1"/>
          </a:solidFill>
          <a:ln w="12700">
            <a:solidFill>
              <a:schemeClr val="accent1"/>
            </a:solidFill>
            <a:prstDash val="solid"/>
          </a:ln>
        </p:spPr>
      </p:sp>
      <p:sp>
        <p:nvSpPr>
          <p:cNvPr id="5" name="num-79"/>
          <p:cNvSpPr txBox="1"/>
          <p:nvPr/>
        </p:nvSpPr>
        <p:spPr>
          <a:xfrm>
            <a:off x="548640" y="1554480"/>
            <a:ext cx="640080" cy="640080"/>
          </a:xfrm>
          <a:prstGeom prst="rect">
            <a:avLst/>
          </a:prstGeom>
          <a:noFill/>
          <a:ln/>
        </p:spPr>
        <p:txBody>
          <a:bodyPr wrap="square" lIns="0" tIns="0" rIns="0" bIns="0" rtlCol="0" anchor="ctr"/>
          <a:lstStyle/>
          <a:p>
            <a:pPr algn="ctr" indent="0" marL="0">
              <a:buNone/>
            </a:pPr>
            <a:r>
              <a:rPr lang="en-US" sz="1500" b="1" dirty="0">
                <a:solidFill>
                  <a:schemeClr val="tx2"/>
                </a:solidFill>
              </a:rPr>
              <a:t>1</a:t>
            </a:r>
            <a:endParaRPr lang="en-US" sz="1500" dirty="0"/>
          </a:p>
        </p:txBody>
      </p:sp>
      <p:sp>
        <p:nvSpPr>
          <p:cNvPr id="6" name="texto-80"/>
          <p:cNvSpPr txBox="1"/>
          <p:nvPr/>
        </p:nvSpPr>
        <p:spPr>
          <a:xfrm>
            <a:off x="1463040" y="1627632"/>
            <a:ext cx="2377440" cy="502920"/>
          </a:xfrm>
          <a:prstGeom prst="rect">
            <a:avLst/>
          </a:prstGeom>
          <a:noFill/>
          <a:ln/>
        </p:spPr>
        <p:txBody>
          <a:bodyPr wrap="square" lIns="0" tIns="0" rIns="0" bIns="0" rtlCol="0" anchor="ctr"/>
          <a:lstStyle/>
          <a:p>
            <a:pPr indent="0" marL="0">
              <a:buNone/>
            </a:pPr>
            <a:r>
              <a:rPr lang="en-US" sz="1800" b="1" dirty="0">
                <a:solidFill>
                  <a:schemeClr val="tx2"/>
                </a:solidFill>
              </a:rPr>
              <a:t>Hallazgo</a:t>
            </a:r>
            <a:endParaRPr lang="en-US" sz="1800" dirty="0"/>
          </a:p>
        </p:txBody>
      </p:sp>
      <p:sp>
        <p:nvSpPr>
          <p:cNvPr id="7" name="texto-81"/>
          <p:cNvSpPr txBox="1"/>
          <p:nvPr/>
        </p:nvSpPr>
        <p:spPr>
          <a:xfrm>
            <a:off x="3840480" y="1627632"/>
            <a:ext cx="7680960" cy="502920"/>
          </a:xfrm>
          <a:prstGeom prst="rect">
            <a:avLst/>
          </a:prstGeom>
          <a:noFill/>
          <a:ln/>
        </p:spPr>
        <p:txBody>
          <a:bodyPr wrap="square" lIns="0" tIns="0" rIns="0" bIns="0" rtlCol="0" anchor="ctr"/>
          <a:lstStyle/>
          <a:p>
            <a:pPr indent="0" marL="0">
              <a:buNone/>
            </a:pPr>
            <a:r>
              <a:rPr lang="en-US" sz="1500" dirty="0">
                <a:solidFill>
                  <a:schemeClr val="tx1"/>
                </a:solidFill>
              </a:rPr>
              <a:t>El original toma el número de OT en cuatro pasos sin transacción</a:t>
            </a:r>
            <a:endParaRPr lang="en-US" sz="1500" dirty="0"/>
          </a:p>
        </p:txBody>
      </p:sp>
      <p:sp>
        <p:nvSpPr>
          <p:cNvPr id="8" name="circulo-82"/>
          <p:cNvSpPr/>
          <p:nvPr/>
        </p:nvSpPr>
        <p:spPr>
          <a:xfrm>
            <a:off x="548640" y="2395728"/>
            <a:ext cx="640080" cy="640080"/>
          </a:xfrm>
          <a:prstGeom prst="ellipse">
            <a:avLst/>
          </a:prstGeom>
          <a:solidFill>
            <a:schemeClr val="accent1"/>
          </a:solidFill>
          <a:ln w="12700">
            <a:solidFill>
              <a:schemeClr val="accent1"/>
            </a:solidFill>
            <a:prstDash val="solid"/>
          </a:ln>
        </p:spPr>
      </p:sp>
      <p:sp>
        <p:nvSpPr>
          <p:cNvPr id="9" name="num-83"/>
          <p:cNvSpPr txBox="1"/>
          <p:nvPr/>
        </p:nvSpPr>
        <p:spPr>
          <a:xfrm>
            <a:off x="548640" y="2395728"/>
            <a:ext cx="640080" cy="640080"/>
          </a:xfrm>
          <a:prstGeom prst="rect">
            <a:avLst/>
          </a:prstGeom>
          <a:noFill/>
          <a:ln/>
        </p:spPr>
        <p:txBody>
          <a:bodyPr wrap="square" lIns="0" tIns="0" rIns="0" bIns="0" rtlCol="0" anchor="ctr"/>
          <a:lstStyle/>
          <a:p>
            <a:pPr algn="ctr" indent="0" marL="0">
              <a:buNone/>
            </a:pPr>
            <a:r>
              <a:rPr lang="en-US" sz="1500" b="1" dirty="0">
                <a:solidFill>
                  <a:schemeClr val="tx2"/>
                </a:solidFill>
              </a:rPr>
              <a:t>2</a:t>
            </a:r>
            <a:endParaRPr lang="en-US" sz="1500" dirty="0"/>
          </a:p>
        </p:txBody>
      </p:sp>
      <p:sp>
        <p:nvSpPr>
          <p:cNvPr id="10" name="texto-84"/>
          <p:cNvSpPr txBox="1"/>
          <p:nvPr/>
        </p:nvSpPr>
        <p:spPr>
          <a:xfrm>
            <a:off x="1463040" y="2468880"/>
            <a:ext cx="2377440" cy="502920"/>
          </a:xfrm>
          <a:prstGeom prst="rect">
            <a:avLst/>
          </a:prstGeom>
          <a:noFill/>
          <a:ln/>
        </p:spPr>
        <p:txBody>
          <a:bodyPr wrap="square" lIns="0" tIns="0" rIns="0" bIns="0" rtlCol="0" anchor="ctr"/>
          <a:lstStyle/>
          <a:p>
            <a:pPr indent="0" marL="0">
              <a:buNone/>
            </a:pPr>
            <a:r>
              <a:rPr lang="en-US" sz="1800" b="1" dirty="0">
                <a:solidFill>
                  <a:schemeClr val="tx2"/>
                </a:solidFill>
              </a:rPr>
              <a:t>Regla RN-34</a:t>
            </a:r>
            <a:endParaRPr lang="en-US" sz="1800" dirty="0"/>
          </a:p>
        </p:txBody>
      </p:sp>
      <p:sp>
        <p:nvSpPr>
          <p:cNvPr id="11" name="texto-85"/>
          <p:cNvSpPr txBox="1"/>
          <p:nvPr/>
        </p:nvSpPr>
        <p:spPr>
          <a:xfrm>
            <a:off x="3840480" y="2468880"/>
            <a:ext cx="7680960" cy="502920"/>
          </a:xfrm>
          <a:prstGeom prst="rect">
            <a:avLst/>
          </a:prstGeom>
          <a:noFill/>
          <a:ln/>
        </p:spPr>
        <p:txBody>
          <a:bodyPr wrap="square" lIns="0" tIns="0" rIns="0" bIns="0" rtlCol="0" anchor="ctr"/>
          <a:lstStyle/>
          <a:p>
            <a:pPr indent="0" marL="0">
              <a:buNone/>
            </a:pPr>
            <a:r>
              <a:rPr lang="en-US" sz="1500" dirty="0">
                <a:solidFill>
                  <a:schemeClr val="tx1"/>
                </a:solidFill>
              </a:rPr>
              <a:t>20 solicitudes simultáneas reciben 20 números distintos y consecutivos</a:t>
            </a:r>
            <a:endParaRPr lang="en-US" sz="1500" dirty="0"/>
          </a:p>
        </p:txBody>
      </p:sp>
      <p:sp>
        <p:nvSpPr>
          <p:cNvPr id="12" name="circulo-86"/>
          <p:cNvSpPr/>
          <p:nvPr/>
        </p:nvSpPr>
        <p:spPr>
          <a:xfrm>
            <a:off x="548640" y="3236976"/>
            <a:ext cx="640080" cy="640080"/>
          </a:xfrm>
          <a:prstGeom prst="ellipse">
            <a:avLst/>
          </a:prstGeom>
          <a:solidFill>
            <a:schemeClr val="accent1"/>
          </a:solidFill>
          <a:ln w="12700">
            <a:solidFill>
              <a:schemeClr val="accent1"/>
            </a:solidFill>
            <a:prstDash val="solid"/>
          </a:ln>
        </p:spPr>
      </p:sp>
      <p:sp>
        <p:nvSpPr>
          <p:cNvPr id="13" name="num-87"/>
          <p:cNvSpPr txBox="1"/>
          <p:nvPr/>
        </p:nvSpPr>
        <p:spPr>
          <a:xfrm>
            <a:off x="548640" y="3236976"/>
            <a:ext cx="640080" cy="640080"/>
          </a:xfrm>
          <a:prstGeom prst="rect">
            <a:avLst/>
          </a:prstGeom>
          <a:noFill/>
          <a:ln/>
        </p:spPr>
        <p:txBody>
          <a:bodyPr wrap="square" lIns="0" tIns="0" rIns="0" bIns="0" rtlCol="0" anchor="ctr"/>
          <a:lstStyle/>
          <a:p>
            <a:pPr algn="ctr" indent="0" marL="0">
              <a:buNone/>
            </a:pPr>
            <a:r>
              <a:rPr lang="en-US" sz="1500" b="1" dirty="0">
                <a:solidFill>
                  <a:schemeClr val="tx2"/>
                </a:solidFill>
              </a:rPr>
              <a:t>3</a:t>
            </a:r>
            <a:endParaRPr lang="en-US" sz="1500" dirty="0"/>
          </a:p>
        </p:txBody>
      </p:sp>
      <p:sp>
        <p:nvSpPr>
          <p:cNvPr id="14" name="texto-88"/>
          <p:cNvSpPr txBox="1"/>
          <p:nvPr/>
        </p:nvSpPr>
        <p:spPr>
          <a:xfrm>
            <a:off x="1463040" y="3310128"/>
            <a:ext cx="2377440" cy="502920"/>
          </a:xfrm>
          <a:prstGeom prst="rect">
            <a:avLst/>
          </a:prstGeom>
          <a:noFill/>
          <a:ln/>
        </p:spPr>
        <p:txBody>
          <a:bodyPr wrap="square" lIns="0" tIns="0" rIns="0" bIns="0" rtlCol="0" anchor="ctr"/>
          <a:lstStyle/>
          <a:p>
            <a:pPr indent="0" marL="0">
              <a:buNone/>
            </a:pPr>
            <a:r>
              <a:rPr lang="en-US" sz="1800" b="1" dirty="0">
                <a:solidFill>
                  <a:schemeClr val="tx2"/>
                </a:solidFill>
              </a:rPr>
              <a:t>Diseño</a:t>
            </a:r>
            <a:endParaRPr lang="en-US" sz="1800" dirty="0"/>
          </a:p>
        </p:txBody>
      </p:sp>
      <p:sp>
        <p:nvSpPr>
          <p:cNvPr id="15" name="texto-89"/>
          <p:cNvSpPr txBox="1"/>
          <p:nvPr/>
        </p:nvSpPr>
        <p:spPr>
          <a:xfrm>
            <a:off x="3840480" y="3310128"/>
            <a:ext cx="7680960" cy="502920"/>
          </a:xfrm>
          <a:prstGeom prst="rect">
            <a:avLst/>
          </a:prstGeom>
          <a:noFill/>
          <a:ln/>
        </p:spPr>
        <p:txBody>
          <a:bodyPr wrap="square" lIns="0" tIns="0" rIns="0" bIns="0" rtlCol="0" anchor="ctr"/>
          <a:lstStyle/>
          <a:p>
            <a:pPr indent="0" marL="0">
              <a:buNone/>
            </a:pPr>
            <a:r>
              <a:rPr lang="en-US" sz="1500" dirty="0">
                <a:solidFill>
                  <a:schemeClr val="tx1"/>
                </a:solidFill>
              </a:rPr>
              <a:t>UPDATE … WITH (UPDLOCK) OUTPUT dentro de la transacción, más UNIQUE en la base</a:t>
            </a:r>
            <a:endParaRPr lang="en-US" sz="1500" dirty="0"/>
          </a:p>
        </p:txBody>
      </p:sp>
      <p:sp>
        <p:nvSpPr>
          <p:cNvPr id="16" name="circulo-90"/>
          <p:cNvSpPr/>
          <p:nvPr/>
        </p:nvSpPr>
        <p:spPr>
          <a:xfrm>
            <a:off x="548640" y="4078224"/>
            <a:ext cx="640080" cy="640080"/>
          </a:xfrm>
          <a:prstGeom prst="ellipse">
            <a:avLst/>
          </a:prstGeom>
          <a:solidFill>
            <a:schemeClr val="accent1"/>
          </a:solidFill>
          <a:ln w="12700">
            <a:solidFill>
              <a:schemeClr val="accent1"/>
            </a:solidFill>
            <a:prstDash val="solid"/>
          </a:ln>
        </p:spPr>
      </p:sp>
      <p:sp>
        <p:nvSpPr>
          <p:cNvPr id="17" name="num-91"/>
          <p:cNvSpPr txBox="1"/>
          <p:nvPr/>
        </p:nvSpPr>
        <p:spPr>
          <a:xfrm>
            <a:off x="548640" y="4078224"/>
            <a:ext cx="640080" cy="640080"/>
          </a:xfrm>
          <a:prstGeom prst="rect">
            <a:avLst/>
          </a:prstGeom>
          <a:noFill/>
          <a:ln/>
        </p:spPr>
        <p:txBody>
          <a:bodyPr wrap="square" lIns="0" tIns="0" rIns="0" bIns="0" rtlCol="0" anchor="ctr"/>
          <a:lstStyle/>
          <a:p>
            <a:pPr algn="ctr" indent="0" marL="0">
              <a:buNone/>
            </a:pPr>
            <a:r>
              <a:rPr lang="en-US" sz="1500" b="1" dirty="0">
                <a:solidFill>
                  <a:schemeClr val="tx2"/>
                </a:solidFill>
              </a:rPr>
              <a:t>4</a:t>
            </a:r>
            <a:endParaRPr lang="en-US" sz="1500" dirty="0"/>
          </a:p>
        </p:txBody>
      </p:sp>
      <p:sp>
        <p:nvSpPr>
          <p:cNvPr id="18" name="texto-92"/>
          <p:cNvSpPr txBox="1"/>
          <p:nvPr/>
        </p:nvSpPr>
        <p:spPr>
          <a:xfrm>
            <a:off x="1463040" y="4151376"/>
            <a:ext cx="2377440" cy="502920"/>
          </a:xfrm>
          <a:prstGeom prst="rect">
            <a:avLst/>
          </a:prstGeom>
          <a:noFill/>
          <a:ln/>
        </p:spPr>
        <p:txBody>
          <a:bodyPr wrap="square" lIns="0" tIns="0" rIns="0" bIns="0" rtlCol="0" anchor="ctr"/>
          <a:lstStyle/>
          <a:p>
            <a:pPr indent="0" marL="0">
              <a:buNone/>
            </a:pPr>
            <a:r>
              <a:rPr lang="en-US" sz="1800" b="1" dirty="0">
                <a:solidFill>
                  <a:schemeClr val="tx2"/>
                </a:solidFill>
              </a:rPr>
              <a:t>Prueba</a:t>
            </a:r>
            <a:endParaRPr lang="en-US" sz="1800" dirty="0"/>
          </a:p>
        </p:txBody>
      </p:sp>
      <p:sp>
        <p:nvSpPr>
          <p:cNvPr id="19" name="texto-93"/>
          <p:cNvSpPr txBox="1"/>
          <p:nvPr/>
        </p:nvSpPr>
        <p:spPr>
          <a:xfrm>
            <a:off x="3840480" y="4151376"/>
            <a:ext cx="7680960" cy="502920"/>
          </a:xfrm>
          <a:prstGeom prst="rect">
            <a:avLst/>
          </a:prstGeom>
          <a:noFill/>
          <a:ln/>
        </p:spPr>
        <p:txBody>
          <a:bodyPr wrap="square" lIns="0" tIns="0" rIns="0" bIns="0" rtlCol="0" anchor="ctr"/>
          <a:lstStyle/>
          <a:p>
            <a:pPr indent="0" marL="0">
              <a:buNone/>
            </a:pPr>
            <a:r>
              <a:rPr lang="en-US" sz="1500" dirty="0">
                <a:solidFill>
                  <a:schemeClr val="tx1"/>
                </a:solidFill>
              </a:rPr>
              <a:t>20 clientes en paralelo, sincronizados con una barrera</a:t>
            </a:r>
            <a:endParaRPr lang="en-US" sz="1500" dirty="0"/>
          </a:p>
        </p:txBody>
      </p:sp>
      <p:sp>
        <p:nvSpPr>
          <p:cNvPr id="20" name="circulo-94"/>
          <p:cNvSpPr/>
          <p:nvPr/>
        </p:nvSpPr>
        <p:spPr>
          <a:xfrm>
            <a:off x="548640" y="4919472"/>
            <a:ext cx="640080" cy="640080"/>
          </a:xfrm>
          <a:prstGeom prst="ellipse">
            <a:avLst/>
          </a:prstGeom>
          <a:solidFill>
            <a:schemeClr val="accent2"/>
          </a:solidFill>
          <a:ln w="12700">
            <a:solidFill>
              <a:schemeClr val="accent2"/>
            </a:solidFill>
            <a:prstDash val="solid"/>
          </a:ln>
        </p:spPr>
      </p:sp>
      <p:sp>
        <p:nvSpPr>
          <p:cNvPr id="21" name="num-95"/>
          <p:cNvSpPr txBox="1"/>
          <p:nvPr/>
        </p:nvSpPr>
        <p:spPr>
          <a:xfrm>
            <a:off x="548640" y="4919472"/>
            <a:ext cx="640080" cy="640080"/>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2" name="texto-96"/>
          <p:cNvSpPr txBox="1"/>
          <p:nvPr/>
        </p:nvSpPr>
        <p:spPr>
          <a:xfrm>
            <a:off x="1463040" y="4992624"/>
            <a:ext cx="2377440" cy="502920"/>
          </a:xfrm>
          <a:prstGeom prst="rect">
            <a:avLst/>
          </a:prstGeom>
          <a:noFill/>
          <a:ln/>
        </p:spPr>
        <p:txBody>
          <a:bodyPr wrap="square" lIns="0" tIns="0" rIns="0" bIns="0" rtlCol="0" anchor="ctr"/>
          <a:lstStyle/>
          <a:p>
            <a:pPr indent="0" marL="0">
              <a:buNone/>
            </a:pPr>
            <a:r>
              <a:rPr lang="en-US" sz="1800" b="1" dirty="0">
                <a:solidFill>
                  <a:schemeClr val="tx2"/>
                </a:solidFill>
              </a:rPr>
              <a:t>Resultado</a:t>
            </a:r>
            <a:endParaRPr lang="en-US" sz="1800" dirty="0"/>
          </a:p>
        </p:txBody>
      </p:sp>
      <p:sp>
        <p:nvSpPr>
          <p:cNvPr id="23" name="texto-97"/>
          <p:cNvSpPr txBox="1"/>
          <p:nvPr/>
        </p:nvSpPr>
        <p:spPr>
          <a:xfrm>
            <a:off x="3840480" y="4992624"/>
            <a:ext cx="7680960" cy="502920"/>
          </a:xfrm>
          <a:prstGeom prst="rect">
            <a:avLst/>
          </a:prstGeom>
          <a:noFill/>
          <a:ln/>
        </p:spPr>
        <p:txBody>
          <a:bodyPr wrap="square" lIns="0" tIns="0" rIns="0" bIns="0" rtlCol="0" anchor="ctr"/>
          <a:lstStyle/>
          <a:p>
            <a:pPr indent="0" marL="0">
              <a:buNone/>
            </a:pPr>
            <a:r>
              <a:rPr lang="en-US" sz="1500" dirty="0">
                <a:solidFill>
                  <a:schemeClr val="tx1"/>
                </a:solidFill>
              </a:rPr>
              <a:t>20 de 20 distintos; con la versión del original, 19 de 20 fallan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Clean Architecture: las reglas no dependen de nada</a:t>
            </a:r>
            <a:endParaRPr lang="en-US" sz="3400" dirty="0"/>
          </a:p>
        </p:txBody>
      </p:sp>
      <p:sp>
        <p:nvSpPr>
          <p:cNvPr id="3" name="capa-98"/>
          <p:cNvSpPr/>
          <p:nvPr/>
        </p:nvSpPr>
        <p:spPr>
          <a:xfrm>
            <a:off x="548640" y="1508760"/>
            <a:ext cx="5669280" cy="960120"/>
          </a:xfrm>
          <a:prstGeom prst="roundRect">
            <a:avLst>
              <a:gd name="adj" fmla="val 9524"/>
            </a:avLst>
          </a:prstGeom>
          <a:solidFill>
            <a:schemeClr val="accent5"/>
          </a:solidFill>
          <a:ln w="12700">
            <a:solidFill>
              <a:schemeClr val="accent5"/>
            </a:solidFill>
            <a:prstDash val="solid"/>
          </a:ln>
        </p:spPr>
      </p:sp>
      <p:sp>
        <p:nvSpPr>
          <p:cNvPr id="4" name="texto-99"/>
          <p:cNvSpPr txBox="1"/>
          <p:nvPr/>
        </p:nvSpPr>
        <p:spPr>
          <a:xfrm>
            <a:off x="822960" y="1618488"/>
            <a:ext cx="2011680" cy="731520"/>
          </a:xfrm>
          <a:prstGeom prst="rect">
            <a:avLst/>
          </a:prstGeom>
          <a:noFill/>
          <a:ln/>
        </p:spPr>
        <p:txBody>
          <a:bodyPr wrap="square" lIns="0" tIns="0" rIns="0" bIns="0" rtlCol="0" anchor="ctr"/>
          <a:lstStyle/>
          <a:p>
            <a:pPr indent="0" marL="0">
              <a:buNone/>
            </a:pPr>
            <a:r>
              <a:rPr lang="en-US" sz="2000" b="1" dirty="0">
                <a:solidFill>
                  <a:schemeClr val="bg1"/>
                </a:solidFill>
              </a:rPr>
              <a:t>Api</a:t>
            </a:r>
            <a:endParaRPr lang="en-US" sz="2000" dirty="0"/>
          </a:p>
        </p:txBody>
      </p:sp>
      <p:sp>
        <p:nvSpPr>
          <p:cNvPr id="5" name="texto-100"/>
          <p:cNvSpPr txBox="1"/>
          <p:nvPr/>
        </p:nvSpPr>
        <p:spPr>
          <a:xfrm>
            <a:off x="2743200" y="1618488"/>
            <a:ext cx="3383280" cy="731520"/>
          </a:xfrm>
          <a:prstGeom prst="rect">
            <a:avLst/>
          </a:prstGeom>
          <a:noFill/>
          <a:ln/>
        </p:spPr>
        <p:txBody>
          <a:bodyPr wrap="square" lIns="0" tIns="0" rIns="0" bIns="0" rtlCol="0" anchor="ctr"/>
          <a:lstStyle/>
          <a:p>
            <a:pPr indent="0" marL="0">
              <a:buNone/>
            </a:pPr>
            <a:r>
              <a:rPr lang="en-US" sz="1400" dirty="0">
                <a:solidFill>
                  <a:schemeClr val="bg1"/>
                </a:solidFill>
              </a:rPr>
              <a:t>Controladores, JWT, ProblemDetails, Swagger</a:t>
            </a:r>
            <a:endParaRPr lang="en-US" sz="1400" dirty="0"/>
          </a:p>
        </p:txBody>
      </p:sp>
      <p:sp>
        <p:nvSpPr>
          <p:cNvPr id="6" name="capa-101"/>
          <p:cNvSpPr/>
          <p:nvPr/>
        </p:nvSpPr>
        <p:spPr>
          <a:xfrm>
            <a:off x="548640" y="2651760"/>
            <a:ext cx="5669280" cy="960120"/>
          </a:xfrm>
          <a:prstGeom prst="roundRect">
            <a:avLst>
              <a:gd name="adj" fmla="val 9524"/>
            </a:avLst>
          </a:prstGeom>
          <a:solidFill>
            <a:schemeClr val="accent4"/>
          </a:solidFill>
          <a:ln w="12700">
            <a:solidFill>
              <a:schemeClr val="accent4"/>
            </a:solidFill>
            <a:prstDash val="solid"/>
          </a:ln>
        </p:spPr>
      </p:sp>
      <p:sp>
        <p:nvSpPr>
          <p:cNvPr id="7" name="texto-102"/>
          <p:cNvSpPr txBox="1"/>
          <p:nvPr/>
        </p:nvSpPr>
        <p:spPr>
          <a:xfrm>
            <a:off x="822960" y="2761488"/>
            <a:ext cx="2011680" cy="731520"/>
          </a:xfrm>
          <a:prstGeom prst="rect">
            <a:avLst/>
          </a:prstGeom>
          <a:noFill/>
          <a:ln/>
        </p:spPr>
        <p:txBody>
          <a:bodyPr wrap="square" lIns="0" tIns="0" rIns="0" bIns="0" rtlCol="0" anchor="ctr"/>
          <a:lstStyle/>
          <a:p>
            <a:pPr indent="0" marL="0">
              <a:buNone/>
            </a:pPr>
            <a:r>
              <a:rPr lang="en-US" sz="2000" b="1" dirty="0">
                <a:solidFill>
                  <a:schemeClr val="bg1"/>
                </a:solidFill>
              </a:rPr>
              <a:t>Application</a:t>
            </a:r>
            <a:endParaRPr lang="en-US" sz="2000" dirty="0"/>
          </a:p>
        </p:txBody>
      </p:sp>
      <p:sp>
        <p:nvSpPr>
          <p:cNvPr id="8" name="texto-103"/>
          <p:cNvSpPr txBox="1"/>
          <p:nvPr/>
        </p:nvSpPr>
        <p:spPr>
          <a:xfrm>
            <a:off x="2743200" y="2761488"/>
            <a:ext cx="3383280" cy="731520"/>
          </a:xfrm>
          <a:prstGeom prst="rect">
            <a:avLst/>
          </a:prstGeom>
          <a:noFill/>
          <a:ln/>
        </p:spPr>
        <p:txBody>
          <a:bodyPr wrap="square" lIns="0" tIns="0" rIns="0" bIns="0" rtlCol="0" anchor="ctr"/>
          <a:lstStyle/>
          <a:p>
            <a:pPr indent="0" marL="0">
              <a:buNone/>
            </a:pPr>
            <a:r>
              <a:rPr lang="en-US" sz="1400" dirty="0">
                <a:solidFill>
                  <a:schemeClr val="bg1"/>
                </a:solidFill>
              </a:rPr>
              <a:t>Casos de uso, validadores, puertos</a:t>
            </a:r>
            <a:endParaRPr lang="en-US" sz="1400" dirty="0"/>
          </a:p>
        </p:txBody>
      </p:sp>
      <p:sp>
        <p:nvSpPr>
          <p:cNvPr id="9" name="capa-104"/>
          <p:cNvSpPr/>
          <p:nvPr/>
        </p:nvSpPr>
        <p:spPr>
          <a:xfrm>
            <a:off x="548640" y="3794760"/>
            <a:ext cx="5669280" cy="960120"/>
          </a:xfrm>
          <a:prstGeom prst="roundRect">
            <a:avLst>
              <a:gd name="adj" fmla="val 9524"/>
            </a:avLst>
          </a:prstGeom>
          <a:solidFill>
            <a:schemeClr val="tx2"/>
          </a:solidFill>
          <a:ln w="12700">
            <a:solidFill>
              <a:schemeClr val="tx2"/>
            </a:solidFill>
            <a:prstDash val="solid"/>
          </a:ln>
        </p:spPr>
      </p:sp>
      <p:sp>
        <p:nvSpPr>
          <p:cNvPr id="10" name="texto-105"/>
          <p:cNvSpPr txBox="1"/>
          <p:nvPr/>
        </p:nvSpPr>
        <p:spPr>
          <a:xfrm>
            <a:off x="822960" y="3904488"/>
            <a:ext cx="2011680" cy="731520"/>
          </a:xfrm>
          <a:prstGeom prst="rect">
            <a:avLst/>
          </a:prstGeom>
          <a:noFill/>
          <a:ln/>
        </p:spPr>
        <p:txBody>
          <a:bodyPr wrap="square" lIns="0" tIns="0" rIns="0" bIns="0" rtlCol="0" anchor="ctr"/>
          <a:lstStyle/>
          <a:p>
            <a:pPr indent="0" marL="0">
              <a:buNone/>
            </a:pPr>
            <a:r>
              <a:rPr lang="en-US" sz="2000" b="1" dirty="0">
                <a:solidFill>
                  <a:schemeClr val="bg1"/>
                </a:solidFill>
              </a:rPr>
              <a:t>Domain</a:t>
            </a:r>
            <a:endParaRPr lang="en-US" sz="2000" dirty="0"/>
          </a:p>
        </p:txBody>
      </p:sp>
      <p:sp>
        <p:nvSpPr>
          <p:cNvPr id="11" name="texto-106"/>
          <p:cNvSpPr txBox="1"/>
          <p:nvPr/>
        </p:nvSpPr>
        <p:spPr>
          <a:xfrm>
            <a:off x="2743200" y="3904488"/>
            <a:ext cx="3383280" cy="731520"/>
          </a:xfrm>
          <a:prstGeom prst="rect">
            <a:avLst/>
          </a:prstGeom>
          <a:noFill/>
          <a:ln/>
        </p:spPr>
        <p:txBody>
          <a:bodyPr wrap="square" lIns="0" tIns="0" rIns="0" bIns="0" rtlCol="0" anchor="ctr"/>
          <a:lstStyle/>
          <a:p>
            <a:pPr indent="0" marL="0">
              <a:buNone/>
            </a:pPr>
            <a:r>
              <a:rPr lang="en-US" sz="1400" dirty="0">
                <a:solidFill>
                  <a:schemeClr val="bg1"/>
                </a:solidFill>
              </a:rPr>
              <a:t>Entidades y reglas de negocio</a:t>
            </a:r>
            <a:endParaRPr lang="en-US" sz="1400" dirty="0"/>
          </a:p>
        </p:txBody>
      </p:sp>
      <p:sp>
        <p:nvSpPr>
          <p:cNvPr id="12" name="capa-107"/>
          <p:cNvSpPr/>
          <p:nvPr/>
        </p:nvSpPr>
        <p:spPr>
          <a:xfrm>
            <a:off x="548640" y="4937760"/>
            <a:ext cx="5669280" cy="960120"/>
          </a:xfrm>
          <a:prstGeom prst="roundRect">
            <a:avLst>
              <a:gd name="adj" fmla="val 9524"/>
            </a:avLst>
          </a:prstGeom>
          <a:solidFill>
            <a:schemeClr val="bg2"/>
          </a:solidFill>
          <a:ln w="12700">
            <a:solidFill>
              <a:schemeClr val="accent6"/>
            </a:solidFill>
            <a:prstDash val="solid"/>
          </a:ln>
        </p:spPr>
      </p:sp>
      <p:sp>
        <p:nvSpPr>
          <p:cNvPr id="13" name="texto-108"/>
          <p:cNvSpPr txBox="1"/>
          <p:nvPr/>
        </p:nvSpPr>
        <p:spPr>
          <a:xfrm>
            <a:off x="822960" y="5047488"/>
            <a:ext cx="2011680" cy="731520"/>
          </a:xfrm>
          <a:prstGeom prst="rect">
            <a:avLst/>
          </a:prstGeom>
          <a:noFill/>
          <a:ln/>
        </p:spPr>
        <p:txBody>
          <a:bodyPr wrap="square" lIns="0" tIns="0" rIns="0" bIns="0" rtlCol="0" anchor="ctr"/>
          <a:lstStyle/>
          <a:p>
            <a:pPr indent="0" marL="0">
              <a:buNone/>
            </a:pPr>
            <a:r>
              <a:rPr lang="en-US" sz="2000" b="1" dirty="0">
                <a:solidFill>
                  <a:schemeClr val="tx2"/>
                </a:solidFill>
              </a:rPr>
              <a:t>Infrastructure</a:t>
            </a:r>
            <a:endParaRPr lang="en-US" sz="2000" dirty="0"/>
          </a:p>
        </p:txBody>
      </p:sp>
      <p:sp>
        <p:nvSpPr>
          <p:cNvPr id="14" name="texto-109"/>
          <p:cNvSpPr txBox="1"/>
          <p:nvPr/>
        </p:nvSpPr>
        <p:spPr>
          <a:xfrm>
            <a:off x="2743200" y="5047488"/>
            <a:ext cx="3383280" cy="731520"/>
          </a:xfrm>
          <a:prstGeom prst="rect">
            <a:avLst/>
          </a:prstGeom>
          <a:noFill/>
          <a:ln/>
        </p:spPr>
        <p:txBody>
          <a:bodyPr wrap="square" lIns="0" tIns="0" rIns="0" bIns="0" rtlCol="0" anchor="ctr"/>
          <a:lstStyle/>
          <a:p>
            <a:pPr indent="0" marL="0">
              <a:buNone/>
            </a:pPr>
            <a:r>
              <a:rPr lang="en-US" sz="1400" dirty="0">
                <a:solidFill>
                  <a:schemeClr val="tx1"/>
                </a:solidFill>
              </a:rPr>
              <a:t>EF Core, SQL Server, correlativo, Excel</a:t>
            </a:r>
            <a:endParaRPr lang="en-US" sz="1400" dirty="0"/>
          </a:p>
        </p:txBody>
      </p:sp>
      <p:sp>
        <p:nvSpPr>
          <p:cNvPr id="15" name="tarjeta-110"/>
          <p:cNvSpPr/>
          <p:nvPr/>
        </p:nvSpPr>
        <p:spPr>
          <a:xfrm>
            <a:off x="6766560" y="1508760"/>
            <a:ext cx="4873752" cy="4389120"/>
          </a:xfrm>
          <a:prstGeom prst="roundRect">
            <a:avLst>
              <a:gd name="adj" fmla="val 2500"/>
            </a:avLst>
          </a:prstGeom>
          <a:solidFill>
            <a:schemeClr val="bg2"/>
          </a:solidFill>
          <a:ln w="12700">
            <a:solidFill>
              <a:schemeClr val="bg2"/>
            </a:solidFill>
            <a:prstDash val="solid"/>
          </a:ln>
        </p:spPr>
      </p:sp>
      <p:sp>
        <p:nvSpPr>
          <p:cNvPr id="16" name="texto-111"/>
          <p:cNvSpPr txBox="1"/>
          <p:nvPr/>
        </p:nvSpPr>
        <p:spPr>
          <a:xfrm>
            <a:off x="7040880" y="1737360"/>
            <a:ext cx="4389120" cy="457200"/>
          </a:xfrm>
          <a:prstGeom prst="rect">
            <a:avLst/>
          </a:prstGeom>
          <a:noFill/>
          <a:ln/>
        </p:spPr>
        <p:txBody>
          <a:bodyPr wrap="square" lIns="0" tIns="0" rIns="0" bIns="0" rtlCol="0" anchor="t"/>
          <a:lstStyle/>
          <a:p>
            <a:pPr indent="0" marL="0">
              <a:buNone/>
            </a:pPr>
            <a:r>
              <a:rPr lang="en-US" sz="1800" b="1" dirty="0">
                <a:solidFill>
                  <a:schemeClr val="tx2"/>
                </a:solidFill>
              </a:rPr>
              <a:t>Lo que se puede comprobar</a:t>
            </a:r>
            <a:endParaRPr lang="en-US" sz="1800" dirty="0"/>
          </a:p>
        </p:txBody>
      </p:sp>
      <p:sp>
        <p:nvSpPr>
          <p:cNvPr id="17" name="texto-112"/>
          <p:cNvSpPr txBox="1"/>
          <p:nvPr/>
        </p:nvSpPr>
        <p:spPr>
          <a:xfrm>
            <a:off x="7040880" y="2331720"/>
            <a:ext cx="438912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Domain no referencia ningún proyecto</a:t>
            </a:r>
            <a:endParaRPr lang="en-US" sz="1500" dirty="0"/>
          </a:p>
          <a:p>
            <a:pPr marL="342900" indent="-342900">
              <a:spcAft>
                <a:spcPts val="1000"/>
              </a:spcAft>
              <a:buSzPct val="100000"/>
              <a:buChar char="•"/>
            </a:pPr>
            <a:r>
              <a:rPr lang="en-US" sz="1500" dirty="0">
                <a:solidFill>
                  <a:schemeClr val="tx1"/>
                </a:solidFill>
              </a:rPr>
              <a:t>Las reglas se prueban sin base ni HTTP (25 pruebas)</a:t>
            </a:r>
            <a:endParaRPr lang="en-US" sz="1500" dirty="0"/>
          </a:p>
          <a:p>
            <a:pPr marL="342900" indent="-342900">
              <a:spcAft>
                <a:spcPts val="1000"/>
              </a:spcAft>
              <a:buSzPct val="100000"/>
              <a:buChar char="•"/>
            </a:pPr>
            <a:r>
              <a:rPr lang="en-US" sz="1500" dirty="0">
                <a:solidFill>
                  <a:schemeClr val="tx1"/>
                </a:solidFill>
              </a:rPr>
              <a:t>La web es un cliente HTTP: no copia reglas; las transiciones permitidas las calcula el dominio</a:t>
            </a:r>
            <a:endParaRPr lang="en-US" sz="1500" dirty="0"/>
          </a:p>
          <a:p>
            <a:pPr marL="342900" indent="-342900">
              <a:spcAft>
                <a:spcPts val="1000"/>
              </a:spcAft>
              <a:buSzPct val="100000"/>
              <a:buChar char="•"/>
            </a:pPr>
            <a:r>
              <a:rPr lang="en-US" sz="1500" dirty="0">
                <a:solidFill>
                  <a:schemeClr val="tx1"/>
                </a:solidFill>
              </a:rPr>
              <a:t>Un solo puerto de transacción para numerar MP y OT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Seis decisiones registradas como ADR</a:t>
            </a:r>
            <a:endParaRPr lang="en-US" sz="3400" dirty="0"/>
          </a:p>
        </p:txBody>
      </p:sp>
      <p:sp>
        <p:nvSpPr>
          <p:cNvPr id="3" name="tarjeta-113"/>
          <p:cNvSpPr/>
          <p:nvPr/>
        </p:nvSpPr>
        <p:spPr>
          <a:xfrm>
            <a:off x="548640" y="1554480"/>
            <a:ext cx="3474720" cy="1920240"/>
          </a:xfrm>
          <a:prstGeom prst="roundRect">
            <a:avLst>
              <a:gd name="adj" fmla="val 5714"/>
            </a:avLst>
          </a:prstGeom>
          <a:solidFill>
            <a:schemeClr val="bg2"/>
          </a:solidFill>
          <a:ln w="12700">
            <a:solidFill>
              <a:schemeClr val="bg2"/>
            </a:solidFill>
            <a:prstDash val="solid"/>
          </a:ln>
        </p:spPr>
      </p:sp>
      <p:sp>
        <p:nvSpPr>
          <p:cNvPr id="4" name="texto-114"/>
          <p:cNvSpPr txBox="1"/>
          <p:nvPr/>
        </p:nvSpPr>
        <p:spPr>
          <a:xfrm>
            <a:off x="822960" y="1783080"/>
            <a:ext cx="2926080" cy="365760"/>
          </a:xfrm>
          <a:prstGeom prst="rect">
            <a:avLst/>
          </a:prstGeom>
          <a:noFill/>
          <a:ln/>
        </p:spPr>
        <p:txBody>
          <a:bodyPr wrap="square" lIns="0" tIns="0" rIns="0" bIns="0" rtlCol="0" anchor="t"/>
          <a:lstStyle/>
          <a:p>
            <a:pPr indent="0" marL="0">
              <a:buNone/>
            </a:pPr>
            <a:r>
              <a:rPr lang="en-US" sz="1300" b="1" dirty="0">
                <a:solidFill>
                  <a:schemeClr val="accent5"/>
                </a:solidFill>
              </a:rPr>
              <a:t>ADR-001</a:t>
            </a:r>
            <a:endParaRPr lang="en-US" sz="1300" dirty="0"/>
          </a:p>
        </p:txBody>
      </p:sp>
      <p:sp>
        <p:nvSpPr>
          <p:cNvPr id="5" name="texto-115"/>
          <p:cNvSpPr txBox="1"/>
          <p:nvPr/>
        </p:nvSpPr>
        <p:spPr>
          <a:xfrm>
            <a:off x="822960" y="2148840"/>
            <a:ext cx="3017520" cy="502920"/>
          </a:xfrm>
          <a:prstGeom prst="rect">
            <a:avLst/>
          </a:prstGeom>
          <a:noFill/>
          <a:ln/>
        </p:spPr>
        <p:txBody>
          <a:bodyPr wrap="square" lIns="0" tIns="0" rIns="0" bIns="0" rtlCol="0" anchor="t"/>
          <a:lstStyle/>
          <a:p>
            <a:pPr indent="0" marL="0">
              <a:buNone/>
            </a:pPr>
            <a:r>
              <a:rPr lang="en-US" sz="1900" b="1" dirty="0">
                <a:solidFill>
                  <a:schemeClr val="tx2"/>
                </a:solidFill>
              </a:rPr>
              <a:t>EF Core con esquema propio</a:t>
            </a:r>
            <a:endParaRPr lang="en-US" sz="1900" dirty="0"/>
          </a:p>
        </p:txBody>
      </p:sp>
      <p:sp>
        <p:nvSpPr>
          <p:cNvPr id="6" name="texto-116"/>
          <p:cNvSpPr txBox="1"/>
          <p:nvPr/>
        </p:nvSpPr>
        <p:spPr>
          <a:xfrm>
            <a:off x="822960" y="2697480"/>
            <a:ext cx="3017520" cy="640080"/>
          </a:xfrm>
          <a:prstGeom prst="rect">
            <a:avLst/>
          </a:prstGeom>
          <a:noFill/>
          <a:ln/>
        </p:spPr>
        <p:txBody>
          <a:bodyPr wrap="square" lIns="0" tIns="0" rIns="0" bIns="0" rtlCol="0" anchor="t"/>
          <a:lstStyle/>
          <a:p>
            <a:pPr indent="0" marL="0">
              <a:buNone/>
            </a:pPr>
            <a:r>
              <a:rPr lang="en-US" sz="1400" dirty="0">
                <a:solidFill>
                  <a:schemeClr val="accent4"/>
                </a:solidFill>
              </a:rPr>
              <a:t>La base original no se comparte y le faltan procedimientos</a:t>
            </a:r>
            <a:endParaRPr lang="en-US" sz="1400" dirty="0"/>
          </a:p>
        </p:txBody>
      </p:sp>
      <p:sp>
        <p:nvSpPr>
          <p:cNvPr id="7" name="tarjeta-117"/>
          <p:cNvSpPr/>
          <p:nvPr/>
        </p:nvSpPr>
        <p:spPr>
          <a:xfrm>
            <a:off x="4297680" y="1554480"/>
            <a:ext cx="3474720" cy="1920240"/>
          </a:xfrm>
          <a:prstGeom prst="roundRect">
            <a:avLst>
              <a:gd name="adj" fmla="val 5714"/>
            </a:avLst>
          </a:prstGeom>
          <a:solidFill>
            <a:schemeClr val="bg2"/>
          </a:solidFill>
          <a:ln w="12700">
            <a:solidFill>
              <a:schemeClr val="bg2"/>
            </a:solidFill>
            <a:prstDash val="solid"/>
          </a:ln>
        </p:spPr>
      </p:sp>
      <p:sp>
        <p:nvSpPr>
          <p:cNvPr id="8" name="texto-118"/>
          <p:cNvSpPr txBox="1"/>
          <p:nvPr/>
        </p:nvSpPr>
        <p:spPr>
          <a:xfrm>
            <a:off x="4572000" y="1783080"/>
            <a:ext cx="2926080" cy="365760"/>
          </a:xfrm>
          <a:prstGeom prst="rect">
            <a:avLst/>
          </a:prstGeom>
          <a:noFill/>
          <a:ln/>
        </p:spPr>
        <p:txBody>
          <a:bodyPr wrap="square" lIns="0" tIns="0" rIns="0" bIns="0" rtlCol="0" anchor="t"/>
          <a:lstStyle/>
          <a:p>
            <a:pPr indent="0" marL="0">
              <a:buNone/>
            </a:pPr>
            <a:r>
              <a:rPr lang="en-US" sz="1300" b="1" dirty="0">
                <a:solidFill>
                  <a:schemeClr val="accent5"/>
                </a:solidFill>
              </a:rPr>
              <a:t>ADR-002</a:t>
            </a:r>
            <a:endParaRPr lang="en-US" sz="1300" dirty="0"/>
          </a:p>
        </p:txBody>
      </p:sp>
      <p:sp>
        <p:nvSpPr>
          <p:cNvPr id="9" name="texto-119"/>
          <p:cNvSpPr txBox="1"/>
          <p:nvPr/>
        </p:nvSpPr>
        <p:spPr>
          <a:xfrm>
            <a:off x="4572000" y="2148840"/>
            <a:ext cx="3017520" cy="502920"/>
          </a:xfrm>
          <a:prstGeom prst="rect">
            <a:avLst/>
          </a:prstGeom>
          <a:noFill/>
          <a:ln/>
        </p:spPr>
        <p:txBody>
          <a:bodyPr wrap="square" lIns="0" tIns="0" rIns="0" bIns="0" rtlCol="0" anchor="t"/>
          <a:lstStyle/>
          <a:p>
            <a:pPr indent="0" marL="0">
              <a:buNone/>
            </a:pPr>
            <a:r>
              <a:rPr lang="en-US" sz="1900" b="1" dirty="0">
                <a:solidFill>
                  <a:schemeClr val="tx2"/>
                </a:solidFill>
              </a:rPr>
              <a:t>Repositorio propio y limpio</a:t>
            </a:r>
            <a:endParaRPr lang="en-US" sz="1900" dirty="0"/>
          </a:p>
        </p:txBody>
      </p:sp>
      <p:sp>
        <p:nvSpPr>
          <p:cNvPr id="10" name="texto-120"/>
          <p:cNvSpPr txBox="1"/>
          <p:nvPr/>
        </p:nvSpPr>
        <p:spPr>
          <a:xfrm>
            <a:off x="4572000" y="2697480"/>
            <a:ext cx="3017520" cy="640080"/>
          </a:xfrm>
          <a:prstGeom prst="rect">
            <a:avLst/>
          </a:prstGeom>
          <a:noFill/>
          <a:ln/>
        </p:spPr>
        <p:txBody>
          <a:bodyPr wrap="square" lIns="0" tIns="0" rIns="0" bIns="0" rtlCol="0" anchor="t"/>
          <a:lstStyle/>
          <a:p>
            <a:pPr indent="0" marL="0">
              <a:buNone/>
            </a:pPr>
            <a:r>
              <a:rPr lang="en-US" sz="1400" dirty="0">
                <a:solidFill>
                  <a:schemeClr val="accent4"/>
                </a:solidFill>
              </a:rPr>
              <a:t>Sin código ni secretos de la empresa</a:t>
            </a:r>
            <a:endParaRPr lang="en-US" sz="1400" dirty="0"/>
          </a:p>
        </p:txBody>
      </p:sp>
      <p:sp>
        <p:nvSpPr>
          <p:cNvPr id="11" name="tarjeta-121"/>
          <p:cNvSpPr/>
          <p:nvPr/>
        </p:nvSpPr>
        <p:spPr>
          <a:xfrm>
            <a:off x="8046720" y="1554480"/>
            <a:ext cx="3474720" cy="1920240"/>
          </a:xfrm>
          <a:prstGeom prst="roundRect">
            <a:avLst>
              <a:gd name="adj" fmla="val 5714"/>
            </a:avLst>
          </a:prstGeom>
          <a:solidFill>
            <a:schemeClr val="bg2"/>
          </a:solidFill>
          <a:ln w="12700">
            <a:solidFill>
              <a:schemeClr val="bg2"/>
            </a:solidFill>
            <a:prstDash val="solid"/>
          </a:ln>
        </p:spPr>
      </p:sp>
      <p:sp>
        <p:nvSpPr>
          <p:cNvPr id="12" name="texto-122"/>
          <p:cNvSpPr txBox="1"/>
          <p:nvPr/>
        </p:nvSpPr>
        <p:spPr>
          <a:xfrm>
            <a:off x="8321040" y="1783080"/>
            <a:ext cx="2926080" cy="365760"/>
          </a:xfrm>
          <a:prstGeom prst="rect">
            <a:avLst/>
          </a:prstGeom>
          <a:noFill/>
          <a:ln/>
        </p:spPr>
        <p:txBody>
          <a:bodyPr wrap="square" lIns="0" tIns="0" rIns="0" bIns="0" rtlCol="0" anchor="t"/>
          <a:lstStyle/>
          <a:p>
            <a:pPr indent="0" marL="0">
              <a:buNone/>
            </a:pPr>
            <a:r>
              <a:rPr lang="en-US" sz="1300" b="1" dirty="0">
                <a:solidFill>
                  <a:schemeClr val="accent5"/>
                </a:solidFill>
              </a:rPr>
              <a:t>ADR-003</a:t>
            </a:r>
            <a:endParaRPr lang="en-US" sz="1300" dirty="0"/>
          </a:p>
        </p:txBody>
      </p:sp>
      <p:sp>
        <p:nvSpPr>
          <p:cNvPr id="13" name="texto-123"/>
          <p:cNvSpPr txBox="1"/>
          <p:nvPr/>
        </p:nvSpPr>
        <p:spPr>
          <a:xfrm>
            <a:off x="8321040" y="2148840"/>
            <a:ext cx="3017520" cy="502920"/>
          </a:xfrm>
          <a:prstGeom prst="rect">
            <a:avLst/>
          </a:prstGeom>
          <a:noFill/>
          <a:ln/>
        </p:spPr>
        <p:txBody>
          <a:bodyPr wrap="square" lIns="0" tIns="0" rIns="0" bIns="0" rtlCol="0" anchor="t"/>
          <a:lstStyle/>
          <a:p>
            <a:pPr indent="0" marL="0">
              <a:buNone/>
            </a:pPr>
            <a:r>
              <a:rPr lang="en-US" sz="1900" b="1" dirty="0">
                <a:solidFill>
                  <a:schemeClr val="tx2"/>
                </a:solidFill>
              </a:rPr>
              <a:t>Clean Architecture</a:t>
            </a:r>
            <a:endParaRPr lang="en-US" sz="1900" dirty="0"/>
          </a:p>
        </p:txBody>
      </p:sp>
      <p:sp>
        <p:nvSpPr>
          <p:cNvPr id="14" name="texto-124"/>
          <p:cNvSpPr txBox="1"/>
          <p:nvPr/>
        </p:nvSpPr>
        <p:spPr>
          <a:xfrm>
            <a:off x="8321040" y="2697480"/>
            <a:ext cx="3017520" cy="640080"/>
          </a:xfrm>
          <a:prstGeom prst="rect">
            <a:avLst/>
          </a:prstGeom>
          <a:noFill/>
          <a:ln/>
        </p:spPr>
        <p:txBody>
          <a:bodyPr wrap="square" lIns="0" tIns="0" rIns="0" bIns="0" rtlCol="0" anchor="t"/>
          <a:lstStyle/>
          <a:p>
            <a:pPr indent="0" marL="0">
              <a:buNone/>
            </a:pPr>
            <a:r>
              <a:rPr lang="en-US" sz="1400" dirty="0">
                <a:solidFill>
                  <a:schemeClr val="accent4"/>
                </a:solidFill>
              </a:rPr>
              <a:t>Reglas probables sin infraestructura</a:t>
            </a:r>
            <a:endParaRPr lang="en-US" sz="1400" dirty="0"/>
          </a:p>
        </p:txBody>
      </p:sp>
      <p:sp>
        <p:nvSpPr>
          <p:cNvPr id="15" name="tarjeta-125"/>
          <p:cNvSpPr/>
          <p:nvPr/>
        </p:nvSpPr>
        <p:spPr>
          <a:xfrm>
            <a:off x="548640" y="3749040"/>
            <a:ext cx="3474720" cy="1920240"/>
          </a:xfrm>
          <a:prstGeom prst="roundRect">
            <a:avLst>
              <a:gd name="adj" fmla="val 5714"/>
            </a:avLst>
          </a:prstGeom>
          <a:solidFill>
            <a:schemeClr val="bg2"/>
          </a:solidFill>
          <a:ln w="12700">
            <a:solidFill>
              <a:schemeClr val="bg2"/>
            </a:solidFill>
            <a:prstDash val="solid"/>
          </a:ln>
        </p:spPr>
      </p:sp>
      <p:sp>
        <p:nvSpPr>
          <p:cNvPr id="16" name="texto-126"/>
          <p:cNvSpPr txBox="1"/>
          <p:nvPr/>
        </p:nvSpPr>
        <p:spPr>
          <a:xfrm>
            <a:off x="822960" y="3977640"/>
            <a:ext cx="2926080" cy="365760"/>
          </a:xfrm>
          <a:prstGeom prst="rect">
            <a:avLst/>
          </a:prstGeom>
          <a:noFill/>
          <a:ln/>
        </p:spPr>
        <p:txBody>
          <a:bodyPr wrap="square" lIns="0" tIns="0" rIns="0" bIns="0" rtlCol="0" anchor="t"/>
          <a:lstStyle/>
          <a:p>
            <a:pPr indent="0" marL="0">
              <a:buNone/>
            </a:pPr>
            <a:r>
              <a:rPr lang="en-US" sz="1300" b="1" dirty="0">
                <a:solidFill>
                  <a:schemeClr val="accent5"/>
                </a:solidFill>
              </a:rPr>
              <a:t>ADR-004</a:t>
            </a:r>
            <a:endParaRPr lang="en-US" sz="1300" dirty="0"/>
          </a:p>
        </p:txBody>
      </p:sp>
      <p:sp>
        <p:nvSpPr>
          <p:cNvPr id="17" name="texto-127"/>
          <p:cNvSpPr txBox="1"/>
          <p:nvPr/>
        </p:nvSpPr>
        <p:spPr>
          <a:xfrm>
            <a:off x="822960" y="4343400"/>
            <a:ext cx="3017520" cy="502920"/>
          </a:xfrm>
          <a:prstGeom prst="rect">
            <a:avLst/>
          </a:prstGeom>
          <a:noFill/>
          <a:ln/>
        </p:spPr>
        <p:txBody>
          <a:bodyPr wrap="square" lIns="0" tIns="0" rIns="0" bIns="0" rtlCol="0" anchor="t"/>
          <a:lstStyle/>
          <a:p>
            <a:pPr indent="0" marL="0">
              <a:buNone/>
            </a:pPr>
            <a:r>
              <a:rPr lang="en-US" sz="1900" b="1" dirty="0">
                <a:solidFill>
                  <a:schemeClr val="tx2"/>
                </a:solidFill>
              </a:rPr>
              <a:t>FluentValidation</a:t>
            </a:r>
            <a:endParaRPr lang="en-US" sz="1900" dirty="0"/>
          </a:p>
        </p:txBody>
      </p:sp>
      <p:sp>
        <p:nvSpPr>
          <p:cNvPr id="18" name="texto-128"/>
          <p:cNvSpPr txBox="1"/>
          <p:nvPr/>
        </p:nvSpPr>
        <p:spPr>
          <a:xfrm>
            <a:off x="822960" y="4892040"/>
            <a:ext cx="3017520" cy="640080"/>
          </a:xfrm>
          <a:prstGeom prst="rect">
            <a:avLst/>
          </a:prstGeom>
          <a:noFill/>
          <a:ln/>
        </p:spPr>
        <p:txBody>
          <a:bodyPr wrap="square" lIns="0" tIns="0" rIns="0" bIns="0" rtlCol="0" anchor="t"/>
          <a:lstStyle/>
          <a:p>
            <a:pPr indent="0" marL="0">
              <a:buNone/>
            </a:pPr>
            <a:r>
              <a:rPr lang="en-US" sz="1400" dirty="0">
                <a:solidFill>
                  <a:schemeClr val="accent4"/>
                </a:solidFill>
              </a:rPr>
              <a:t>El original validaba solo en el navegador</a:t>
            </a:r>
            <a:endParaRPr lang="en-US" sz="1400" dirty="0"/>
          </a:p>
        </p:txBody>
      </p:sp>
      <p:sp>
        <p:nvSpPr>
          <p:cNvPr id="19" name="tarjeta-129"/>
          <p:cNvSpPr/>
          <p:nvPr/>
        </p:nvSpPr>
        <p:spPr>
          <a:xfrm>
            <a:off x="4297680" y="3749040"/>
            <a:ext cx="3474720" cy="1920240"/>
          </a:xfrm>
          <a:prstGeom prst="roundRect">
            <a:avLst>
              <a:gd name="adj" fmla="val 5714"/>
            </a:avLst>
          </a:prstGeom>
          <a:solidFill>
            <a:schemeClr val="bg2"/>
          </a:solidFill>
          <a:ln w="12700">
            <a:solidFill>
              <a:schemeClr val="bg2"/>
            </a:solidFill>
            <a:prstDash val="solid"/>
          </a:ln>
        </p:spPr>
      </p:sp>
      <p:sp>
        <p:nvSpPr>
          <p:cNvPr id="20" name="texto-130"/>
          <p:cNvSpPr txBox="1"/>
          <p:nvPr/>
        </p:nvSpPr>
        <p:spPr>
          <a:xfrm>
            <a:off x="4572000" y="3977640"/>
            <a:ext cx="2926080" cy="365760"/>
          </a:xfrm>
          <a:prstGeom prst="rect">
            <a:avLst/>
          </a:prstGeom>
          <a:noFill/>
          <a:ln/>
        </p:spPr>
        <p:txBody>
          <a:bodyPr wrap="square" lIns="0" tIns="0" rIns="0" bIns="0" rtlCol="0" anchor="t"/>
          <a:lstStyle/>
          <a:p>
            <a:pPr indent="0" marL="0">
              <a:buNone/>
            </a:pPr>
            <a:r>
              <a:rPr lang="en-US" sz="1300" b="1" dirty="0">
                <a:solidFill>
                  <a:schemeClr val="accent5"/>
                </a:solidFill>
              </a:rPr>
              <a:t>ADR-005</a:t>
            </a:r>
            <a:endParaRPr lang="en-US" sz="1300" dirty="0"/>
          </a:p>
        </p:txBody>
      </p:sp>
      <p:sp>
        <p:nvSpPr>
          <p:cNvPr id="21" name="texto-131"/>
          <p:cNvSpPr txBox="1"/>
          <p:nvPr/>
        </p:nvSpPr>
        <p:spPr>
          <a:xfrm>
            <a:off x="4572000" y="4343400"/>
            <a:ext cx="3017520" cy="502920"/>
          </a:xfrm>
          <a:prstGeom prst="rect">
            <a:avLst/>
          </a:prstGeom>
          <a:noFill/>
          <a:ln/>
        </p:spPr>
        <p:txBody>
          <a:bodyPr wrap="square" lIns="0" tIns="0" rIns="0" bIns="0" rtlCol="0" anchor="t"/>
          <a:lstStyle/>
          <a:p>
            <a:pPr indent="0" marL="0">
              <a:buNone/>
            </a:pPr>
            <a:r>
              <a:rPr lang="en-US" sz="1900" b="1" dirty="0">
                <a:solidFill>
                  <a:schemeClr val="tx2"/>
                </a:solidFill>
              </a:rPr>
              <a:t>ProblemDetails</a:t>
            </a:r>
            <a:endParaRPr lang="en-US" sz="1900" dirty="0"/>
          </a:p>
        </p:txBody>
      </p:sp>
      <p:sp>
        <p:nvSpPr>
          <p:cNvPr id="22" name="texto-132"/>
          <p:cNvSpPr txBox="1"/>
          <p:nvPr/>
        </p:nvSpPr>
        <p:spPr>
          <a:xfrm>
            <a:off x="4572000" y="4892040"/>
            <a:ext cx="3017520" cy="640080"/>
          </a:xfrm>
          <a:prstGeom prst="rect">
            <a:avLst/>
          </a:prstGeom>
          <a:noFill/>
          <a:ln/>
        </p:spPr>
        <p:txBody>
          <a:bodyPr wrap="square" lIns="0" tIns="0" rIns="0" bIns="0" rtlCol="0" anchor="t"/>
          <a:lstStyle/>
          <a:p>
            <a:pPr indent="0" marL="0">
              <a:buNone/>
            </a:pPr>
            <a:r>
              <a:rPr lang="en-US" sz="1400" dirty="0">
                <a:solidFill>
                  <a:schemeClr val="accent4"/>
                </a:solidFill>
              </a:rPr>
              <a:t>Nunca más un «éxito» falso</a:t>
            </a:r>
            <a:endParaRPr lang="en-US" sz="1400" dirty="0"/>
          </a:p>
        </p:txBody>
      </p:sp>
      <p:sp>
        <p:nvSpPr>
          <p:cNvPr id="23" name="tarjeta-133"/>
          <p:cNvSpPr/>
          <p:nvPr/>
        </p:nvSpPr>
        <p:spPr>
          <a:xfrm>
            <a:off x="8046720" y="3749040"/>
            <a:ext cx="3474720" cy="1920240"/>
          </a:xfrm>
          <a:prstGeom prst="roundRect">
            <a:avLst>
              <a:gd name="adj" fmla="val 5714"/>
            </a:avLst>
          </a:prstGeom>
          <a:solidFill>
            <a:schemeClr val="bg2"/>
          </a:solidFill>
          <a:ln w="12700">
            <a:solidFill>
              <a:schemeClr val="bg2"/>
            </a:solidFill>
            <a:prstDash val="solid"/>
          </a:ln>
        </p:spPr>
      </p:sp>
      <p:sp>
        <p:nvSpPr>
          <p:cNvPr id="24" name="texto-134"/>
          <p:cNvSpPr txBox="1"/>
          <p:nvPr/>
        </p:nvSpPr>
        <p:spPr>
          <a:xfrm>
            <a:off x="8321040" y="3977640"/>
            <a:ext cx="2926080" cy="365760"/>
          </a:xfrm>
          <a:prstGeom prst="rect">
            <a:avLst/>
          </a:prstGeom>
          <a:noFill/>
          <a:ln/>
        </p:spPr>
        <p:txBody>
          <a:bodyPr wrap="square" lIns="0" tIns="0" rIns="0" bIns="0" rtlCol="0" anchor="t"/>
          <a:lstStyle/>
          <a:p>
            <a:pPr indent="0" marL="0">
              <a:buNone/>
            </a:pPr>
            <a:r>
              <a:rPr lang="en-US" sz="1300" b="1" dirty="0">
                <a:solidFill>
                  <a:schemeClr val="accent5"/>
                </a:solidFill>
              </a:rPr>
              <a:t>ADR-006</a:t>
            </a:r>
            <a:endParaRPr lang="en-US" sz="1300" dirty="0"/>
          </a:p>
        </p:txBody>
      </p:sp>
      <p:sp>
        <p:nvSpPr>
          <p:cNvPr id="25" name="texto-135"/>
          <p:cNvSpPr txBox="1"/>
          <p:nvPr/>
        </p:nvSpPr>
        <p:spPr>
          <a:xfrm>
            <a:off x="8321040" y="4343400"/>
            <a:ext cx="3017520" cy="502920"/>
          </a:xfrm>
          <a:prstGeom prst="rect">
            <a:avLst/>
          </a:prstGeom>
          <a:noFill/>
          <a:ln/>
        </p:spPr>
        <p:txBody>
          <a:bodyPr wrap="square" lIns="0" tIns="0" rIns="0" bIns="0" rtlCol="0" anchor="t"/>
          <a:lstStyle/>
          <a:p>
            <a:pPr indent="0" marL="0">
              <a:buNone/>
            </a:pPr>
            <a:r>
              <a:rPr lang="en-US" sz="1900" b="1" dirty="0">
                <a:solidFill>
                  <a:schemeClr val="tx2"/>
                </a:solidFill>
              </a:rPr>
              <a:t>JWT y dos perfiles</a:t>
            </a:r>
            <a:endParaRPr lang="en-US" sz="1900" dirty="0"/>
          </a:p>
        </p:txBody>
      </p:sp>
      <p:sp>
        <p:nvSpPr>
          <p:cNvPr id="26" name="texto-136"/>
          <p:cNvSpPr txBox="1"/>
          <p:nvPr/>
        </p:nvSpPr>
        <p:spPr>
          <a:xfrm>
            <a:off x="8321040" y="4892040"/>
            <a:ext cx="3017520" cy="640080"/>
          </a:xfrm>
          <a:prstGeom prst="rect">
            <a:avLst/>
          </a:prstGeom>
          <a:noFill/>
          <a:ln/>
        </p:spPr>
        <p:txBody>
          <a:bodyPr wrap="square" lIns="0" tIns="0" rIns="0" bIns="0" rtlCol="0" anchor="t"/>
          <a:lstStyle/>
          <a:p>
            <a:pPr indent="0" marL="0">
              <a:buNone/>
            </a:pPr>
            <a:r>
              <a:rPr lang="en-US" sz="1400" dirty="0">
                <a:solidFill>
                  <a:schemeClr val="accent4"/>
                </a:solidFill>
              </a:rPr>
              <a:t>Todo exige sesión por defecto</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119 pruebas en verde y medidas que se pueden repetir</a:t>
            </a:r>
            <a:endParaRPr lang="en-US" sz="3400" dirty="0"/>
          </a:p>
        </p:txBody>
      </p:sp>
      <p:sp>
        <p:nvSpPr>
          <p:cNvPr id="3" name="texto-137"/>
          <p:cNvSpPr txBox="1"/>
          <p:nvPr/>
        </p:nvSpPr>
        <p:spPr>
          <a:xfrm>
            <a:off x="548640" y="1417320"/>
            <a:ext cx="2651760" cy="731520"/>
          </a:xfrm>
          <a:prstGeom prst="rect">
            <a:avLst/>
          </a:prstGeom>
          <a:noFill/>
          <a:ln/>
        </p:spPr>
        <p:txBody>
          <a:bodyPr wrap="square" lIns="0" tIns="0" rIns="0" bIns="0" rtlCol="0" anchor="t"/>
          <a:lstStyle/>
          <a:p>
            <a:pPr indent="0" marL="0">
              <a:buNone/>
            </a:pPr>
            <a:r>
              <a:rPr lang="en-US" sz="3600" b="1" dirty="0">
                <a:solidFill>
                  <a:schemeClr val="accent2"/>
                </a:solidFill>
                <a:latin typeface="Cambria" pitchFamily="34" charset="0"/>
                <a:ea typeface="Cambria" pitchFamily="34" charset="-122"/>
                <a:cs typeface="Cambria" pitchFamily="34" charset="-120"/>
              </a:rPr>
              <a:t>119</a:t>
            </a:r>
            <a:endParaRPr lang="en-US" sz="3600" dirty="0"/>
          </a:p>
        </p:txBody>
      </p:sp>
      <p:sp>
        <p:nvSpPr>
          <p:cNvPr id="4" name="texto-138"/>
          <p:cNvSpPr txBox="1"/>
          <p:nvPr/>
        </p:nvSpPr>
        <p:spPr>
          <a:xfrm>
            <a:off x="548640" y="2194560"/>
            <a:ext cx="2651760" cy="365760"/>
          </a:xfrm>
          <a:prstGeom prst="rect">
            <a:avLst/>
          </a:prstGeom>
          <a:noFill/>
          <a:ln/>
        </p:spPr>
        <p:txBody>
          <a:bodyPr wrap="square" lIns="0" tIns="0" rIns="0" bIns="0" rtlCol="0" anchor="t"/>
          <a:lstStyle/>
          <a:p>
            <a:pPr indent="0" marL="0">
              <a:buNone/>
            </a:pPr>
            <a:r>
              <a:rPr lang="en-US" sz="1400" dirty="0">
                <a:solidFill>
                  <a:schemeClr val="accent4"/>
                </a:solidFill>
              </a:rPr>
              <a:t>pruebas automáticas</a:t>
            </a:r>
            <a:endParaRPr lang="en-US" sz="1400" dirty="0"/>
          </a:p>
        </p:txBody>
      </p:sp>
      <p:sp>
        <p:nvSpPr>
          <p:cNvPr id="5" name="texto-139"/>
          <p:cNvSpPr txBox="1"/>
          <p:nvPr/>
        </p:nvSpPr>
        <p:spPr>
          <a:xfrm>
            <a:off x="3337560" y="1417320"/>
            <a:ext cx="2651760" cy="73152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0</a:t>
            </a:r>
            <a:endParaRPr lang="en-US" sz="3600" dirty="0"/>
          </a:p>
        </p:txBody>
      </p:sp>
      <p:sp>
        <p:nvSpPr>
          <p:cNvPr id="6" name="texto-140"/>
          <p:cNvSpPr txBox="1"/>
          <p:nvPr/>
        </p:nvSpPr>
        <p:spPr>
          <a:xfrm>
            <a:off x="3337560" y="2194560"/>
            <a:ext cx="2651760" cy="365760"/>
          </a:xfrm>
          <a:prstGeom prst="rect">
            <a:avLst/>
          </a:prstGeom>
          <a:noFill/>
          <a:ln/>
        </p:spPr>
        <p:txBody>
          <a:bodyPr wrap="square" lIns="0" tIns="0" rIns="0" bIns="0" rtlCol="0" anchor="t"/>
          <a:lstStyle/>
          <a:p>
            <a:pPr indent="0" marL="0">
              <a:buNone/>
            </a:pPr>
            <a:r>
              <a:rPr lang="en-US" sz="1400" dirty="0">
                <a:solidFill>
                  <a:schemeClr val="accent4"/>
                </a:solidFill>
              </a:rPr>
              <a:t>advertencias de compilación</a:t>
            </a:r>
            <a:endParaRPr lang="en-US" sz="1400" dirty="0"/>
          </a:p>
        </p:txBody>
      </p:sp>
      <p:sp>
        <p:nvSpPr>
          <p:cNvPr id="7" name="texto-141"/>
          <p:cNvSpPr txBox="1"/>
          <p:nvPr/>
        </p:nvSpPr>
        <p:spPr>
          <a:xfrm>
            <a:off x="6126480" y="1417320"/>
            <a:ext cx="2651760" cy="73152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47 ms</a:t>
            </a:r>
            <a:endParaRPr lang="en-US" sz="3600" dirty="0"/>
          </a:p>
        </p:txBody>
      </p:sp>
      <p:sp>
        <p:nvSpPr>
          <p:cNvPr id="8" name="texto-142"/>
          <p:cNvSpPr txBox="1"/>
          <p:nvPr/>
        </p:nvSpPr>
        <p:spPr>
          <a:xfrm>
            <a:off x="6126480" y="2194560"/>
            <a:ext cx="2651760" cy="365760"/>
          </a:xfrm>
          <a:prstGeom prst="rect">
            <a:avLst/>
          </a:prstGeom>
          <a:noFill/>
          <a:ln/>
        </p:spPr>
        <p:txBody>
          <a:bodyPr wrap="square" lIns="0" tIns="0" rIns="0" bIns="0" rtlCol="0" anchor="t"/>
          <a:lstStyle/>
          <a:p>
            <a:pPr indent="0" marL="0">
              <a:buNone/>
            </a:pPr>
            <a:r>
              <a:rPr lang="en-US" sz="1400" dirty="0">
                <a:solidFill>
                  <a:schemeClr val="accent4"/>
                </a:solidFill>
              </a:rPr>
              <a:t>peor página con 26 003 OT</a:t>
            </a:r>
            <a:endParaRPr lang="en-US" sz="1400" dirty="0"/>
          </a:p>
        </p:txBody>
      </p:sp>
      <p:sp>
        <p:nvSpPr>
          <p:cNvPr id="9" name="texto-143"/>
          <p:cNvSpPr txBox="1"/>
          <p:nvPr/>
        </p:nvSpPr>
        <p:spPr>
          <a:xfrm>
            <a:off x="8915400" y="1417320"/>
            <a:ext cx="2651760" cy="73152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22,9 KB</a:t>
            </a:r>
            <a:endParaRPr lang="en-US" sz="3600" dirty="0"/>
          </a:p>
        </p:txBody>
      </p:sp>
      <p:sp>
        <p:nvSpPr>
          <p:cNvPr id="10" name="texto-144"/>
          <p:cNvSpPr txBox="1"/>
          <p:nvPr/>
        </p:nvSpPr>
        <p:spPr>
          <a:xfrm>
            <a:off x="8915400" y="2194560"/>
            <a:ext cx="2651760" cy="365760"/>
          </a:xfrm>
          <a:prstGeom prst="rect">
            <a:avLst/>
          </a:prstGeom>
          <a:noFill/>
          <a:ln/>
        </p:spPr>
        <p:txBody>
          <a:bodyPr wrap="square" lIns="0" tIns="0" rIns="0" bIns="0" rtlCol="0" anchor="t"/>
          <a:lstStyle/>
          <a:p>
            <a:pPr indent="0" marL="0">
              <a:buNone/>
            </a:pPr>
            <a:r>
              <a:rPr lang="en-US" sz="1400" dirty="0">
                <a:solidFill>
                  <a:schemeClr val="accent4"/>
                </a:solidFill>
              </a:rPr>
              <a:t>por página (antes 1,2 MB)</a:t>
            </a:r>
            <a:endParaRPr lang="en-US" sz="1400" dirty="0"/>
          </a:p>
        </p:txBody>
      </p:sp>
      <p:sp>
        <p:nvSpPr>
          <p:cNvPr id="11" name="texto-145"/>
          <p:cNvSpPr txBox="1"/>
          <p:nvPr/>
        </p:nvSpPr>
        <p:spPr>
          <a:xfrm>
            <a:off x="548640" y="2971800"/>
            <a:ext cx="6858000" cy="365760"/>
          </a:xfrm>
          <a:prstGeom prst="rect">
            <a:avLst/>
          </a:prstGeom>
          <a:noFill/>
          <a:ln/>
        </p:spPr>
        <p:txBody>
          <a:bodyPr wrap="square" lIns="0" tIns="0" rIns="0" bIns="0" rtlCol="0" anchor="t"/>
          <a:lstStyle/>
          <a:p>
            <a:pPr indent="0" marL="0">
              <a:buNone/>
            </a:pPr>
            <a:r>
              <a:rPr lang="en-US" sz="1600" b="1" dirty="0">
                <a:solidFill>
                  <a:schemeClr val="tx2"/>
                </a:solidFill>
              </a:rPr>
              <a:t>Pruebas por tipo</a:t>
            </a:r>
            <a:endParaRPr lang="en-US" sz="1600" dirty="0"/>
          </a:p>
        </p:txBody>
      </p:sp>
      <p:graphicFrame>
        <p:nvGraphicFramePr>
          <p:cNvPr id="12" name="grafico-146" descr=""/>
          <p:cNvGraphicFramePr/>
          <p:nvPr/>
        </p:nvGraphicFramePr>
        <p:xfrm>
          <a:off x="548640" y="3337560"/>
          <a:ext cx="6766560" cy="2651760"/>
        </p:xfrm>
        <a:graphic xmlns:a="http://schemas.openxmlformats.org/drawingml/2006/main">
          <a:graphicData uri="http://schemas.openxmlformats.org/drawingml/2006/chart">
            <c:chart xmlns:c="http://schemas.openxmlformats.org/drawingml/2006/chart" r:id="rId1"/>
          </a:graphicData>
        </a:graphic>
      </p:graphicFrame>
      <p:sp>
        <p:nvSpPr>
          <p:cNvPr id="13" name="tarjeta-147"/>
          <p:cNvSpPr/>
          <p:nvPr/>
        </p:nvSpPr>
        <p:spPr>
          <a:xfrm>
            <a:off x="7818120" y="2971800"/>
            <a:ext cx="3822192" cy="3017520"/>
          </a:xfrm>
          <a:prstGeom prst="roundRect">
            <a:avLst>
              <a:gd name="adj" fmla="val 3636"/>
            </a:avLst>
          </a:prstGeom>
          <a:solidFill>
            <a:schemeClr val="bg2"/>
          </a:solidFill>
          <a:ln w="12700">
            <a:solidFill>
              <a:schemeClr val="bg2"/>
            </a:solidFill>
            <a:prstDash val="solid"/>
          </a:ln>
        </p:spPr>
      </p:sp>
      <p:sp>
        <p:nvSpPr>
          <p:cNvPr id="14" name="texto-148"/>
          <p:cNvSpPr txBox="1"/>
          <p:nvPr/>
        </p:nvSpPr>
        <p:spPr>
          <a:xfrm>
            <a:off x="8092440" y="3154680"/>
            <a:ext cx="3291840" cy="411480"/>
          </a:xfrm>
          <a:prstGeom prst="rect">
            <a:avLst/>
          </a:prstGeom>
          <a:noFill/>
          <a:ln/>
        </p:spPr>
        <p:txBody>
          <a:bodyPr wrap="square" lIns="0" tIns="0" rIns="0" bIns="0" rtlCol="0" anchor="t"/>
          <a:lstStyle/>
          <a:p>
            <a:pPr indent="0" marL="0">
              <a:buNone/>
            </a:pPr>
            <a:r>
              <a:rPr lang="en-US" sz="1800" b="1" dirty="0">
                <a:solidFill>
                  <a:schemeClr val="tx2"/>
                </a:solidFill>
              </a:rPr>
              <a:t>Además</a:t>
            </a:r>
            <a:endParaRPr lang="en-US" sz="1800" dirty="0"/>
          </a:p>
        </p:txBody>
      </p:sp>
      <p:sp>
        <p:nvSpPr>
          <p:cNvPr id="15" name="texto-149"/>
          <p:cNvSpPr txBox="1"/>
          <p:nvPr/>
        </p:nvSpPr>
        <p:spPr>
          <a:xfrm>
            <a:off x="8092440" y="3611880"/>
            <a:ext cx="333756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Cobertura: dominio 97,6 %, aplicación 99,3 %, API 98,0 %</a:t>
            </a:r>
            <a:endParaRPr lang="en-US" sz="1400" dirty="0"/>
          </a:p>
          <a:p>
            <a:pPr marL="342900" indent="-342900">
              <a:spcAft>
                <a:spcPts val="600"/>
              </a:spcAft>
              <a:buSzPct val="100000"/>
              <a:buChar char="•"/>
            </a:pPr>
            <a:r>
              <a:rPr lang="en-US" sz="1400" dirty="0">
                <a:solidFill>
                  <a:schemeClr val="tx1"/>
                </a:solidFill>
              </a:rPr>
              <a:t>Sin paquetes vulnerables</a:t>
            </a:r>
            <a:endParaRPr lang="en-US" sz="1400" dirty="0"/>
          </a:p>
          <a:p>
            <a:pPr marL="342900" indent="-342900">
              <a:spcAft>
                <a:spcPts val="600"/>
              </a:spcAft>
              <a:buSzPct val="100000"/>
              <a:buChar char="•"/>
            </a:pPr>
            <a:r>
              <a:rPr lang="en-US" sz="1400" dirty="0">
                <a:solidFill>
                  <a:schemeClr val="tx1"/>
                </a:solidFill>
              </a:rPr>
              <a:t>Sin secretos en todo el historial de git</a:t>
            </a:r>
            <a:endParaRPr lang="en-US" sz="1400" dirty="0"/>
          </a:p>
          <a:p>
            <a:pPr marL="342900" indent="-342900">
              <a:spcAft>
                <a:spcPts val="600"/>
              </a:spcAft>
              <a:buSzPct val="100000"/>
              <a:buChar char="•"/>
            </a:pPr>
            <a:r>
              <a:rPr lang="en-US" sz="1400" dirty="0">
                <a:solidFill>
                  <a:schemeClr val="tx1"/>
                </a:solidFill>
              </a:rPr>
              <a:t>Clon limpio: compila, prueba y arranca</a:t>
            </a:r>
            <a:endParaRPr lang="en-US" sz="1400" dirty="0"/>
          </a:p>
          <a:p>
            <a:pPr marL="342900" indent="-342900">
              <a:spcAft>
                <a:spcPts val="600"/>
              </a:spcAft>
              <a:buSzPct val="100000"/>
              <a:buChar char="•"/>
            </a:pPr>
            <a:r>
              <a:rPr lang="en-US" sz="1400" dirty="0">
                <a:solidFill>
                  <a:schemeClr val="tx1"/>
                </a:solidFill>
              </a:rPr>
              <a:t>Docker Compose escrito, sin ejecutar (no hay Docker en el equipo)</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La IA propone; la revisión decide</a:t>
            </a:r>
            <a:endParaRPr lang="en-US" sz="3400" dirty="0"/>
          </a:p>
        </p:txBody>
      </p:sp>
      <p:sp>
        <p:nvSpPr>
          <p:cNvPr id="3" name="texto-150"/>
          <p:cNvSpPr txBox="1"/>
          <p:nvPr/>
        </p:nvSpPr>
        <p:spPr>
          <a:xfrm>
            <a:off x="548640" y="1463040"/>
            <a:ext cx="2011680" cy="1097280"/>
          </a:xfrm>
          <a:prstGeom prst="rect">
            <a:avLst/>
          </a:prstGeom>
          <a:noFill/>
          <a:ln/>
        </p:spPr>
        <p:txBody>
          <a:bodyPr wrap="square" lIns="0" tIns="0" rIns="0" bIns="0" rtlCol="0" anchor="t"/>
          <a:lstStyle/>
          <a:p>
            <a:pPr indent="0" marL="0">
              <a:buNone/>
            </a:pPr>
            <a:r>
              <a:rPr lang="en-US" sz="6600" b="1" dirty="0">
                <a:solidFill>
                  <a:schemeClr val="tx2"/>
                </a:solidFill>
                <a:latin typeface="Cambria" pitchFamily="34" charset="0"/>
                <a:ea typeface="Cambria" pitchFamily="34" charset="-122"/>
                <a:cs typeface="Cambria" pitchFamily="34" charset="-120"/>
              </a:rPr>
              <a:t>14</a:t>
            </a:r>
            <a:endParaRPr lang="en-US" sz="6600" dirty="0"/>
          </a:p>
        </p:txBody>
      </p:sp>
      <p:sp>
        <p:nvSpPr>
          <p:cNvPr id="4" name="texto-151"/>
          <p:cNvSpPr txBox="1"/>
          <p:nvPr/>
        </p:nvSpPr>
        <p:spPr>
          <a:xfrm>
            <a:off x="548640" y="2606040"/>
            <a:ext cx="2194560" cy="1097280"/>
          </a:xfrm>
          <a:prstGeom prst="rect">
            <a:avLst/>
          </a:prstGeom>
          <a:noFill/>
          <a:ln/>
        </p:spPr>
        <p:txBody>
          <a:bodyPr wrap="square" lIns="0" tIns="0" rIns="0" bIns="0" rtlCol="0" anchor="t"/>
          <a:lstStyle/>
          <a:p>
            <a:pPr indent="0" marL="0">
              <a:buNone/>
            </a:pPr>
            <a:r>
              <a:rPr lang="en-US" sz="1400" dirty="0">
                <a:solidFill>
                  <a:schemeClr val="accent4"/>
                </a:solidFill>
              </a:rPr>
              <a:t>evidencias registradas: prompt, respuesta, cambio y decisión</a:t>
            </a:r>
            <a:endParaRPr lang="en-US" sz="1400" dirty="0"/>
          </a:p>
        </p:txBody>
      </p:sp>
      <p:sp>
        <p:nvSpPr>
          <p:cNvPr id="5" name="tarjeta-152"/>
          <p:cNvSpPr/>
          <p:nvPr/>
        </p:nvSpPr>
        <p:spPr>
          <a:xfrm>
            <a:off x="3108960" y="1463040"/>
            <a:ext cx="4023360" cy="2011680"/>
          </a:xfrm>
          <a:prstGeom prst="roundRect">
            <a:avLst>
              <a:gd name="adj" fmla="val 5455"/>
            </a:avLst>
          </a:prstGeom>
          <a:solidFill>
            <a:schemeClr val="bg2"/>
          </a:solidFill>
          <a:ln w="12700">
            <a:solidFill>
              <a:schemeClr val="bg2"/>
            </a:solidFill>
            <a:prstDash val="solid"/>
          </a:ln>
        </p:spPr>
      </p:sp>
      <p:sp>
        <p:nvSpPr>
          <p:cNvPr id="6" name="circulo-153"/>
          <p:cNvSpPr/>
          <p:nvPr/>
        </p:nvSpPr>
        <p:spPr>
          <a:xfrm>
            <a:off x="3383280" y="1737360"/>
            <a:ext cx="411480" cy="411480"/>
          </a:xfrm>
          <a:prstGeom prst="ellipse">
            <a:avLst/>
          </a:prstGeom>
          <a:solidFill>
            <a:schemeClr val="accent1"/>
          </a:solidFill>
          <a:ln w="12700">
            <a:solidFill>
              <a:schemeClr val="accent1"/>
            </a:solidFill>
            <a:prstDash val="solid"/>
          </a:ln>
        </p:spPr>
      </p:sp>
      <p:sp>
        <p:nvSpPr>
          <p:cNvPr id="7" name="num-154"/>
          <p:cNvSpPr txBox="1"/>
          <p:nvPr/>
        </p:nvSpPr>
        <p:spPr>
          <a:xfrm>
            <a:off x="3383280" y="1737360"/>
            <a:ext cx="411480" cy="411480"/>
          </a:xfrm>
          <a:prstGeom prst="rect">
            <a:avLst/>
          </a:prstGeom>
          <a:noFill/>
          <a:ln/>
        </p:spPr>
        <p:txBody>
          <a:bodyPr wrap="square" lIns="0" tIns="0" rIns="0" bIns="0" rtlCol="0" anchor="ctr"/>
          <a:lstStyle/>
          <a:p>
            <a:pPr algn="ctr" indent="0" marL="0">
              <a:buNone/>
            </a:pPr>
            <a:endParaRPr lang="en-US" sz="1600" dirty="0"/>
          </a:p>
        </p:txBody>
      </p:sp>
      <p:sp>
        <p:nvSpPr>
          <p:cNvPr id="8" name="texto-155"/>
          <p:cNvSpPr txBox="1"/>
          <p:nvPr/>
        </p:nvSpPr>
        <p:spPr>
          <a:xfrm>
            <a:off x="3977640" y="1719072"/>
            <a:ext cx="2926080" cy="457200"/>
          </a:xfrm>
          <a:prstGeom prst="rect">
            <a:avLst/>
          </a:prstGeom>
          <a:noFill/>
          <a:ln/>
        </p:spPr>
        <p:txBody>
          <a:bodyPr wrap="square" lIns="0" tIns="0" rIns="0" bIns="0" rtlCol="0" anchor="ctr"/>
          <a:lstStyle/>
          <a:p>
            <a:pPr indent="0" marL="0">
              <a:buNone/>
            </a:pPr>
            <a:r>
              <a:rPr lang="en-US" sz="1800" b="1" dirty="0">
                <a:solidFill>
                  <a:schemeClr val="tx2"/>
                </a:solidFill>
              </a:rPr>
              <a:t>Corregido</a:t>
            </a:r>
            <a:endParaRPr lang="en-US" sz="1800" dirty="0"/>
          </a:p>
        </p:txBody>
      </p:sp>
      <p:sp>
        <p:nvSpPr>
          <p:cNvPr id="9" name="texto-156"/>
          <p:cNvSpPr txBox="1"/>
          <p:nvPr/>
        </p:nvSpPr>
        <p:spPr>
          <a:xfrm>
            <a:off x="3383280" y="2331720"/>
            <a:ext cx="3520440" cy="1051560"/>
          </a:xfrm>
          <a:prstGeom prst="rect">
            <a:avLst/>
          </a:prstGeom>
          <a:noFill/>
          <a:ln/>
        </p:spPr>
        <p:txBody>
          <a:bodyPr wrap="square" lIns="0" tIns="0" rIns="0" bIns="0" rtlCol="0" anchor="t"/>
          <a:lstStyle/>
          <a:p>
            <a:pPr indent="0" marL="0">
              <a:buNone/>
            </a:pPr>
            <a:r>
              <a:rPr lang="en-US" sz="1400" dirty="0">
                <a:solidFill>
                  <a:schemeClr val="tx1"/>
                </a:solidFill>
              </a:rPr>
              <a:t>La IA atribuyó 10 fallos a «parámetros que no sirven»; la causa real era otra. Se corrigió la conclusión.</a:t>
            </a:r>
            <a:endParaRPr lang="en-US" sz="1400" dirty="0"/>
          </a:p>
        </p:txBody>
      </p:sp>
      <p:sp>
        <p:nvSpPr>
          <p:cNvPr id="10" name="tarjeta-157"/>
          <p:cNvSpPr/>
          <p:nvPr/>
        </p:nvSpPr>
        <p:spPr>
          <a:xfrm>
            <a:off x="7406640" y="1463040"/>
            <a:ext cx="4023360" cy="2011680"/>
          </a:xfrm>
          <a:prstGeom prst="roundRect">
            <a:avLst>
              <a:gd name="adj" fmla="val 5455"/>
            </a:avLst>
          </a:prstGeom>
          <a:solidFill>
            <a:schemeClr val="bg2"/>
          </a:solidFill>
          <a:ln w="12700">
            <a:solidFill>
              <a:schemeClr val="bg2"/>
            </a:solidFill>
            <a:prstDash val="solid"/>
          </a:ln>
        </p:spPr>
      </p:sp>
      <p:sp>
        <p:nvSpPr>
          <p:cNvPr id="11" name="circulo-158"/>
          <p:cNvSpPr/>
          <p:nvPr/>
        </p:nvSpPr>
        <p:spPr>
          <a:xfrm>
            <a:off x="7680960" y="1737360"/>
            <a:ext cx="411480" cy="411480"/>
          </a:xfrm>
          <a:prstGeom prst="ellipse">
            <a:avLst/>
          </a:prstGeom>
          <a:solidFill>
            <a:schemeClr val="accent5"/>
          </a:solidFill>
          <a:ln w="12700">
            <a:solidFill>
              <a:schemeClr val="accent5"/>
            </a:solidFill>
            <a:prstDash val="solid"/>
          </a:ln>
        </p:spPr>
      </p:sp>
      <p:sp>
        <p:nvSpPr>
          <p:cNvPr id="12" name="num-159"/>
          <p:cNvSpPr txBox="1"/>
          <p:nvPr/>
        </p:nvSpPr>
        <p:spPr>
          <a:xfrm>
            <a:off x="7680960" y="1737360"/>
            <a:ext cx="411480" cy="411480"/>
          </a:xfrm>
          <a:prstGeom prst="rect">
            <a:avLst/>
          </a:prstGeom>
          <a:noFill/>
          <a:ln/>
        </p:spPr>
        <p:txBody>
          <a:bodyPr wrap="square" lIns="0" tIns="0" rIns="0" bIns="0" rtlCol="0" anchor="ctr"/>
          <a:lstStyle/>
          <a:p>
            <a:pPr algn="ctr" indent="0" marL="0">
              <a:buNone/>
            </a:pPr>
            <a:endParaRPr lang="en-US" sz="1600" dirty="0"/>
          </a:p>
        </p:txBody>
      </p:sp>
      <p:sp>
        <p:nvSpPr>
          <p:cNvPr id="13" name="texto-160"/>
          <p:cNvSpPr txBox="1"/>
          <p:nvPr/>
        </p:nvSpPr>
        <p:spPr>
          <a:xfrm>
            <a:off x="8275320" y="1719072"/>
            <a:ext cx="2926080" cy="457200"/>
          </a:xfrm>
          <a:prstGeom prst="rect">
            <a:avLst/>
          </a:prstGeom>
          <a:noFill/>
          <a:ln/>
        </p:spPr>
        <p:txBody>
          <a:bodyPr wrap="square" lIns="0" tIns="0" rIns="0" bIns="0" rtlCol="0" anchor="ctr"/>
          <a:lstStyle/>
          <a:p>
            <a:pPr indent="0" marL="0">
              <a:buNone/>
            </a:pPr>
            <a:r>
              <a:rPr lang="en-US" sz="1800" b="1" dirty="0">
                <a:solidFill>
                  <a:schemeClr val="tx2"/>
                </a:solidFill>
              </a:rPr>
              <a:t>Detectado</a:t>
            </a:r>
            <a:endParaRPr lang="en-US" sz="1800" dirty="0"/>
          </a:p>
        </p:txBody>
      </p:sp>
      <p:sp>
        <p:nvSpPr>
          <p:cNvPr id="14" name="texto-161"/>
          <p:cNvSpPr txBox="1"/>
          <p:nvPr/>
        </p:nvSpPr>
        <p:spPr>
          <a:xfrm>
            <a:off x="7680960" y="2331720"/>
            <a:ext cx="3520440" cy="1051560"/>
          </a:xfrm>
          <a:prstGeom prst="rect">
            <a:avLst/>
          </a:prstGeom>
          <a:noFill/>
          <a:ln/>
        </p:spPr>
        <p:txBody>
          <a:bodyPr wrap="square" lIns="0" tIns="0" rIns="0" bIns="0" rtlCol="0" anchor="t"/>
          <a:lstStyle/>
          <a:p>
            <a:pPr indent="0" marL="0">
              <a:buNone/>
            </a:pPr>
            <a:r>
              <a:rPr lang="en-US" sz="1400" dirty="0">
                <a:solidFill>
                  <a:schemeClr val="tx1"/>
                </a:solidFill>
              </a:rPr>
              <a:t>Una prueba concurrente falló: el error era de la prueba (fecha repetida), no del sistema. Se leyó el detalle antes de tocar código.</a:t>
            </a:r>
            <a:endParaRPr lang="en-US" sz="1400" dirty="0"/>
          </a:p>
        </p:txBody>
      </p:sp>
      <p:sp>
        <p:nvSpPr>
          <p:cNvPr id="15" name="tarjeta-162"/>
          <p:cNvSpPr/>
          <p:nvPr/>
        </p:nvSpPr>
        <p:spPr>
          <a:xfrm>
            <a:off x="3108960" y="3703320"/>
            <a:ext cx="4023360" cy="2011680"/>
          </a:xfrm>
          <a:prstGeom prst="roundRect">
            <a:avLst>
              <a:gd name="adj" fmla="val 5455"/>
            </a:avLst>
          </a:prstGeom>
          <a:solidFill>
            <a:schemeClr val="bg2"/>
          </a:solidFill>
          <a:ln w="12700">
            <a:solidFill>
              <a:schemeClr val="bg2"/>
            </a:solidFill>
            <a:prstDash val="solid"/>
          </a:ln>
        </p:spPr>
      </p:sp>
      <p:sp>
        <p:nvSpPr>
          <p:cNvPr id="16" name="circulo-163"/>
          <p:cNvSpPr/>
          <p:nvPr/>
        </p:nvSpPr>
        <p:spPr>
          <a:xfrm>
            <a:off x="3383280" y="3977640"/>
            <a:ext cx="411480" cy="411480"/>
          </a:xfrm>
          <a:prstGeom prst="ellipse">
            <a:avLst/>
          </a:prstGeom>
          <a:solidFill>
            <a:schemeClr val="accent2"/>
          </a:solidFill>
          <a:ln w="12700">
            <a:solidFill>
              <a:schemeClr val="accent2"/>
            </a:solidFill>
            <a:prstDash val="solid"/>
          </a:ln>
        </p:spPr>
      </p:sp>
      <p:sp>
        <p:nvSpPr>
          <p:cNvPr id="17" name="num-164"/>
          <p:cNvSpPr txBox="1"/>
          <p:nvPr/>
        </p:nvSpPr>
        <p:spPr>
          <a:xfrm>
            <a:off x="3383280" y="3977640"/>
            <a:ext cx="411480" cy="411480"/>
          </a:xfrm>
          <a:prstGeom prst="rect">
            <a:avLst/>
          </a:prstGeom>
          <a:noFill/>
          <a:ln/>
        </p:spPr>
        <p:txBody>
          <a:bodyPr wrap="square" lIns="0" tIns="0" rIns="0" bIns="0" rtlCol="0" anchor="ctr"/>
          <a:lstStyle/>
          <a:p>
            <a:pPr algn="ctr" indent="0" marL="0">
              <a:buNone/>
            </a:pPr>
            <a:endParaRPr lang="en-US" sz="1600" dirty="0"/>
          </a:p>
        </p:txBody>
      </p:sp>
      <p:sp>
        <p:nvSpPr>
          <p:cNvPr id="18" name="texto-165"/>
          <p:cNvSpPr txBox="1"/>
          <p:nvPr/>
        </p:nvSpPr>
        <p:spPr>
          <a:xfrm>
            <a:off x="3977640" y="3959352"/>
            <a:ext cx="2926080" cy="457200"/>
          </a:xfrm>
          <a:prstGeom prst="rect">
            <a:avLst/>
          </a:prstGeom>
          <a:noFill/>
          <a:ln/>
        </p:spPr>
        <p:txBody>
          <a:bodyPr wrap="square" lIns="0" tIns="0" rIns="0" bIns="0" rtlCol="0" anchor="ctr"/>
          <a:lstStyle/>
          <a:p>
            <a:pPr indent="0" marL="0">
              <a:buNone/>
            </a:pPr>
            <a:r>
              <a:rPr lang="en-US" sz="1800" b="1" dirty="0">
                <a:solidFill>
                  <a:schemeClr val="tx2"/>
                </a:solidFill>
              </a:rPr>
              <a:t>Verificado</a:t>
            </a:r>
            <a:endParaRPr lang="en-US" sz="1800" dirty="0"/>
          </a:p>
        </p:txBody>
      </p:sp>
      <p:sp>
        <p:nvSpPr>
          <p:cNvPr id="19" name="texto-166"/>
          <p:cNvSpPr txBox="1"/>
          <p:nvPr/>
        </p:nvSpPr>
        <p:spPr>
          <a:xfrm>
            <a:off x="3383280" y="4572000"/>
            <a:ext cx="3520440" cy="1051560"/>
          </a:xfrm>
          <a:prstGeom prst="rect">
            <a:avLst/>
          </a:prstGeom>
          <a:noFill/>
          <a:ln/>
        </p:spPr>
        <p:txBody>
          <a:bodyPr wrap="square" lIns="0" tIns="0" rIns="0" bIns="0" rtlCol="0" anchor="t"/>
          <a:lstStyle/>
          <a:p>
            <a:pPr indent="0" marL="0">
              <a:buNone/>
            </a:pPr>
            <a:r>
              <a:rPr lang="en-US" sz="1400" dirty="0">
                <a:solidFill>
                  <a:schemeClr val="tx1"/>
                </a:solidFill>
              </a:rPr>
              <a:t>Prueba de mutación: con el algoritmo del original la prueba falla. Así se sabe que la prueba sirve.</a:t>
            </a:r>
            <a:endParaRPr lang="en-US" sz="1400" dirty="0"/>
          </a:p>
        </p:txBody>
      </p:sp>
      <p:sp>
        <p:nvSpPr>
          <p:cNvPr id="20" name="tarjeta-167"/>
          <p:cNvSpPr/>
          <p:nvPr/>
        </p:nvSpPr>
        <p:spPr>
          <a:xfrm>
            <a:off x="7406640" y="3703320"/>
            <a:ext cx="4023360" cy="2011680"/>
          </a:xfrm>
          <a:prstGeom prst="roundRect">
            <a:avLst>
              <a:gd name="adj" fmla="val 5455"/>
            </a:avLst>
          </a:prstGeom>
          <a:solidFill>
            <a:schemeClr val="bg2"/>
          </a:solidFill>
          <a:ln w="12700">
            <a:solidFill>
              <a:schemeClr val="bg2"/>
            </a:solidFill>
            <a:prstDash val="solid"/>
          </a:ln>
        </p:spPr>
      </p:sp>
      <p:sp>
        <p:nvSpPr>
          <p:cNvPr id="21" name="circulo-168"/>
          <p:cNvSpPr/>
          <p:nvPr/>
        </p:nvSpPr>
        <p:spPr>
          <a:xfrm>
            <a:off x="7680960" y="3977640"/>
            <a:ext cx="411480" cy="411480"/>
          </a:xfrm>
          <a:prstGeom prst="ellipse">
            <a:avLst/>
          </a:prstGeom>
          <a:solidFill>
            <a:schemeClr val="accent3"/>
          </a:solidFill>
          <a:ln w="12700">
            <a:solidFill>
              <a:schemeClr val="accent3"/>
            </a:solidFill>
            <a:prstDash val="solid"/>
          </a:ln>
        </p:spPr>
      </p:sp>
      <p:sp>
        <p:nvSpPr>
          <p:cNvPr id="22" name="num-169"/>
          <p:cNvSpPr txBox="1"/>
          <p:nvPr/>
        </p:nvSpPr>
        <p:spPr>
          <a:xfrm>
            <a:off x="7680960" y="3977640"/>
            <a:ext cx="411480" cy="411480"/>
          </a:xfrm>
          <a:prstGeom prst="rect">
            <a:avLst/>
          </a:prstGeom>
          <a:noFill/>
          <a:ln/>
        </p:spPr>
        <p:txBody>
          <a:bodyPr wrap="square" lIns="0" tIns="0" rIns="0" bIns="0" rtlCol="0" anchor="ctr"/>
          <a:lstStyle/>
          <a:p>
            <a:pPr algn="ctr" indent="0" marL="0">
              <a:buNone/>
            </a:pPr>
            <a:endParaRPr lang="en-US" sz="1600" dirty="0"/>
          </a:p>
        </p:txBody>
      </p:sp>
      <p:sp>
        <p:nvSpPr>
          <p:cNvPr id="23" name="texto-170"/>
          <p:cNvSpPr txBox="1"/>
          <p:nvPr/>
        </p:nvSpPr>
        <p:spPr>
          <a:xfrm>
            <a:off x="8275320" y="3959352"/>
            <a:ext cx="2926080" cy="457200"/>
          </a:xfrm>
          <a:prstGeom prst="rect">
            <a:avLst/>
          </a:prstGeom>
          <a:noFill/>
          <a:ln/>
        </p:spPr>
        <p:txBody>
          <a:bodyPr wrap="square" lIns="0" tIns="0" rIns="0" bIns="0" rtlCol="0" anchor="ctr"/>
          <a:lstStyle/>
          <a:p>
            <a:pPr indent="0" marL="0">
              <a:buNone/>
            </a:pPr>
            <a:r>
              <a:rPr lang="en-US" sz="1800" b="1" dirty="0">
                <a:solidFill>
                  <a:schemeClr val="tx2"/>
                </a:solidFill>
              </a:rPr>
              <a:t>Rechazado</a:t>
            </a:r>
            <a:endParaRPr lang="en-US" sz="1800" dirty="0"/>
          </a:p>
        </p:txBody>
      </p:sp>
      <p:sp>
        <p:nvSpPr>
          <p:cNvPr id="24" name="texto-171"/>
          <p:cNvSpPr txBox="1"/>
          <p:nvPr/>
        </p:nvSpPr>
        <p:spPr>
          <a:xfrm>
            <a:off x="7680960" y="4572000"/>
            <a:ext cx="3520440" cy="1051560"/>
          </a:xfrm>
          <a:prstGeom prst="rect">
            <a:avLst/>
          </a:prstGeom>
          <a:noFill/>
          <a:ln/>
        </p:spPr>
        <p:txBody>
          <a:bodyPr wrap="square" lIns="0" tIns="0" rIns="0" bIns="0" rtlCol="0" anchor="t"/>
          <a:lstStyle/>
          <a:p>
            <a:pPr indent="0" marL="0">
              <a:buNone/>
            </a:pPr>
            <a:r>
              <a:rPr lang="en-US" sz="1400" dirty="0">
                <a:solidFill>
                  <a:schemeClr val="tx1"/>
                </a:solidFill>
              </a:rPr>
              <a:t>Un git add por carpeta mezcló archivos ajenos; desde entonces se añaden por nombre.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Demo: el flujo completo en 4 minutos</a:t>
            </a:r>
            <a:endParaRPr lang="en-US" sz="3400" dirty="0"/>
          </a:p>
        </p:txBody>
      </p:sp>
      <p:sp>
        <p:nvSpPr>
          <p:cNvPr id="3" name="circulo-172"/>
          <p:cNvSpPr/>
          <p:nvPr/>
        </p:nvSpPr>
        <p:spPr>
          <a:xfrm>
            <a:off x="548640" y="1554480"/>
            <a:ext cx="594360" cy="594360"/>
          </a:xfrm>
          <a:prstGeom prst="ellipse">
            <a:avLst/>
          </a:prstGeom>
          <a:solidFill>
            <a:schemeClr val="accent1"/>
          </a:solidFill>
          <a:ln w="12700">
            <a:solidFill>
              <a:schemeClr val="accent1"/>
            </a:solidFill>
            <a:prstDash val="solid"/>
          </a:ln>
        </p:spPr>
      </p:sp>
      <p:sp>
        <p:nvSpPr>
          <p:cNvPr id="4" name="num-173"/>
          <p:cNvSpPr txBox="1"/>
          <p:nvPr/>
        </p:nvSpPr>
        <p:spPr>
          <a:xfrm>
            <a:off x="548640" y="1554480"/>
            <a:ext cx="594360" cy="594360"/>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5" name="texto-174"/>
          <p:cNvSpPr txBox="1"/>
          <p:nvPr/>
        </p:nvSpPr>
        <p:spPr>
          <a:xfrm>
            <a:off x="1371600" y="1600200"/>
            <a:ext cx="4754880" cy="548640"/>
          </a:xfrm>
          <a:prstGeom prst="rect">
            <a:avLst/>
          </a:prstGeom>
          <a:noFill/>
          <a:ln/>
        </p:spPr>
        <p:txBody>
          <a:bodyPr wrap="square" lIns="0" tIns="0" rIns="0" bIns="0" rtlCol="0" anchor="ctr"/>
          <a:lstStyle/>
          <a:p>
            <a:pPr indent="0" marL="0">
              <a:buNone/>
            </a:pPr>
            <a:r>
              <a:rPr lang="en-US" sz="1600" dirty="0">
                <a:solidFill>
                  <a:schemeClr val="tx1"/>
                </a:solidFill>
              </a:rPr>
              <a:t>Iniciar sesión como planificador</a:t>
            </a:r>
            <a:endParaRPr lang="en-US" sz="1600" dirty="0"/>
          </a:p>
        </p:txBody>
      </p:sp>
      <p:sp>
        <p:nvSpPr>
          <p:cNvPr id="6" name="circulo-175"/>
          <p:cNvSpPr/>
          <p:nvPr/>
        </p:nvSpPr>
        <p:spPr>
          <a:xfrm>
            <a:off x="548640" y="2560320"/>
            <a:ext cx="594360" cy="594360"/>
          </a:xfrm>
          <a:prstGeom prst="ellipse">
            <a:avLst/>
          </a:prstGeom>
          <a:solidFill>
            <a:schemeClr val="accent1"/>
          </a:solidFill>
          <a:ln w="12700">
            <a:solidFill>
              <a:schemeClr val="accent1"/>
            </a:solidFill>
            <a:prstDash val="solid"/>
          </a:ln>
        </p:spPr>
      </p:sp>
      <p:sp>
        <p:nvSpPr>
          <p:cNvPr id="7" name="num-176"/>
          <p:cNvSpPr txBox="1"/>
          <p:nvPr/>
        </p:nvSpPr>
        <p:spPr>
          <a:xfrm>
            <a:off x="548640" y="2560320"/>
            <a:ext cx="594360" cy="594360"/>
          </a:xfrm>
          <a:prstGeom prst="rect">
            <a:avLst/>
          </a:prstGeom>
          <a:no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8" name="texto-177"/>
          <p:cNvSpPr txBox="1"/>
          <p:nvPr/>
        </p:nvSpPr>
        <p:spPr>
          <a:xfrm>
            <a:off x="1371600" y="2606040"/>
            <a:ext cx="4754880" cy="548640"/>
          </a:xfrm>
          <a:prstGeom prst="rect">
            <a:avLst/>
          </a:prstGeom>
          <a:noFill/>
          <a:ln/>
        </p:spPr>
        <p:txBody>
          <a:bodyPr wrap="square" lIns="0" tIns="0" rIns="0" bIns="0" rtlCol="0" anchor="ctr"/>
          <a:lstStyle/>
          <a:p>
            <a:pPr indent="0" marL="0">
              <a:buNone/>
            </a:pPr>
            <a:r>
              <a:rPr lang="en-US" sz="1600" dirty="0">
                <a:solidFill>
                  <a:schemeClr val="tx1"/>
                </a:solidFill>
              </a:rPr>
              <a:t>Registrar un MP mensual (mostrar el error si falta el mes)</a:t>
            </a:r>
            <a:endParaRPr lang="en-US" sz="1600" dirty="0"/>
          </a:p>
        </p:txBody>
      </p:sp>
      <p:sp>
        <p:nvSpPr>
          <p:cNvPr id="9" name="circulo-178"/>
          <p:cNvSpPr/>
          <p:nvPr/>
        </p:nvSpPr>
        <p:spPr>
          <a:xfrm>
            <a:off x="548640" y="3566160"/>
            <a:ext cx="594360" cy="594360"/>
          </a:xfrm>
          <a:prstGeom prst="ellipse">
            <a:avLst/>
          </a:prstGeom>
          <a:solidFill>
            <a:schemeClr val="accent1"/>
          </a:solidFill>
          <a:ln w="12700">
            <a:solidFill>
              <a:schemeClr val="accent1"/>
            </a:solidFill>
            <a:prstDash val="solid"/>
          </a:ln>
        </p:spPr>
      </p:sp>
      <p:sp>
        <p:nvSpPr>
          <p:cNvPr id="10" name="num-179"/>
          <p:cNvSpPr txBox="1"/>
          <p:nvPr/>
        </p:nvSpPr>
        <p:spPr>
          <a:xfrm>
            <a:off x="548640" y="3566160"/>
            <a:ext cx="594360" cy="594360"/>
          </a:xfrm>
          <a:prstGeom prst="rect">
            <a:avLst/>
          </a:prstGeom>
          <a:no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11" name="texto-180"/>
          <p:cNvSpPr txBox="1"/>
          <p:nvPr/>
        </p:nvSpPr>
        <p:spPr>
          <a:xfrm>
            <a:off x="1371600" y="3611880"/>
            <a:ext cx="4754880" cy="548640"/>
          </a:xfrm>
          <a:prstGeom prst="rect">
            <a:avLst/>
          </a:prstGeom>
          <a:noFill/>
          <a:ln/>
        </p:spPr>
        <p:txBody>
          <a:bodyPr wrap="square" lIns="0" tIns="0" rIns="0" bIns="0" rtlCol="0" anchor="ctr"/>
          <a:lstStyle/>
          <a:p>
            <a:pPr indent="0" marL="0">
              <a:buNone/>
            </a:pPr>
            <a:r>
              <a:rPr lang="en-US" sz="1600" dirty="0">
                <a:solidFill>
                  <a:schemeClr val="tx1"/>
                </a:solidFill>
              </a:rPr>
              <a:t>Aprobar el MP y programar una fecha (probar una fecha de hoy: la rechaza)</a:t>
            </a:r>
            <a:endParaRPr lang="en-US" sz="1600" dirty="0"/>
          </a:p>
        </p:txBody>
      </p:sp>
      <p:sp>
        <p:nvSpPr>
          <p:cNvPr id="12" name="circulo-181"/>
          <p:cNvSpPr/>
          <p:nvPr/>
        </p:nvSpPr>
        <p:spPr>
          <a:xfrm>
            <a:off x="548640" y="4572000"/>
            <a:ext cx="594360" cy="594360"/>
          </a:xfrm>
          <a:prstGeom prst="ellipse">
            <a:avLst/>
          </a:prstGeom>
          <a:solidFill>
            <a:schemeClr val="accent1"/>
          </a:solidFill>
          <a:ln w="12700">
            <a:solidFill>
              <a:schemeClr val="accent1"/>
            </a:solidFill>
            <a:prstDash val="solid"/>
          </a:ln>
        </p:spPr>
      </p:sp>
      <p:sp>
        <p:nvSpPr>
          <p:cNvPr id="13" name="num-182"/>
          <p:cNvSpPr txBox="1"/>
          <p:nvPr/>
        </p:nvSpPr>
        <p:spPr>
          <a:xfrm>
            <a:off x="548640" y="4572000"/>
            <a:ext cx="594360" cy="594360"/>
          </a:xfrm>
          <a:prstGeom prst="rect">
            <a:avLst/>
          </a:prstGeom>
          <a:noFill/>
          <a:ln/>
        </p:spPr>
        <p:txBody>
          <a:bodyPr wrap="square" lIns="0" tIns="0" rIns="0" bIns="0" rtlCol="0" anchor="ctr"/>
          <a:lstStyle/>
          <a:p>
            <a:pPr algn="ctr" indent="0" marL="0">
              <a:buNone/>
            </a:pPr>
            <a:r>
              <a:rPr lang="en-US" sz="1600" b="1" dirty="0">
                <a:solidFill>
                  <a:schemeClr val="tx2"/>
                </a:solidFill>
              </a:rPr>
              <a:t>4</a:t>
            </a:r>
            <a:endParaRPr lang="en-US" sz="1600" dirty="0"/>
          </a:p>
        </p:txBody>
      </p:sp>
      <p:sp>
        <p:nvSpPr>
          <p:cNvPr id="14" name="texto-183"/>
          <p:cNvSpPr txBox="1"/>
          <p:nvPr/>
        </p:nvSpPr>
        <p:spPr>
          <a:xfrm>
            <a:off x="1371600" y="4617720"/>
            <a:ext cx="4754880" cy="548640"/>
          </a:xfrm>
          <a:prstGeom prst="rect">
            <a:avLst/>
          </a:prstGeom>
          <a:noFill/>
          <a:ln/>
        </p:spPr>
        <p:txBody>
          <a:bodyPr wrap="square" lIns="0" tIns="0" rIns="0" bIns="0" rtlCol="0" anchor="ctr"/>
          <a:lstStyle/>
          <a:p>
            <a:pPr indent="0" marL="0">
              <a:buNone/>
            </a:pPr>
            <a:r>
              <a:rPr lang="en-US" sz="1600" dirty="0">
                <a:solidFill>
                  <a:schemeClr val="tx1"/>
                </a:solidFill>
              </a:rPr>
              <a:t>Generar la OT y ver su número</a:t>
            </a:r>
            <a:endParaRPr lang="en-US" sz="1600" dirty="0"/>
          </a:p>
        </p:txBody>
      </p:sp>
      <p:sp>
        <p:nvSpPr>
          <p:cNvPr id="15" name="circulo-184"/>
          <p:cNvSpPr/>
          <p:nvPr/>
        </p:nvSpPr>
        <p:spPr>
          <a:xfrm>
            <a:off x="6309360" y="1554480"/>
            <a:ext cx="594360" cy="594360"/>
          </a:xfrm>
          <a:prstGeom prst="ellipse">
            <a:avLst/>
          </a:prstGeom>
          <a:solidFill>
            <a:schemeClr val="accent1"/>
          </a:solidFill>
          <a:ln w="12700">
            <a:solidFill>
              <a:schemeClr val="accent1"/>
            </a:solidFill>
            <a:prstDash val="solid"/>
          </a:ln>
        </p:spPr>
      </p:sp>
      <p:sp>
        <p:nvSpPr>
          <p:cNvPr id="16" name="num-185"/>
          <p:cNvSpPr txBox="1"/>
          <p:nvPr/>
        </p:nvSpPr>
        <p:spPr>
          <a:xfrm>
            <a:off x="6309360" y="1554480"/>
            <a:ext cx="594360" cy="594360"/>
          </a:xfrm>
          <a:prstGeom prst="rect">
            <a:avLst/>
          </a:prstGeom>
          <a:noFill/>
          <a:ln/>
        </p:spPr>
        <p:txBody>
          <a:bodyPr wrap="square" lIns="0" tIns="0" rIns="0" bIns="0" rtlCol="0" anchor="ctr"/>
          <a:lstStyle/>
          <a:p>
            <a:pPr algn="ctr" indent="0" marL="0">
              <a:buNone/>
            </a:pPr>
            <a:r>
              <a:rPr lang="en-US" sz="1600" b="1" dirty="0">
                <a:solidFill>
                  <a:schemeClr val="tx2"/>
                </a:solidFill>
              </a:rPr>
              <a:t>5</a:t>
            </a:r>
            <a:endParaRPr lang="en-US" sz="1600" dirty="0"/>
          </a:p>
        </p:txBody>
      </p:sp>
      <p:sp>
        <p:nvSpPr>
          <p:cNvPr id="17" name="texto-186"/>
          <p:cNvSpPr txBox="1"/>
          <p:nvPr/>
        </p:nvSpPr>
        <p:spPr>
          <a:xfrm>
            <a:off x="7132320" y="1600200"/>
            <a:ext cx="4754880" cy="548640"/>
          </a:xfrm>
          <a:prstGeom prst="rect">
            <a:avLst/>
          </a:prstGeom>
          <a:noFill/>
          <a:ln/>
        </p:spPr>
        <p:txBody>
          <a:bodyPr wrap="square" lIns="0" tIns="0" rIns="0" bIns="0" rtlCol="0" anchor="ctr"/>
          <a:lstStyle/>
          <a:p>
            <a:pPr indent="0" marL="0">
              <a:buNone/>
            </a:pPr>
            <a:r>
              <a:rPr lang="en-US" sz="1600" dirty="0">
                <a:solidFill>
                  <a:schemeClr val="tx1"/>
                </a:solidFill>
              </a:rPr>
              <a:t>Concluir la OT y ver el historial</a:t>
            </a:r>
            <a:endParaRPr lang="en-US" sz="1600" dirty="0"/>
          </a:p>
        </p:txBody>
      </p:sp>
      <p:sp>
        <p:nvSpPr>
          <p:cNvPr id="18" name="circulo-187"/>
          <p:cNvSpPr/>
          <p:nvPr/>
        </p:nvSpPr>
        <p:spPr>
          <a:xfrm>
            <a:off x="6309360" y="2560320"/>
            <a:ext cx="594360" cy="594360"/>
          </a:xfrm>
          <a:prstGeom prst="ellipse">
            <a:avLst/>
          </a:prstGeom>
          <a:solidFill>
            <a:schemeClr val="accent1"/>
          </a:solidFill>
          <a:ln w="12700">
            <a:solidFill>
              <a:schemeClr val="accent1"/>
            </a:solidFill>
            <a:prstDash val="solid"/>
          </a:ln>
        </p:spPr>
      </p:sp>
      <p:sp>
        <p:nvSpPr>
          <p:cNvPr id="19" name="num-188"/>
          <p:cNvSpPr txBox="1"/>
          <p:nvPr/>
        </p:nvSpPr>
        <p:spPr>
          <a:xfrm>
            <a:off x="6309360" y="2560320"/>
            <a:ext cx="594360" cy="594360"/>
          </a:xfrm>
          <a:prstGeom prst="rect">
            <a:avLst/>
          </a:prstGeom>
          <a:noFill/>
          <a:ln/>
        </p:spPr>
        <p:txBody>
          <a:bodyPr wrap="square" lIns="0" tIns="0" rIns="0" bIns="0" rtlCol="0" anchor="ctr"/>
          <a:lstStyle/>
          <a:p>
            <a:pPr algn="ctr" indent="0" marL="0">
              <a:buNone/>
            </a:pPr>
            <a:r>
              <a:rPr lang="en-US" sz="1600" b="1" dirty="0">
                <a:solidFill>
                  <a:schemeClr val="tx2"/>
                </a:solidFill>
              </a:rPr>
              <a:t>6</a:t>
            </a:r>
            <a:endParaRPr lang="en-US" sz="1600" dirty="0"/>
          </a:p>
        </p:txBody>
      </p:sp>
      <p:sp>
        <p:nvSpPr>
          <p:cNvPr id="20" name="texto-189"/>
          <p:cNvSpPr txBox="1"/>
          <p:nvPr/>
        </p:nvSpPr>
        <p:spPr>
          <a:xfrm>
            <a:off x="7132320" y="2606040"/>
            <a:ext cx="4754880" cy="548640"/>
          </a:xfrm>
          <a:prstGeom prst="rect">
            <a:avLst/>
          </a:prstGeom>
          <a:noFill/>
          <a:ln/>
        </p:spPr>
        <p:txBody>
          <a:bodyPr wrap="square" lIns="0" tIns="0" rIns="0" bIns="0" rtlCol="0" anchor="ctr"/>
          <a:lstStyle/>
          <a:p>
            <a:pPr indent="0" marL="0">
              <a:buNone/>
            </a:pPr>
            <a:r>
              <a:rPr lang="en-US" sz="1600" dirty="0">
                <a:solidFill>
                  <a:schemeClr val="tx1"/>
                </a:solidFill>
              </a:rPr>
              <a:t>Planning del mes y exportación a Excel</a:t>
            </a:r>
            <a:endParaRPr lang="en-US" sz="1600" dirty="0"/>
          </a:p>
        </p:txBody>
      </p:sp>
      <p:sp>
        <p:nvSpPr>
          <p:cNvPr id="21" name="circulo-190"/>
          <p:cNvSpPr/>
          <p:nvPr/>
        </p:nvSpPr>
        <p:spPr>
          <a:xfrm>
            <a:off x="6309360" y="3566160"/>
            <a:ext cx="594360" cy="594360"/>
          </a:xfrm>
          <a:prstGeom prst="ellipse">
            <a:avLst/>
          </a:prstGeom>
          <a:solidFill>
            <a:schemeClr val="accent1"/>
          </a:solidFill>
          <a:ln w="12700">
            <a:solidFill>
              <a:schemeClr val="accent1"/>
            </a:solidFill>
            <a:prstDash val="solid"/>
          </a:ln>
        </p:spPr>
      </p:sp>
      <p:sp>
        <p:nvSpPr>
          <p:cNvPr id="22" name="num-191"/>
          <p:cNvSpPr txBox="1"/>
          <p:nvPr/>
        </p:nvSpPr>
        <p:spPr>
          <a:xfrm>
            <a:off x="6309360" y="3566160"/>
            <a:ext cx="594360" cy="594360"/>
          </a:xfrm>
          <a:prstGeom prst="rect">
            <a:avLst/>
          </a:prstGeom>
          <a:noFill/>
          <a:ln/>
        </p:spPr>
        <p:txBody>
          <a:bodyPr wrap="square" lIns="0" tIns="0" rIns="0" bIns="0" rtlCol="0" anchor="ctr"/>
          <a:lstStyle/>
          <a:p>
            <a:pPr algn="ctr" indent="0" marL="0">
              <a:buNone/>
            </a:pPr>
            <a:r>
              <a:rPr lang="en-US" sz="1600" b="1" dirty="0">
                <a:solidFill>
                  <a:schemeClr val="tx2"/>
                </a:solidFill>
              </a:rPr>
              <a:t>7</a:t>
            </a:r>
            <a:endParaRPr lang="en-US" sz="1600" dirty="0"/>
          </a:p>
        </p:txBody>
      </p:sp>
      <p:sp>
        <p:nvSpPr>
          <p:cNvPr id="23" name="texto-192"/>
          <p:cNvSpPr txBox="1"/>
          <p:nvPr/>
        </p:nvSpPr>
        <p:spPr>
          <a:xfrm>
            <a:off x="7132320" y="3611880"/>
            <a:ext cx="4754880" cy="548640"/>
          </a:xfrm>
          <a:prstGeom prst="rect">
            <a:avLst/>
          </a:prstGeom>
          <a:noFill/>
          <a:ln/>
        </p:spPr>
        <p:txBody>
          <a:bodyPr wrap="square" lIns="0" tIns="0" rIns="0" bIns="0" rtlCol="0" anchor="ctr"/>
          <a:lstStyle/>
          <a:p>
            <a:pPr indent="0" marL="0">
              <a:buNone/>
            </a:pPr>
            <a:r>
              <a:rPr lang="en-US" sz="1600" dirty="0">
                <a:solidFill>
                  <a:schemeClr val="tx1"/>
                </a:solidFill>
              </a:rPr>
              <a:t>Entrar como especialista: consulta, pero sin botones de escritura</a:t>
            </a:r>
            <a:endParaRPr lang="en-US" sz="1600" dirty="0"/>
          </a:p>
        </p:txBody>
      </p:sp>
      <p:sp>
        <p:nvSpPr>
          <p:cNvPr id="24" name="tarjeta-193"/>
          <p:cNvSpPr/>
          <p:nvPr/>
        </p:nvSpPr>
        <p:spPr>
          <a:xfrm>
            <a:off x="6309360" y="4617720"/>
            <a:ext cx="5330952" cy="1325880"/>
          </a:xfrm>
          <a:prstGeom prst="roundRect">
            <a:avLst>
              <a:gd name="adj" fmla="val 8276"/>
            </a:avLst>
          </a:prstGeom>
          <a:solidFill>
            <a:schemeClr val="bg2"/>
          </a:solidFill>
          <a:ln w="12700">
            <a:solidFill>
              <a:schemeClr val="bg2"/>
            </a:solidFill>
            <a:prstDash val="solid"/>
          </a:ln>
        </p:spPr>
      </p:sp>
      <p:sp>
        <p:nvSpPr>
          <p:cNvPr id="25" name="texto-194"/>
          <p:cNvSpPr txBox="1"/>
          <p:nvPr/>
        </p:nvSpPr>
        <p:spPr>
          <a:xfrm>
            <a:off x="6583680" y="4754880"/>
            <a:ext cx="4846320" cy="365760"/>
          </a:xfrm>
          <a:prstGeom prst="rect">
            <a:avLst/>
          </a:prstGeom>
          <a:noFill/>
          <a:ln/>
        </p:spPr>
        <p:txBody>
          <a:bodyPr wrap="square" lIns="0" tIns="0" rIns="0" bIns="0" rtlCol="0" anchor="t"/>
          <a:lstStyle/>
          <a:p>
            <a:pPr indent="0" marL="0">
              <a:buNone/>
            </a:pPr>
            <a:r>
              <a:rPr lang="en-US" sz="1600" b="1" dirty="0">
                <a:solidFill>
                  <a:schemeClr val="accent3"/>
                </a:solidFill>
              </a:rPr>
              <a:t>Plan B</a:t>
            </a:r>
            <a:endParaRPr lang="en-US" sz="1600" dirty="0"/>
          </a:p>
        </p:txBody>
      </p:sp>
      <p:sp>
        <p:nvSpPr>
          <p:cNvPr id="26" name="texto-195"/>
          <p:cNvSpPr txBox="1"/>
          <p:nvPr/>
        </p:nvSpPr>
        <p:spPr>
          <a:xfrm>
            <a:off x="6583680" y="5120640"/>
            <a:ext cx="4846320" cy="731520"/>
          </a:xfrm>
          <a:prstGeom prst="rect">
            <a:avLst/>
          </a:prstGeom>
          <a:noFill/>
          <a:ln/>
        </p:spPr>
        <p:txBody>
          <a:bodyPr wrap="square" lIns="0" tIns="0" rIns="0" bIns="0" rtlCol="0" anchor="t"/>
          <a:lstStyle/>
          <a:p>
            <a:pPr indent="0" marL="0">
              <a:buNone/>
            </a:pPr>
            <a:r>
              <a:rPr lang="en-US" sz="1400" dirty="0">
                <a:solidFill>
                  <a:schemeClr val="tx1"/>
                </a:solidFill>
              </a:rPr>
              <a:t>Si la web falla: el mismo flujo en Swagger (http://localhost:5300/swagger) o con docs/api/sisman.http</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Aprendizajes y mejoras pendientes</a:t>
            </a:r>
            <a:endParaRPr lang="en-US" sz="3400" dirty="0"/>
          </a:p>
        </p:txBody>
      </p:sp>
      <p:sp>
        <p:nvSpPr>
          <p:cNvPr id="3" name="tarjeta-196"/>
          <p:cNvSpPr/>
          <p:nvPr/>
        </p:nvSpPr>
        <p:spPr>
          <a:xfrm>
            <a:off x="548640" y="1508760"/>
            <a:ext cx="5394960" cy="3566160"/>
          </a:xfrm>
          <a:prstGeom prst="roundRect">
            <a:avLst>
              <a:gd name="adj" fmla="val 3077"/>
            </a:avLst>
          </a:prstGeom>
          <a:solidFill>
            <a:schemeClr val="bg2"/>
          </a:solidFill>
          <a:ln w="12700">
            <a:solidFill>
              <a:schemeClr val="bg2"/>
            </a:solidFill>
            <a:prstDash val="solid"/>
          </a:ln>
        </p:spPr>
      </p:sp>
      <p:sp>
        <p:nvSpPr>
          <p:cNvPr id="4" name="texto-197"/>
          <p:cNvSpPr txBox="1"/>
          <p:nvPr/>
        </p:nvSpPr>
        <p:spPr>
          <a:xfrm>
            <a:off x="822960" y="1737360"/>
            <a:ext cx="4846320" cy="411480"/>
          </a:xfrm>
          <a:prstGeom prst="rect">
            <a:avLst/>
          </a:prstGeom>
          <a:noFill/>
          <a:ln/>
        </p:spPr>
        <p:txBody>
          <a:bodyPr wrap="square" lIns="0" tIns="0" rIns="0" bIns="0" rtlCol="0" anchor="t"/>
          <a:lstStyle/>
          <a:p>
            <a:pPr indent="0" marL="0">
              <a:buNone/>
            </a:pPr>
            <a:r>
              <a:rPr lang="en-US" sz="2000" b="1" dirty="0">
                <a:solidFill>
                  <a:schemeClr val="accent2"/>
                </a:solidFill>
              </a:rPr>
              <a:t>Lo que aprendí</a:t>
            </a:r>
            <a:endParaRPr lang="en-US" sz="2000" dirty="0"/>
          </a:p>
        </p:txBody>
      </p:sp>
      <p:sp>
        <p:nvSpPr>
          <p:cNvPr id="5" name="texto-198"/>
          <p:cNvSpPr txBox="1"/>
          <p:nvPr/>
        </p:nvSpPr>
        <p:spPr>
          <a:xfrm>
            <a:off x="822960" y="2286000"/>
            <a:ext cx="48463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Una prueba que solo compara «igual que antes» no prueba que funcione</a:t>
            </a:r>
            <a:endParaRPr lang="en-US" sz="1500" dirty="0"/>
          </a:p>
          <a:p>
            <a:pPr marL="342900" indent="-342900">
              <a:spcAft>
                <a:spcPts val="1000"/>
              </a:spcAft>
              <a:buSzPct val="100000"/>
              <a:buChar char="•"/>
            </a:pPr>
            <a:r>
              <a:rPr lang="en-US" sz="1500" dirty="0">
                <a:solidFill>
                  <a:schemeClr val="tx1"/>
                </a:solidFill>
              </a:rPr>
              <a:t>Un «éxito» en pantalla no es una prueba: hay que mirar la base</a:t>
            </a:r>
            <a:endParaRPr lang="en-US" sz="1500" dirty="0"/>
          </a:p>
          <a:p>
            <a:pPr marL="342900" indent="-342900">
              <a:spcAft>
                <a:spcPts val="1000"/>
              </a:spcAft>
              <a:buSzPct val="100000"/>
              <a:buChar char="•"/>
            </a:pPr>
            <a:r>
              <a:rPr lang="en-US" sz="1500" dirty="0">
                <a:solidFill>
                  <a:schemeClr val="tx1"/>
                </a:solidFill>
              </a:rPr>
              <a:t>Ante un fallo, leer el detalle antes de cambiar el código</a:t>
            </a:r>
            <a:endParaRPr lang="en-US" sz="1500" dirty="0"/>
          </a:p>
          <a:p>
            <a:pPr marL="342900" indent="-342900">
              <a:spcAft>
                <a:spcPts val="1000"/>
              </a:spcAft>
              <a:buSzPct val="100000"/>
              <a:buChar char="•"/>
            </a:pPr>
            <a:r>
              <a:rPr lang="en-US" sz="1500" dirty="0">
                <a:solidFill>
                  <a:schemeClr val="tx1"/>
                </a:solidFill>
              </a:rPr>
              <a:t>Con la spec como contexto, la IA acelera; sin ella, inventa</a:t>
            </a:r>
            <a:endParaRPr lang="en-US" sz="1500" dirty="0"/>
          </a:p>
        </p:txBody>
      </p:sp>
      <p:sp>
        <p:nvSpPr>
          <p:cNvPr id="6" name="tarjeta-199"/>
          <p:cNvSpPr/>
          <p:nvPr/>
        </p:nvSpPr>
        <p:spPr>
          <a:xfrm>
            <a:off x="6245352" y="1508760"/>
            <a:ext cx="5394960" cy="3566160"/>
          </a:xfrm>
          <a:prstGeom prst="roundRect">
            <a:avLst>
              <a:gd name="adj" fmla="val 3077"/>
            </a:avLst>
          </a:prstGeom>
          <a:solidFill>
            <a:schemeClr val="bg2"/>
          </a:solidFill>
          <a:ln w="12700">
            <a:solidFill>
              <a:schemeClr val="bg2"/>
            </a:solidFill>
            <a:prstDash val="solid"/>
          </a:ln>
        </p:spPr>
      </p:sp>
      <p:sp>
        <p:nvSpPr>
          <p:cNvPr id="7" name="texto-200"/>
          <p:cNvSpPr txBox="1"/>
          <p:nvPr/>
        </p:nvSpPr>
        <p:spPr>
          <a:xfrm>
            <a:off x="6519672" y="1737360"/>
            <a:ext cx="4846320" cy="411480"/>
          </a:xfrm>
          <a:prstGeom prst="rect">
            <a:avLst/>
          </a:prstGeom>
          <a:noFill/>
          <a:ln/>
        </p:spPr>
        <p:txBody>
          <a:bodyPr wrap="square" lIns="0" tIns="0" rIns="0" bIns="0" rtlCol="0" anchor="t"/>
          <a:lstStyle/>
          <a:p>
            <a:pPr indent="0" marL="0">
              <a:buNone/>
            </a:pPr>
            <a:r>
              <a:rPr lang="en-US" sz="2000" b="1" dirty="0">
                <a:solidFill>
                  <a:schemeClr val="accent5"/>
                </a:solidFill>
              </a:rPr>
              <a:t>Mejoras pendientes</a:t>
            </a:r>
            <a:endParaRPr lang="en-US" sz="2000" dirty="0"/>
          </a:p>
        </p:txBody>
      </p:sp>
      <p:sp>
        <p:nvSpPr>
          <p:cNvPr id="8" name="texto-201"/>
          <p:cNvSpPr txBox="1"/>
          <p:nvPr/>
        </p:nvSpPr>
        <p:spPr>
          <a:xfrm>
            <a:off x="6519672" y="2286000"/>
            <a:ext cx="48463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Validar con un usuario las reglas marcadas «a validar» (RN-15, RN-16, RN-23, RN-37)</a:t>
            </a:r>
            <a:endParaRPr lang="en-US" sz="1500" dirty="0"/>
          </a:p>
          <a:p>
            <a:pPr marL="342900" indent="-342900">
              <a:spcAft>
                <a:spcPts val="1000"/>
              </a:spcAft>
              <a:buSzPct val="100000"/>
              <a:buChar char="•"/>
            </a:pPr>
            <a:r>
              <a:rPr lang="en-US" sz="1500" dirty="0">
                <a:solidFill>
                  <a:schemeClr val="tx1"/>
                </a:solidFill>
              </a:rPr>
              <a:t>Ejecutar el Docker Compose</a:t>
            </a:r>
            <a:endParaRPr lang="en-US" sz="1500" dirty="0"/>
          </a:p>
          <a:p>
            <a:pPr marL="342900" indent="-342900">
              <a:spcAft>
                <a:spcPts val="1000"/>
              </a:spcAft>
              <a:buSzPct val="100000"/>
              <a:buChar char="•"/>
            </a:pPr>
            <a:r>
              <a:rPr lang="en-US" sz="1500" dirty="0">
                <a:solidFill>
                  <a:schemeClr val="tx1"/>
                </a:solidFill>
              </a:rPr>
              <a:t>Token de versión en la edición y refresh token</a:t>
            </a:r>
            <a:endParaRPr lang="en-US" sz="1500" dirty="0"/>
          </a:p>
          <a:p>
            <a:pPr marL="342900" indent="-342900">
              <a:spcAft>
                <a:spcPts val="1000"/>
              </a:spcAft>
              <a:buSzPct val="100000"/>
              <a:buChar char="•"/>
            </a:pPr>
            <a:r>
              <a:rPr lang="en-US" sz="1500" dirty="0">
                <a:solidFill>
                  <a:schemeClr val="tx1"/>
                </a:solidFill>
              </a:rPr>
              <a:t>Llevar el módulo al SISMAN de la empresa</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0515600" cy="1463040"/>
          </a:xfrm>
          <a:prstGeom prst="rect">
            <a:avLst/>
          </a:prstGeom>
          <a:noFill/>
          <a:ln/>
        </p:spPr>
        <p:txBody>
          <a:bodyPr wrap="square" lIns="0" tIns="0" rIns="0" bIns="0" rtlCol="0" anchor="b"/>
          <a:lstStyle/>
          <a:p>
            <a:pPr algn="l" indent="0" marL="0">
              <a:buNone/>
            </a:pPr>
            <a:r>
              <a:rPr lang="en-US" sz="4800" b="1" dirty="0">
                <a:solidFill>
                  <a:schemeClr val="bg1"/>
                </a:solidFill>
                <a:latin typeface="Cambria" pitchFamily="34" charset="0"/>
                <a:ea typeface="Cambria" pitchFamily="34" charset="-122"/>
                <a:cs typeface="Cambria" pitchFamily="34" charset="-120"/>
              </a:rPr>
              <a:t>Gracias</a:t>
            </a:r>
            <a:endParaRPr lang="en-US" sz="4800" dirty="0"/>
          </a:p>
        </p:txBody>
      </p:sp>
      <p:sp>
        <p:nvSpPr>
          <p:cNvPr id="3" name="Text 0"/>
          <p:cNvSpPr/>
          <p:nvPr>
            <p:ph idx="101" type="body" hasCustomPrompt="1"/>
          </p:nvPr>
        </p:nvSpPr>
        <p:spPr>
          <a:xfrm>
            <a:off x="548640" y="3657600"/>
            <a:ext cx="10058400" cy="1280160"/>
          </a:xfrm>
          <a:prstGeom prst="rect">
            <a:avLst/>
          </a:prstGeom>
          <a:noFill/>
          <a:ln/>
        </p:spPr>
        <p:txBody>
          <a:bodyPr wrap="square" lIns="0" tIns="0" rIns="0" bIns="0" rtlCol="0" anchor="t"/>
          <a:lstStyle/>
          <a:p>
            <a:pPr indent="0" marL="0">
              <a:buNone/>
            </a:pPr>
            <a:r>
              <a:rPr lang="en-US" sz="2000" dirty="0">
                <a:solidFill>
                  <a:schemeClr val="accent6"/>
                </a:solidFill>
              </a:rPr>
              <a:t>¿Preguntas?</a:t>
            </a:r>
            <a:endParaRPr lang="en-US" sz="2000" dirty="0"/>
          </a:p>
          <a:p>
            <a:pPr indent="0" marL="0">
              <a:buNone/>
            </a:pPr>
            <a:r>
              <a:rPr lang="en-US" sz="1400" dirty="0">
                <a:solidFill>
                  <a:schemeClr val="accent1"/>
                </a:solidFill>
              </a:rPr>
              <a:t>Repositorio sisman-mantenimiento · README, specs/, docs/ (ADR, trazabilidad, calidad, evidencias de IA)</a:t>
            </a:r>
            <a:endParaRPr lang="en-US" sz="2000" dirty="0"/>
          </a:p>
        </p:txBody>
      </p:sp>
    </p:spTree>
  </p:cSld>
  <p:clrMapOvr>
    <a:masterClrMapping/>
  </p:clrMapOvr>
</p:sld>
</file>

<file path=ppt/theme/theme1.xml><?xml version="1.0" encoding="utf-8"?>
<a:theme xmlns:a="http://schemas.openxmlformats.org/drawingml/2006/main" name="SISMAN Planta">
  <a:themeElements>
    <a:clrScheme name="SISMAN Planta">
      <a:dk1>
        <a:srgbClr val="1B2A30"/>
      </a:dk1>
      <a:lt1>
        <a:srgbClr val="FFFFFF"/>
      </a:lt1>
      <a:dk2>
        <a:srgbClr val="12343B"/>
      </a:dk2>
      <a:lt2>
        <a:srgbClr val="EEF3F4"/>
      </a:lt2>
      <a:accent1>
        <a:srgbClr val="F2A541"/>
      </a:accent1>
      <a:accent2>
        <a:srgbClr val="2E7D6B"/>
      </a:accent2>
      <a:accent3>
        <a:srgbClr val="C0392B"/>
      </a:accent3>
      <a:accent4>
        <a:srgbClr val="5B7C85"/>
      </a:accent4>
      <a:accent5>
        <a:srgbClr val="1F6F8B"/>
      </a:accent5>
      <a:accent6>
        <a:srgbClr val="D9E4E7"/>
      </a:accent6>
      <a:hlink>
        <a:srgbClr val="1F6F8B"/>
      </a:hlink>
      <a:folHlink>
        <a:srgbClr val="5B7C85"/>
      </a:folHlink>
    </a:clrScheme>
    <a:fontScheme name="SISMAN Plant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SISMAN Mantenimiento: proyecto integrador</dc:title>
  <dc:subject>Agentic Software Development (.NET 10)</dc:subject>
  <dc:creator>Angel Hermoza</dc:creator>
  <cp:lastModifiedBy>Angel Hermoza</cp:lastModifiedBy>
  <cp:revision>1</cp:revision>
  <dcterms:created xsi:type="dcterms:W3CDTF">2026-10-23T21:12:56Z</dcterms:created>
  <dcterms:modified xsi:type="dcterms:W3CDTF">2026-10-23T21:12:56Z</dcterms:modified>
</cp:coreProperties>
</file>